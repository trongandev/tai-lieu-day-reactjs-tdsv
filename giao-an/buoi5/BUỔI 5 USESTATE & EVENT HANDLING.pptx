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80" r:id="rId5"/>
    <p:sldId id="275" r:id="rId6"/>
    <p:sldId id="281" r:id="rId7"/>
    <p:sldId id="282" r:id="rId8"/>
    <p:sldId id="260" r:id="rId9"/>
    <p:sldId id="270" r:id="rId10"/>
    <p:sldId id="276" r:id="rId11"/>
    <p:sldId id="277" r:id="rId12"/>
    <p:sldId id="278" r:id="rId13"/>
    <p:sldId id="283" r:id="rId14"/>
    <p:sldId id="279" r:id="rId15"/>
  </p:sldIdLst>
  <p:sldSz cx="18288000" cy="10287000"/>
  <p:notesSz cx="6858000" cy="9144000"/>
  <p:embeddedFontLst>
    <p:embeddedFont>
      <p:font typeface="Calibri" panose="020F0502020204030204" pitchFamily="34" charset="0"/>
      <p:regular r:id="rId16"/>
      <p:bold r:id="rId17"/>
      <p:italic r:id="rId18"/>
      <p:boldItalic r:id="rId19"/>
    </p:embeddedFont>
    <p:embeddedFont>
      <p:font typeface="Bricolage Grotesque" panose="020B0604020202020204" charset="0"/>
      <p:regular r:id="rId20"/>
    </p:embeddedFont>
    <p:embeddedFont>
      <p:font typeface="Bricolage Grotesque Bold"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22" autoAdjust="0"/>
  </p:normalViewPr>
  <p:slideViewPr>
    <p:cSldViewPr>
      <p:cViewPr varScale="1">
        <p:scale>
          <a:sx n="77" d="100"/>
          <a:sy n="77" d="100"/>
        </p:scale>
        <p:origin x="384"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2026-01-03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9.png"/><Relationship Id="rId5" Type="http://schemas.openxmlformats.org/officeDocument/2006/relationships/image" Target="../media/image30.sv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0.png"/><Relationship Id="rId5" Type="http://schemas.openxmlformats.org/officeDocument/2006/relationships/image" Target="../media/image30.sv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11.png"/><Relationship Id="rId5" Type="http://schemas.openxmlformats.org/officeDocument/2006/relationships/image" Target="../media/image30.sv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2.png"/><Relationship Id="rId5" Type="http://schemas.openxmlformats.org/officeDocument/2006/relationships/image" Target="../media/image30.sv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grpSp>
        <p:nvGrpSpPr>
          <p:cNvPr id="4" name="Group 4"/>
          <p:cNvGrpSpPr/>
          <p:nvPr/>
        </p:nvGrpSpPr>
        <p:grpSpPr>
          <a:xfrm>
            <a:off x="15677043" y="6462606"/>
            <a:ext cx="3467057" cy="4305236"/>
            <a:chOff x="0" y="0"/>
            <a:chExt cx="4622743" cy="5740315"/>
          </a:xfrm>
        </p:grpSpPr>
        <p:sp>
          <p:nvSpPr>
            <p:cNvPr id="5" name="Freeform 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nvGrpSpPr>
            <p:cNvPr id="6" name="Group 6"/>
            <p:cNvGrpSpPr/>
            <p:nvPr/>
          </p:nvGrpSpPr>
          <p:grpSpPr>
            <a:xfrm rot="8100000">
              <a:off x="-106337" y="2577879"/>
              <a:ext cx="4835418" cy="1702128"/>
              <a:chOff x="0" y="0"/>
              <a:chExt cx="954623" cy="336039"/>
            </a:xfrm>
          </p:grpSpPr>
          <p:sp>
            <p:nvSpPr>
              <p:cNvPr id="7" name="Freeform 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64748B"/>
              </a:solidFill>
              <a:ln cap="sq">
                <a:noFill/>
                <a:prstDash val="solid"/>
                <a:miter/>
              </a:ln>
            </p:spPr>
          </p:sp>
          <p:sp>
            <p:nvSpPr>
              <p:cNvPr id="8" name="TextBox 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9"/>
          <p:cNvSpPr txBox="1"/>
          <p:nvPr/>
        </p:nvSpPr>
        <p:spPr>
          <a:xfrm>
            <a:off x="1371600" y="2476500"/>
            <a:ext cx="17378364" cy="984885"/>
          </a:xfrm>
          <a:prstGeom prst="rect">
            <a:avLst/>
          </a:prstGeom>
        </p:spPr>
        <p:txBody>
          <a:bodyPr wrap="square" lIns="0" tIns="0" rIns="0" bIns="0" rtlCol="0" anchor="t">
            <a:spAutoFit/>
          </a:bodyPr>
          <a:lstStyle/>
          <a:p>
            <a:r>
              <a:rPr lang="en-US" sz="6400" b="1" dirty="0"/>
              <a:t>BUỔI </a:t>
            </a:r>
            <a:r>
              <a:rPr lang="en-US" sz="6400" b="1" dirty="0" smtClean="0"/>
              <a:t>5</a:t>
            </a:r>
            <a:r>
              <a:rPr lang="en-US" sz="6400" b="1" dirty="0"/>
              <a:t>: EVENT </a:t>
            </a:r>
            <a:r>
              <a:rPr lang="en-US" sz="6400" b="1" dirty="0" smtClean="0"/>
              <a:t>HANDLING</a:t>
            </a:r>
            <a:r>
              <a:rPr lang="en-US" sz="6400" dirty="0" smtClean="0"/>
              <a:t> </a:t>
            </a:r>
            <a:r>
              <a:rPr lang="en-US" sz="6400" b="1" dirty="0" smtClean="0"/>
              <a:t>&amp; USESTATE</a:t>
            </a:r>
            <a:endParaRPr lang="en-US" sz="64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a:solidFill>
                  <a:srgbClr val="1E293B"/>
                </a:solidFill>
                <a:latin typeface="Bricolage Grotesque Bold"/>
                <a:ea typeface="Bricolage Grotesque Bold"/>
                <a:cs typeface="Bricolage Grotesque Bold"/>
                <a:sym typeface="Bricolage Grotesque Bold"/>
              </a:rPr>
              <a:t>Nội dung buổi học</a:t>
            </a:r>
          </a:p>
        </p:txBody>
      </p:sp>
      <p:sp>
        <p:nvSpPr>
          <p:cNvPr id="3" name="TextBox 3"/>
          <p:cNvSpPr txBox="1"/>
          <p:nvPr/>
        </p:nvSpPr>
        <p:spPr>
          <a:xfrm>
            <a:off x="5029200" y="4229100"/>
            <a:ext cx="9678972" cy="2808461"/>
          </a:xfrm>
          <a:prstGeom prst="rect">
            <a:avLst/>
          </a:prstGeom>
        </p:spPr>
        <p:txBody>
          <a:bodyPr lIns="0" tIns="0" rIns="0" bIns="0" rtlCol="0" anchor="t">
            <a:spAutoFit/>
          </a:bodyPr>
          <a:lstStyle/>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Event Handling</a:t>
            </a: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smtClean="0">
                <a:solidFill>
                  <a:srgbClr val="1E293B"/>
                </a:solidFill>
                <a:latin typeface="Bricolage Grotesque Bold"/>
                <a:ea typeface="Bricolage Grotesque Bold"/>
                <a:cs typeface="Bricolage Grotesque Bold"/>
                <a:sym typeface="Bricolage Grotesque Bold"/>
              </a:rPr>
              <a:t>useState</a:t>
            </a:r>
            <a:r>
              <a:rPr lang="en-US" sz="3500" b="1" dirty="0" smtClean="0">
                <a:solidFill>
                  <a:srgbClr val="1E293B"/>
                </a:solidFill>
                <a:latin typeface="Bricolage Grotesque Bold"/>
                <a:ea typeface="Bricolage Grotesque Bold"/>
                <a:cs typeface="Bricolage Grotesque Bold"/>
                <a:sym typeface="Bricolage Grotesque Bold"/>
              </a:rPr>
              <a:t> Hook</a:t>
            </a:r>
          </a:p>
          <a:p>
            <a:pPr marL="377932" lvl="1">
              <a:lnSpc>
                <a:spcPts val="7282"/>
              </a:lnSpc>
            </a:pPr>
            <a:r>
              <a:rPr lang="en-US" sz="3500" b="1" dirty="0" smtClean="0">
                <a:solidFill>
                  <a:srgbClr val="1E293B"/>
                </a:solidFill>
                <a:latin typeface="Bricolage Grotesque Bold"/>
                <a:ea typeface="Bricolage Grotesque Bold"/>
                <a:cs typeface="Bricolage Grotesque Bold"/>
                <a:sym typeface="Bricolage Grotesque Bold"/>
              </a:rPr>
              <a:t>3. </a:t>
            </a:r>
            <a:r>
              <a:rPr lang="en-US" sz="3500" b="1" dirty="0" err="1" smtClean="0">
                <a:solidFill>
                  <a:srgbClr val="1E293B"/>
                </a:solidFill>
                <a:latin typeface="Bricolage Grotesque Bold"/>
                <a:ea typeface="Bricolage Grotesque Bold"/>
                <a:cs typeface="Bricolage Grotesque Bold"/>
                <a:sym typeface="Bricolage Grotesque Bold"/>
              </a:rPr>
              <a:t>Bài</a:t>
            </a: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tập</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thực</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hành</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tại</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lớp</a:t>
            </a:r>
            <a:endParaRPr lang="en-US" sz="3500" b="1" dirty="0" smtClean="0">
              <a:solidFill>
                <a:srgbClr val="1E293B"/>
              </a:solidFill>
              <a:latin typeface="Bricolage Grotesque Bold"/>
              <a:ea typeface="Bricolage Grotesque Bold"/>
              <a:cs typeface="Bricolage Grotesque Bold"/>
              <a:sym typeface="Bricolage Grotesque Bold"/>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Event Handling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ReactJS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2438400" y="3619500"/>
            <a:ext cx="12649200" cy="4002314"/>
          </a:xfrm>
          <a:prstGeom prst="rect">
            <a:avLst/>
          </a:prstGeom>
        </p:spPr>
        <p:txBody>
          <a:bodyPr wrap="square" lIns="0" tIns="0" rIns="0" bIns="0" rtlCol="0" anchor="t">
            <a:spAutoFit/>
          </a:bodyPr>
          <a:lstStyle/>
          <a:p>
            <a:pPr marL="323850" lvl="1">
              <a:lnSpc>
                <a:spcPts val="4500"/>
              </a:lnSpc>
            </a:pPr>
            <a:r>
              <a:rPr lang="en-US" sz="3200" dirty="0" smtClean="0"/>
              <a:t>T</a:t>
            </a:r>
            <a:r>
              <a:rPr lang="vi-VN" sz="3200" dirty="0" smtClean="0"/>
              <a:t>rong </a:t>
            </a:r>
            <a:r>
              <a:rPr lang="vi-VN" sz="3200" dirty="0"/>
              <a:t>ReactJS là quá trình xử lý các sự kiện (events) xảy ra trong ứng dụng, như khi người dùng tương tác với giao diện, chẳng hạn như nhấn nút, nhập dữ liệu vào ô input, di chuột qua một phần tử, và nhiều tình huống khác. </a:t>
            </a:r>
            <a:endParaRPr lang="en-US" sz="3200" dirty="0" smtClean="0"/>
          </a:p>
          <a:p>
            <a:pPr marL="323850" lvl="1">
              <a:lnSpc>
                <a:spcPts val="4500"/>
              </a:lnSpc>
            </a:pPr>
            <a:endParaRPr lang="en-US" sz="3200" dirty="0"/>
          </a:p>
          <a:p>
            <a:pPr marL="323850" lvl="1">
              <a:lnSpc>
                <a:spcPts val="4500"/>
              </a:lnSpc>
            </a:pPr>
            <a:r>
              <a:rPr lang="vi-VN" sz="3200" dirty="0" smtClean="0"/>
              <a:t>React </a:t>
            </a:r>
            <a:r>
              <a:rPr lang="vi-VN" sz="3200" dirty="0"/>
              <a:t>cung cấp một cách tiếp cận đơn giản và hiệu quả để quản lý các sự kiện thông qua các thuộc tính (props) của component.</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smtClean="0">
                <a:solidFill>
                  <a:srgbClr val="1E293B"/>
                </a:solidFill>
                <a:latin typeface="Bricolage Grotesque Bold"/>
                <a:ea typeface="Bricolage Grotesque Bold"/>
                <a:cs typeface="Bricolage Grotesque Bold"/>
                <a:sym typeface="Bricolage Grotesque Bold"/>
              </a:rPr>
              <a:t>Cách</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thức</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hoạt</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động</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685800" y="2915736"/>
            <a:ext cx="9448800" cy="5770811"/>
          </a:xfrm>
          <a:prstGeom prst="rect">
            <a:avLst/>
          </a:prstGeom>
        </p:spPr>
        <p:txBody>
          <a:bodyPr wrap="square" lIns="0" tIns="0" rIns="0" bIns="0" rtlCol="0" anchor="t">
            <a:spAutoFit/>
          </a:bodyPr>
          <a:lstStyle/>
          <a:p>
            <a:pPr marL="323850" lvl="1">
              <a:lnSpc>
                <a:spcPts val="4500"/>
              </a:lnSpc>
            </a:pPr>
            <a:r>
              <a:rPr lang="vi-VN" sz="3200" dirty="0"/>
              <a:t>Gán Sự Kiện: Bạn có thể gán các hàm xử lý sự kiện (event handler) cho các phần tử trong JSX bằng cách sử dụng các thuộc tính tương ứng với sự kiện. Ví dụ, để xử lý sự kiện onClick, bạn sẽ sử dụng thuộc tính onClick.</a:t>
            </a:r>
          </a:p>
          <a:p>
            <a:pPr marL="323850" lvl="1">
              <a:lnSpc>
                <a:spcPts val="4500"/>
              </a:lnSpc>
            </a:pPr>
            <a:endParaRPr lang="vi-VN" sz="3200" dirty="0"/>
          </a:p>
          <a:p>
            <a:pPr marL="323850" lvl="1">
              <a:lnSpc>
                <a:spcPts val="4500"/>
              </a:lnSpc>
            </a:pPr>
            <a:r>
              <a:rPr lang="vi-VN" sz="3200" dirty="0"/>
              <a:t>Sử Dụng Hàm: Khi sự kiện xảy ra, hàm xử lý sẽ được gọi, và bạn có thể thực hiện các hành động như cập nhật trạng thái (state), thay đổi giao diện hoặc gọi các hàm khác.</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5" name="Picture 4"/>
          <p:cNvPicPr>
            <a:picLocks noChangeAspect="1"/>
          </p:cNvPicPr>
          <p:nvPr/>
        </p:nvPicPr>
        <p:blipFill>
          <a:blip r:embed="rId2"/>
          <a:stretch>
            <a:fillRect/>
          </a:stretch>
        </p:blipFill>
        <p:spPr>
          <a:xfrm>
            <a:off x="10439400" y="3314700"/>
            <a:ext cx="7528104" cy="4143375"/>
          </a:xfrm>
          <a:prstGeom prst="rect">
            <a:avLst/>
          </a:prstGeom>
        </p:spPr>
      </p:pic>
    </p:spTree>
    <p:extLst>
      <p:ext uri="{BB962C8B-B14F-4D97-AF65-F5344CB8AC3E}">
        <p14:creationId xmlns:p14="http://schemas.microsoft.com/office/powerpoint/2010/main" val="65502405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2362200" y="1638300"/>
            <a:ext cx="13068300" cy="7005519"/>
          </a:xfrm>
          <a:prstGeom prst="rect">
            <a:avLst/>
          </a:prstGeom>
        </p:spPr>
      </p:pic>
    </p:spTree>
    <p:extLst>
      <p:ext uri="{BB962C8B-B14F-4D97-AF65-F5344CB8AC3E}">
        <p14:creationId xmlns:p14="http://schemas.microsoft.com/office/powerpoint/2010/main" val="225362780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smtClean="0">
                <a:solidFill>
                  <a:srgbClr val="1E293B"/>
                </a:solidFill>
                <a:latin typeface="Bricolage Grotesque Bold"/>
                <a:ea typeface="Bricolage Grotesque Bold"/>
                <a:cs typeface="Bricolage Grotesque Bold"/>
                <a:sym typeface="Bricolage Grotesque Bold"/>
              </a:rPr>
              <a:t>useState</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trong</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ReactJS</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1371600" y="3314700"/>
            <a:ext cx="9753600" cy="4616648"/>
          </a:xfrm>
          <a:prstGeom prst="rect">
            <a:avLst/>
          </a:prstGeom>
        </p:spPr>
        <p:txBody>
          <a:bodyPr wrap="square" lIns="0" tIns="0" rIns="0" bIns="0" rtlCol="0" anchor="t">
            <a:spAutoFit/>
          </a:bodyPr>
          <a:lstStyle/>
          <a:p>
            <a:pPr marL="323850" lvl="1">
              <a:lnSpc>
                <a:spcPts val="4500"/>
              </a:lnSpc>
            </a:pPr>
            <a:r>
              <a:rPr lang="vi-VN" sz="3200" dirty="0"/>
              <a:t>useState là một hook trong React cho phép bạn thêm state (trạng thái) vào các functional components. </a:t>
            </a:r>
            <a:endParaRPr lang="en-US" sz="3200" dirty="0" smtClean="0"/>
          </a:p>
          <a:p>
            <a:pPr marL="323850" lvl="1">
              <a:lnSpc>
                <a:spcPts val="4500"/>
              </a:lnSpc>
            </a:pPr>
            <a:endParaRPr lang="en-US" sz="3200" dirty="0"/>
          </a:p>
          <a:p>
            <a:pPr marL="323850" lvl="1">
              <a:lnSpc>
                <a:spcPts val="4500"/>
              </a:lnSpc>
            </a:pPr>
            <a:r>
              <a:rPr lang="vi-VN" sz="3200" dirty="0" smtClean="0"/>
              <a:t>Trước </a:t>
            </a:r>
            <a:r>
              <a:rPr lang="vi-VN" sz="3200" dirty="0"/>
              <a:t>khi React giới thiệu hooks, chỉ có class components mới có khả năng quản lý state. Với useState, bạn có thể quản lý state một cách đơn giản và tiện lợi trong functional components.</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3074" name="Picture 2" descr="ReactJS: useState – albertprofe wik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25200" y="3314700"/>
            <a:ext cx="6219825" cy="412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949192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smtClean="0">
                <a:solidFill>
                  <a:srgbClr val="1E293B"/>
                </a:solidFill>
                <a:latin typeface="Bricolage Grotesque Bold"/>
                <a:ea typeface="Bricolage Grotesque Bold"/>
                <a:cs typeface="Bricolage Grotesque Bold"/>
                <a:sym typeface="Bricolage Grotesque Bold"/>
              </a:rPr>
              <a:t>Nguyên</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lý</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hoạt</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động</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3" name="TextBox 3"/>
          <p:cNvSpPr txBox="1"/>
          <p:nvPr/>
        </p:nvSpPr>
        <p:spPr>
          <a:xfrm>
            <a:off x="762000" y="2933700"/>
            <a:ext cx="10515600" cy="5770811"/>
          </a:xfrm>
          <a:prstGeom prst="rect">
            <a:avLst/>
          </a:prstGeom>
        </p:spPr>
        <p:txBody>
          <a:bodyPr wrap="square" lIns="0" tIns="0" rIns="0" bIns="0" rtlCol="0" anchor="t">
            <a:spAutoFit/>
          </a:bodyPr>
          <a:lstStyle/>
          <a:p>
            <a:pPr marL="323850" lvl="1">
              <a:lnSpc>
                <a:spcPts val="4500"/>
              </a:lnSpc>
            </a:pPr>
            <a:r>
              <a:rPr lang="vi-VN" sz="3200" dirty="0">
                <a:latin typeface="Calibri" panose="020F0502020204030204" pitchFamily="34" charset="0"/>
                <a:ea typeface="Calibri" panose="020F0502020204030204" pitchFamily="34" charset="0"/>
                <a:cs typeface="Calibri" panose="020F0502020204030204" pitchFamily="34" charset="0"/>
              </a:rPr>
              <a:t>Khởi tạo State: Khi bạn gọi useState, bạn truyền vào một giá trị khởi tạo (initial state). Hàm này trả về một mảng gồm hai phần tử</a:t>
            </a:r>
            <a:r>
              <a:rPr lang="vi-VN" sz="3200" dirty="0" smtClean="0">
                <a:latin typeface="Calibri" panose="020F0502020204030204" pitchFamily="34" charset="0"/>
                <a:ea typeface="Calibri" panose="020F0502020204030204" pitchFamily="34" charset="0"/>
                <a:cs typeface="Calibri" panose="020F0502020204030204" pitchFamily="34" charset="0"/>
              </a:rPr>
              <a:t>:</a:t>
            </a:r>
            <a:endParaRPr lang="vi-VN" sz="3200" dirty="0">
              <a:latin typeface="Calibri" panose="020F0502020204030204" pitchFamily="34" charset="0"/>
              <a:ea typeface="Calibri" panose="020F0502020204030204" pitchFamily="34" charset="0"/>
              <a:cs typeface="Calibri" panose="020F0502020204030204" pitchFamily="34" charset="0"/>
            </a:endParaRPr>
          </a:p>
          <a:p>
            <a:pPr marL="781050" lvl="1" indent="-457200">
              <a:lnSpc>
                <a:spcPts val="4500"/>
              </a:lnSpc>
              <a:buFont typeface="Arial" panose="020B0604020202020204" pitchFamily="34" charset="0"/>
              <a:buChar char="•"/>
            </a:pPr>
            <a:r>
              <a:rPr lang="vi-VN" sz="3200" dirty="0">
                <a:latin typeface="Calibri" panose="020F0502020204030204" pitchFamily="34" charset="0"/>
                <a:ea typeface="Calibri" panose="020F0502020204030204" pitchFamily="34" charset="0"/>
                <a:cs typeface="Calibri" panose="020F0502020204030204" pitchFamily="34" charset="0"/>
              </a:rPr>
              <a:t>Giá trị hiện tại của state.</a:t>
            </a:r>
          </a:p>
          <a:p>
            <a:pPr marL="781050" lvl="1" indent="-457200">
              <a:lnSpc>
                <a:spcPts val="4500"/>
              </a:lnSpc>
              <a:buFont typeface="Arial" panose="020B0604020202020204" pitchFamily="34" charset="0"/>
              <a:buChar char="•"/>
            </a:pPr>
            <a:r>
              <a:rPr lang="vi-VN" sz="3200" dirty="0">
                <a:latin typeface="Calibri" panose="020F0502020204030204" pitchFamily="34" charset="0"/>
                <a:ea typeface="Calibri" panose="020F0502020204030204" pitchFamily="34" charset="0"/>
                <a:cs typeface="Calibri" panose="020F0502020204030204" pitchFamily="34" charset="0"/>
              </a:rPr>
              <a:t>Một hàm để cập nhật giá trị của state</a:t>
            </a:r>
            <a:r>
              <a:rPr lang="vi-VN" sz="3200" dirty="0" smtClean="0">
                <a:latin typeface="Calibri" panose="020F0502020204030204" pitchFamily="34" charset="0"/>
                <a:ea typeface="Calibri" panose="020F0502020204030204" pitchFamily="34" charset="0"/>
                <a:cs typeface="Calibri" panose="020F0502020204030204" pitchFamily="34" charset="0"/>
              </a:rPr>
              <a:t>.</a:t>
            </a:r>
            <a:endParaRPr lang="en-US" sz="3200" dirty="0" smtClean="0">
              <a:latin typeface="Calibri" panose="020F0502020204030204" pitchFamily="34" charset="0"/>
              <a:ea typeface="Calibri" panose="020F0502020204030204" pitchFamily="34" charset="0"/>
              <a:cs typeface="Calibri" panose="020F0502020204030204" pitchFamily="34" charset="0"/>
            </a:endParaRPr>
          </a:p>
          <a:p>
            <a:pPr marL="781050" lvl="1" indent="-457200">
              <a:lnSpc>
                <a:spcPts val="4500"/>
              </a:lnSpc>
              <a:buFont typeface="Arial" panose="020B0604020202020204" pitchFamily="34" charset="0"/>
              <a:buChar char="•"/>
            </a:pPr>
            <a:endParaRPr lang="en-US" sz="3200" dirty="0">
              <a:latin typeface="Calibri" panose="020F0502020204030204" pitchFamily="34" charset="0"/>
              <a:ea typeface="Calibri" panose="020F0502020204030204" pitchFamily="34" charset="0"/>
              <a:cs typeface="Calibri" panose="020F0502020204030204" pitchFamily="34" charset="0"/>
            </a:endParaRPr>
          </a:p>
          <a:p>
            <a:pPr marL="781050" lvl="1" indent="-457200">
              <a:lnSpc>
                <a:spcPts val="4500"/>
              </a:lnSpc>
              <a:buFont typeface="Arial" panose="020B0604020202020204" pitchFamily="34" charset="0"/>
              <a:buChar char="•"/>
            </a:pPr>
            <a:endParaRPr lang="vi-VN" sz="3200" dirty="0">
              <a:latin typeface="Calibri" panose="020F0502020204030204" pitchFamily="34" charset="0"/>
              <a:ea typeface="Calibri" panose="020F0502020204030204" pitchFamily="34" charset="0"/>
              <a:cs typeface="Calibri" panose="020F0502020204030204" pitchFamily="34" charset="0"/>
            </a:endParaRPr>
          </a:p>
          <a:p>
            <a:pPr marL="323850" lvl="1">
              <a:lnSpc>
                <a:spcPts val="4500"/>
              </a:lnSpc>
            </a:pPr>
            <a:r>
              <a:rPr lang="vi-VN" sz="3200" dirty="0">
                <a:latin typeface="Calibri" panose="020F0502020204030204" pitchFamily="34" charset="0"/>
                <a:ea typeface="Calibri" panose="020F0502020204030204" pitchFamily="34" charset="0"/>
                <a:cs typeface="Calibri" panose="020F0502020204030204" pitchFamily="34" charset="0"/>
              </a:rPr>
              <a:t>Cập nhật State: Khi bạn gọi hàm cập nhật state, React sẽ lên lịch một lần render lại component với state đã được cập nhật.</a:t>
            </a:r>
            <a:endParaRPr lang="en-US" sz="32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a:endParaRPr>
          </a:p>
        </p:txBody>
      </p:sp>
      <p:pic>
        <p:nvPicPr>
          <p:cNvPr id="7" name="Picture 6"/>
          <p:cNvPicPr>
            <a:picLocks noChangeAspect="1"/>
          </p:cNvPicPr>
          <p:nvPr/>
        </p:nvPicPr>
        <p:blipFill>
          <a:blip r:embed="rId2"/>
          <a:stretch>
            <a:fillRect/>
          </a:stretch>
        </p:blipFill>
        <p:spPr>
          <a:xfrm>
            <a:off x="11811000" y="4076700"/>
            <a:ext cx="5569434" cy="2814703"/>
          </a:xfrm>
          <a:prstGeom prst="rect">
            <a:avLst/>
          </a:prstGeom>
        </p:spPr>
      </p:pic>
      <p:sp>
        <p:nvSpPr>
          <p:cNvPr id="9" name="TextBox 3"/>
          <p:cNvSpPr txBox="1"/>
          <p:nvPr/>
        </p:nvSpPr>
        <p:spPr>
          <a:xfrm>
            <a:off x="11791167" y="7581900"/>
            <a:ext cx="6705600" cy="577081"/>
          </a:xfrm>
          <a:prstGeom prst="rect">
            <a:avLst/>
          </a:prstGeom>
        </p:spPr>
        <p:txBody>
          <a:bodyPr wrap="square" lIns="0" tIns="0" rIns="0" bIns="0" rtlCol="0" anchor="t">
            <a:spAutoFit/>
          </a:bodyPr>
          <a:lstStyle/>
          <a:p>
            <a:pPr marL="323850" lvl="1">
              <a:lnSpc>
                <a:spcPts val="4500"/>
              </a:lnSpc>
            </a:pPr>
            <a:r>
              <a:rPr lang="en-US" sz="3200" dirty="0" err="1" smtClean="0">
                <a:latin typeface="Calibri" panose="020F0502020204030204" pitchFamily="34" charset="0"/>
                <a:ea typeface="Calibri" panose="020F0502020204030204" pitchFamily="34" charset="0"/>
                <a:cs typeface="Calibri" panose="020F0502020204030204" pitchFamily="34" charset="0"/>
              </a:rPr>
              <a:t>Cú</a:t>
            </a:r>
            <a:r>
              <a:rPr lang="en-US" sz="3200" dirty="0" smtClean="0">
                <a:latin typeface="Calibri" panose="020F0502020204030204" pitchFamily="34" charset="0"/>
                <a:ea typeface="Calibri" panose="020F0502020204030204" pitchFamily="34" charset="0"/>
                <a:cs typeface="Calibri" panose="020F0502020204030204" pitchFamily="34" charset="0"/>
              </a:rPr>
              <a:t> </a:t>
            </a:r>
            <a:r>
              <a:rPr lang="en-US" sz="3200" dirty="0" err="1" smtClean="0">
                <a:latin typeface="Calibri" panose="020F0502020204030204" pitchFamily="34" charset="0"/>
                <a:ea typeface="Calibri" panose="020F0502020204030204" pitchFamily="34" charset="0"/>
                <a:cs typeface="Calibri" panose="020F0502020204030204" pitchFamily="34" charset="0"/>
              </a:rPr>
              <a:t>pháp</a:t>
            </a:r>
            <a:r>
              <a:rPr lang="en-US" sz="3200" dirty="0" smtClean="0">
                <a:latin typeface="Calibri" panose="020F0502020204030204" pitchFamily="34" charset="0"/>
                <a:ea typeface="Calibri" panose="020F0502020204030204" pitchFamily="34" charset="0"/>
                <a:cs typeface="Calibri" panose="020F0502020204030204" pitchFamily="34" charset="0"/>
              </a:rPr>
              <a:t> </a:t>
            </a:r>
            <a:r>
              <a:rPr lang="en-US" sz="3200" dirty="0" err="1" smtClean="0">
                <a:latin typeface="Calibri" panose="020F0502020204030204" pitchFamily="34" charset="0"/>
                <a:ea typeface="Calibri" panose="020F0502020204030204" pitchFamily="34" charset="0"/>
                <a:cs typeface="Calibri" panose="020F0502020204030204" pitchFamily="34" charset="0"/>
              </a:rPr>
              <a:t>khai</a:t>
            </a:r>
            <a:r>
              <a:rPr lang="en-US" sz="3200" dirty="0" smtClean="0">
                <a:latin typeface="Calibri" panose="020F0502020204030204" pitchFamily="34" charset="0"/>
                <a:ea typeface="Calibri" panose="020F0502020204030204" pitchFamily="34" charset="0"/>
                <a:cs typeface="Calibri" panose="020F0502020204030204" pitchFamily="34" charset="0"/>
              </a:rPr>
              <a:t> </a:t>
            </a:r>
            <a:r>
              <a:rPr lang="en-US" sz="3200" dirty="0" err="1" smtClean="0">
                <a:latin typeface="Calibri" panose="020F0502020204030204" pitchFamily="34" charset="0"/>
                <a:ea typeface="Calibri" panose="020F0502020204030204" pitchFamily="34" charset="0"/>
                <a:cs typeface="Calibri" panose="020F0502020204030204" pitchFamily="34" charset="0"/>
              </a:rPr>
              <a:t>báo</a:t>
            </a:r>
            <a:r>
              <a:rPr lang="en-US" sz="3200" dirty="0" smtClean="0">
                <a:latin typeface="Calibri" panose="020F0502020204030204" pitchFamily="34" charset="0"/>
                <a:ea typeface="Calibri" panose="020F0502020204030204" pitchFamily="34" charset="0"/>
                <a:cs typeface="Calibri" panose="020F0502020204030204" pitchFamily="34" charset="0"/>
              </a:rPr>
              <a:t> </a:t>
            </a:r>
            <a:r>
              <a:rPr lang="en-US" sz="3200" dirty="0" err="1" smtClean="0">
                <a:latin typeface="Calibri" panose="020F0502020204030204" pitchFamily="34" charset="0"/>
                <a:ea typeface="Calibri" panose="020F0502020204030204" pitchFamily="34" charset="0"/>
                <a:cs typeface="Calibri" panose="020F0502020204030204" pitchFamily="34" charset="0"/>
              </a:rPr>
              <a:t>trong</a:t>
            </a:r>
            <a:r>
              <a:rPr lang="en-US" sz="3200" dirty="0" smtClean="0">
                <a:latin typeface="Calibri" panose="020F0502020204030204" pitchFamily="34" charset="0"/>
                <a:ea typeface="Calibri" panose="020F0502020204030204" pitchFamily="34" charset="0"/>
                <a:cs typeface="Calibri" panose="020F0502020204030204" pitchFamily="34" charset="0"/>
              </a:rPr>
              <a:t> </a:t>
            </a:r>
            <a:r>
              <a:rPr lang="en-US" sz="3200" dirty="0" err="1" smtClean="0">
                <a:latin typeface="Calibri" panose="020F0502020204030204" pitchFamily="34" charset="0"/>
                <a:ea typeface="Calibri" panose="020F0502020204030204" pitchFamily="34" charset="0"/>
                <a:cs typeface="Calibri" panose="020F0502020204030204" pitchFamily="34" charset="0"/>
              </a:rPr>
              <a:t>useState</a:t>
            </a:r>
            <a:endParaRPr lang="en-US" sz="32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a:endParaRPr>
          </a:p>
        </p:txBody>
      </p:sp>
    </p:spTree>
    <p:extLst>
      <p:ext uri="{BB962C8B-B14F-4D97-AF65-F5344CB8AC3E}">
        <p14:creationId xmlns:p14="http://schemas.microsoft.com/office/powerpoint/2010/main" val="141861164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8" name="TextBox 3"/>
          <p:cNvSpPr txBox="1"/>
          <p:nvPr/>
        </p:nvSpPr>
        <p:spPr>
          <a:xfrm>
            <a:off x="533400" y="1409700"/>
            <a:ext cx="4495800" cy="543034"/>
          </a:xfrm>
          <a:prstGeom prst="rect">
            <a:avLst/>
          </a:prstGeom>
        </p:spPr>
        <p:txBody>
          <a:bodyPr wrap="square" lIns="0" tIns="0" rIns="0" bIns="0" rtlCol="0" anchor="t">
            <a:spAutoFit/>
          </a:bodyPr>
          <a:lstStyle/>
          <a:p>
            <a:pPr marL="323850" lvl="1">
              <a:lnSpc>
                <a:spcPts val="4500"/>
              </a:lnSpc>
            </a:pPr>
            <a:r>
              <a:rPr lang="en-US" sz="3200" b="1" dirty="0" err="1" smtClean="0">
                <a:solidFill>
                  <a:srgbClr val="FF0000"/>
                </a:solidFill>
              </a:rPr>
              <a:t>Lưu</a:t>
            </a:r>
            <a:r>
              <a:rPr lang="en-US" sz="3200" b="1" dirty="0" smtClean="0">
                <a:solidFill>
                  <a:srgbClr val="FF0000"/>
                </a:solidFill>
              </a:rPr>
              <a:t> ý:</a:t>
            </a:r>
            <a:endParaRPr lang="en-US" sz="3200" b="1" dirty="0">
              <a:solidFill>
                <a:srgbClr val="FF0000"/>
              </a:solidFill>
              <a:latin typeface="Bricolage Grotesque Bold" panose="020B0604020202020204" charset="0"/>
              <a:ea typeface="Bricolage Grotesque"/>
              <a:cs typeface="Bricolage Grotesque"/>
              <a:sym typeface="Bricolage Grotesque"/>
            </a:endParaRPr>
          </a:p>
        </p:txBody>
      </p:sp>
      <p:pic>
        <p:nvPicPr>
          <p:cNvPr id="2" name="Picture 1"/>
          <p:cNvPicPr>
            <a:picLocks noChangeAspect="1"/>
          </p:cNvPicPr>
          <p:nvPr/>
        </p:nvPicPr>
        <p:blipFill>
          <a:blip r:embed="rId2"/>
          <a:stretch>
            <a:fillRect/>
          </a:stretch>
        </p:blipFill>
        <p:spPr>
          <a:xfrm>
            <a:off x="9144000" y="1562100"/>
            <a:ext cx="8399117" cy="8201025"/>
          </a:xfrm>
          <a:prstGeom prst="rect">
            <a:avLst/>
          </a:prstGeom>
        </p:spPr>
      </p:pic>
      <p:sp>
        <p:nvSpPr>
          <p:cNvPr id="10" name="TextBox 3"/>
          <p:cNvSpPr txBox="1"/>
          <p:nvPr/>
        </p:nvSpPr>
        <p:spPr>
          <a:xfrm>
            <a:off x="517742" y="2152518"/>
            <a:ext cx="7620000" cy="5193729"/>
          </a:xfrm>
          <a:prstGeom prst="rect">
            <a:avLst/>
          </a:prstGeom>
        </p:spPr>
        <p:txBody>
          <a:bodyPr wrap="square" lIns="0" tIns="0" rIns="0" bIns="0" rtlCol="0" anchor="t">
            <a:spAutoFit/>
          </a:bodyPr>
          <a:lstStyle/>
          <a:p>
            <a:pPr marL="323850" lvl="1">
              <a:lnSpc>
                <a:spcPts val="4500"/>
              </a:lnSpc>
            </a:pPr>
            <a:r>
              <a:rPr lang="vi-VN" sz="3200" dirty="0" smtClean="0">
                <a:latin typeface="Calibri" panose="020F0502020204030204" pitchFamily="34" charset="0"/>
                <a:ea typeface="Calibri" panose="020F0502020204030204" pitchFamily="34" charset="0"/>
                <a:cs typeface="Calibri" panose="020F0502020204030204" pitchFamily="34" charset="0"/>
              </a:rPr>
              <a:t>Cập </a:t>
            </a:r>
            <a:r>
              <a:rPr lang="vi-VN" sz="3200" dirty="0">
                <a:latin typeface="Calibri" panose="020F0502020204030204" pitchFamily="34" charset="0"/>
                <a:ea typeface="Calibri" panose="020F0502020204030204" pitchFamily="34" charset="0"/>
                <a:cs typeface="Calibri" panose="020F0502020204030204" pitchFamily="34" charset="0"/>
              </a:rPr>
              <a:t>nhật state bằng setState là bất đồng bộ. </a:t>
            </a:r>
            <a:endParaRPr lang="en-US" sz="3200" dirty="0">
              <a:latin typeface="Calibri" panose="020F0502020204030204" pitchFamily="34" charset="0"/>
              <a:ea typeface="Calibri" panose="020F0502020204030204" pitchFamily="34" charset="0"/>
              <a:cs typeface="Calibri" panose="020F0502020204030204" pitchFamily="34" charset="0"/>
            </a:endParaRPr>
          </a:p>
          <a:p>
            <a:pPr marL="323850" lvl="1">
              <a:lnSpc>
                <a:spcPts val="4500"/>
              </a:lnSpc>
            </a:pPr>
            <a:endParaRPr lang="en-US" sz="3200" dirty="0" smtClean="0">
              <a:latin typeface="Calibri" panose="020F0502020204030204" pitchFamily="34" charset="0"/>
              <a:ea typeface="Calibri" panose="020F0502020204030204" pitchFamily="34" charset="0"/>
              <a:cs typeface="Calibri" panose="020F0502020204030204" pitchFamily="34" charset="0"/>
            </a:endParaRPr>
          </a:p>
          <a:p>
            <a:pPr marL="323850" lvl="1">
              <a:lnSpc>
                <a:spcPts val="4500"/>
              </a:lnSpc>
            </a:pPr>
            <a:r>
              <a:rPr lang="vi-VN" sz="3200" dirty="0" smtClean="0">
                <a:latin typeface="Calibri" panose="020F0502020204030204" pitchFamily="34" charset="0"/>
                <a:ea typeface="Calibri" panose="020F0502020204030204" pitchFamily="34" charset="0"/>
                <a:cs typeface="Calibri" panose="020F0502020204030204" pitchFamily="34" charset="0"/>
              </a:rPr>
              <a:t>Điều </a:t>
            </a:r>
            <a:r>
              <a:rPr lang="vi-VN" sz="3200" dirty="0">
                <a:latin typeface="Calibri" panose="020F0502020204030204" pitchFamily="34" charset="0"/>
                <a:ea typeface="Calibri" panose="020F0502020204030204" pitchFamily="34" charset="0"/>
                <a:cs typeface="Calibri" panose="020F0502020204030204" pitchFamily="34" charset="0"/>
              </a:rPr>
              <a:t>này có nghĩa là nếu bạn gọi setCount(count + 1); nhiều lần liên tiếp mà không có delay, giá trị của count có thể không được cập nhật ngay lập tức. </a:t>
            </a:r>
            <a:endParaRPr lang="en-US" sz="3200" dirty="0" smtClean="0">
              <a:latin typeface="Calibri" panose="020F0502020204030204" pitchFamily="34" charset="0"/>
              <a:ea typeface="Calibri" panose="020F0502020204030204" pitchFamily="34" charset="0"/>
              <a:cs typeface="Calibri" panose="020F0502020204030204" pitchFamily="34" charset="0"/>
            </a:endParaRPr>
          </a:p>
          <a:p>
            <a:pPr marL="323850" lvl="1">
              <a:lnSpc>
                <a:spcPts val="4500"/>
              </a:lnSpc>
            </a:pPr>
            <a:endParaRPr lang="en-US" sz="3200" dirty="0">
              <a:latin typeface="Calibri" panose="020F0502020204030204" pitchFamily="34" charset="0"/>
              <a:ea typeface="Calibri" panose="020F0502020204030204" pitchFamily="34" charset="0"/>
              <a:cs typeface="Calibri" panose="020F0502020204030204" pitchFamily="34" charset="0"/>
            </a:endParaRPr>
          </a:p>
          <a:p>
            <a:pPr marL="323850" lvl="1">
              <a:lnSpc>
                <a:spcPts val="4500"/>
              </a:lnSpc>
            </a:pPr>
            <a:r>
              <a:rPr lang="vi-VN" sz="3200" dirty="0" smtClean="0">
                <a:latin typeface="Calibri" panose="020F0502020204030204" pitchFamily="34" charset="0"/>
                <a:ea typeface="Calibri" panose="020F0502020204030204" pitchFamily="34" charset="0"/>
                <a:cs typeface="Calibri" panose="020F0502020204030204" pitchFamily="34" charset="0"/>
              </a:rPr>
              <a:t>Để </a:t>
            </a:r>
            <a:r>
              <a:rPr lang="vi-VN" sz="3200" dirty="0">
                <a:latin typeface="Calibri" panose="020F0502020204030204" pitchFamily="34" charset="0"/>
                <a:ea typeface="Calibri" panose="020F0502020204030204" pitchFamily="34" charset="0"/>
                <a:cs typeface="Calibri" panose="020F0502020204030204" pitchFamily="34" charset="0"/>
              </a:rPr>
              <a:t>tránh vấn đề này, bạn có thể sử dụng hàm trong setCount:</a:t>
            </a:r>
            <a:endParaRPr lang="en-US" sz="32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a:endParaRPr>
          </a:p>
        </p:txBody>
      </p:sp>
      <p:sp>
        <p:nvSpPr>
          <p:cNvPr id="11" name="TextBox 2"/>
          <p:cNvSpPr txBox="1"/>
          <p:nvPr/>
        </p:nvSpPr>
        <p:spPr>
          <a:xfrm>
            <a:off x="0" y="266700"/>
            <a:ext cx="18288000" cy="846386"/>
          </a:xfrm>
          <a:prstGeom prst="rect">
            <a:avLst/>
          </a:prstGeom>
        </p:spPr>
        <p:txBody>
          <a:bodyPr lIns="0" tIns="0" rIns="0" bIns="0" rtlCol="0" anchor="t">
            <a:spAutoFit/>
          </a:bodyPr>
          <a:lstStyle/>
          <a:p>
            <a:pPr marL="0" lvl="0" indent="0" algn="ctr">
              <a:lnSpc>
                <a:spcPts val="6999"/>
              </a:lnSpc>
              <a:spcBef>
                <a:spcPct val="0"/>
              </a:spcBef>
            </a:pPr>
            <a:r>
              <a:rPr lang="en-US" sz="5000" b="1" dirty="0" err="1" smtClean="0">
                <a:solidFill>
                  <a:srgbClr val="1E293B"/>
                </a:solidFill>
                <a:latin typeface="Bricolage Grotesque Bold"/>
                <a:ea typeface="Bricolage Grotesque Bold"/>
                <a:cs typeface="Bricolage Grotesque Bold"/>
                <a:sym typeface="Bricolage Grotesque Bold"/>
              </a:rPr>
              <a:t>Nguyên</a:t>
            </a:r>
            <a:r>
              <a:rPr lang="en-US" sz="5000" b="1" dirty="0" smtClean="0">
                <a:solidFill>
                  <a:srgbClr val="1E293B"/>
                </a:solidFill>
                <a:latin typeface="Bricolage Grotesque Bold"/>
                <a:ea typeface="Bricolage Grotesque Bold"/>
                <a:cs typeface="Bricolage Grotesque Bold"/>
                <a:sym typeface="Bricolage Grotesque Bold"/>
              </a:rPr>
              <a:t> </a:t>
            </a:r>
            <a:r>
              <a:rPr lang="en-US" sz="5000" b="1" dirty="0" err="1" smtClean="0">
                <a:solidFill>
                  <a:srgbClr val="1E293B"/>
                </a:solidFill>
                <a:latin typeface="Bricolage Grotesque Bold"/>
                <a:ea typeface="Bricolage Grotesque Bold"/>
                <a:cs typeface="Bricolage Grotesque Bold"/>
                <a:sym typeface="Bricolage Grotesque Bold"/>
              </a:rPr>
              <a:t>lý</a:t>
            </a:r>
            <a:r>
              <a:rPr lang="en-US" sz="5000" b="1" dirty="0" smtClean="0">
                <a:solidFill>
                  <a:srgbClr val="1E293B"/>
                </a:solidFill>
                <a:latin typeface="Bricolage Grotesque Bold"/>
                <a:ea typeface="Bricolage Grotesque Bold"/>
                <a:cs typeface="Bricolage Grotesque Bold"/>
                <a:sym typeface="Bricolage Grotesque Bold"/>
              </a:rPr>
              <a:t> </a:t>
            </a:r>
            <a:r>
              <a:rPr lang="en-US" sz="5000" b="1" dirty="0" err="1" smtClean="0">
                <a:solidFill>
                  <a:srgbClr val="1E293B"/>
                </a:solidFill>
                <a:latin typeface="Bricolage Grotesque Bold"/>
                <a:ea typeface="Bricolage Grotesque Bold"/>
                <a:cs typeface="Bricolage Grotesque Bold"/>
                <a:sym typeface="Bricolage Grotesque Bold"/>
              </a:rPr>
              <a:t>hoạt</a:t>
            </a:r>
            <a:r>
              <a:rPr lang="en-US" sz="5000" b="1" dirty="0" smtClean="0">
                <a:solidFill>
                  <a:srgbClr val="1E293B"/>
                </a:solidFill>
                <a:latin typeface="Bricolage Grotesque Bold"/>
                <a:ea typeface="Bricolage Grotesque Bold"/>
                <a:cs typeface="Bricolage Grotesque Bold"/>
                <a:sym typeface="Bricolage Grotesque Bold"/>
              </a:rPr>
              <a:t> </a:t>
            </a:r>
            <a:r>
              <a:rPr lang="en-US" sz="5000" b="1" dirty="0" err="1" smtClean="0">
                <a:solidFill>
                  <a:srgbClr val="1E293B"/>
                </a:solidFill>
                <a:latin typeface="Bricolage Grotesque Bold"/>
                <a:ea typeface="Bricolage Grotesque Bold"/>
                <a:cs typeface="Bricolage Grotesque Bold"/>
                <a:sym typeface="Bricolage Grotesque Bold"/>
              </a:rPr>
              <a:t>động</a:t>
            </a:r>
            <a:endParaRPr lang="en-US" sz="5000" b="1" dirty="0">
              <a:solidFill>
                <a:srgbClr val="1E293B"/>
              </a:solidFill>
              <a:latin typeface="Bricolage Grotesque Bold"/>
              <a:ea typeface="Bricolage Grotesque Bold"/>
              <a:cs typeface="Bricolage Grotesque Bold"/>
              <a:sym typeface="Bricolage Grotesque Bold"/>
            </a:endParaRPr>
          </a:p>
        </p:txBody>
      </p:sp>
      <p:pic>
        <p:nvPicPr>
          <p:cNvPr id="3" name="Picture 2"/>
          <p:cNvPicPr>
            <a:picLocks noChangeAspect="1"/>
          </p:cNvPicPr>
          <p:nvPr/>
        </p:nvPicPr>
        <p:blipFill>
          <a:blip r:embed="rId3"/>
          <a:stretch>
            <a:fillRect/>
          </a:stretch>
        </p:blipFill>
        <p:spPr>
          <a:xfrm>
            <a:off x="1885689" y="7923329"/>
            <a:ext cx="5200911" cy="1865544"/>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7" name="TextBox 7"/>
          <p:cNvSpPr txBox="1"/>
          <p:nvPr/>
        </p:nvSpPr>
        <p:spPr>
          <a:xfrm>
            <a:off x="13487400" y="2095500"/>
            <a:ext cx="4343400" cy="276998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thực</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hành</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tại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lớp</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3" name="Picture 2"/>
          <p:cNvPicPr>
            <a:picLocks noChangeAspect="1"/>
          </p:cNvPicPr>
          <p:nvPr/>
        </p:nvPicPr>
        <p:blipFill>
          <a:blip r:embed="rId5"/>
          <a:stretch>
            <a:fillRect/>
          </a:stretch>
        </p:blipFill>
        <p:spPr>
          <a:xfrm>
            <a:off x="914400" y="419100"/>
            <a:ext cx="11201400" cy="9587138"/>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3487400" y="20955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1</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3" name="PixPin_2026-01-03_10-33-2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457200" y="571500"/>
            <a:ext cx="11901036" cy="9125907"/>
          </a:xfrm>
          <a:prstGeom prst="rect">
            <a:avLst/>
          </a:prstGeom>
        </p:spPr>
      </p:pic>
    </p:spTree>
    <p:extLst>
      <p:ext uri="{BB962C8B-B14F-4D97-AF65-F5344CB8AC3E}">
        <p14:creationId xmlns:p14="http://schemas.microsoft.com/office/powerpoint/2010/main" val="247597691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3"/>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3"/>
                                        </p:tgtEl>
                                      </p:cBhvr>
                                    </p:cmd>
                                  </p:childTnLst>
                                </p:cTn>
                              </p:par>
                            </p:childTnLst>
                          </p:cTn>
                        </p:par>
                      </p:childTnLst>
                    </p:cTn>
                  </p:par>
                </p:childTnLst>
              </p:cTn>
              <p:nextCondLst>
                <p:cond evt="onClick" delay="0">
                  <p:tgtEl>
                    <p:spTgt spid="3"/>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5087600" y="24003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2</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2" name="PixPin_2026-01-03_10-36-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752600" y="571500"/>
            <a:ext cx="10077450" cy="9036391"/>
          </a:xfrm>
          <a:prstGeom prst="rect">
            <a:avLst/>
          </a:prstGeom>
        </p:spPr>
      </p:pic>
    </p:spTree>
    <p:extLst>
      <p:ext uri="{BB962C8B-B14F-4D97-AF65-F5344CB8AC3E}">
        <p14:creationId xmlns:p14="http://schemas.microsoft.com/office/powerpoint/2010/main" val="330470647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5087600" y="24003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dirty="0">
                <a:solidFill>
                  <a:srgbClr val="1E293B"/>
                </a:solidFill>
                <a:latin typeface="Bricolage Grotesque Bold"/>
                <a:ea typeface="Bricolage Grotesque Bold"/>
                <a:cs typeface="Bricolage Grotesque Bold"/>
                <a:sym typeface="Bricolage Grotesque Bold"/>
              </a:rPr>
              <a:t>3</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2" name="PixPin_2026-01-03_10-40-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09600" y="1257300"/>
            <a:ext cx="12763500" cy="7898205"/>
          </a:xfrm>
          <a:prstGeom prst="rect">
            <a:avLst/>
          </a:prstGeom>
        </p:spPr>
      </p:pic>
    </p:spTree>
    <p:extLst>
      <p:ext uri="{BB962C8B-B14F-4D97-AF65-F5344CB8AC3E}">
        <p14:creationId xmlns:p14="http://schemas.microsoft.com/office/powerpoint/2010/main" val="313413186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15087600" y="2400300"/>
            <a:ext cx="2819400" cy="1846659"/>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Ví</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dụ</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dirty="0">
                <a:solidFill>
                  <a:srgbClr val="1E293B"/>
                </a:solidFill>
                <a:latin typeface="Bricolage Grotesque Bold"/>
                <a:ea typeface="Bricolage Grotesque Bold"/>
                <a:cs typeface="Bricolage Grotesque Bold"/>
                <a:sym typeface="Bricolage Grotesque Bold"/>
              </a:rPr>
              <a:t>4</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3" name="PixPin_2026-01-03_10-46-5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295400" y="876300"/>
            <a:ext cx="11144250" cy="8493726"/>
          </a:xfrm>
          <a:prstGeom prst="rect">
            <a:avLst/>
          </a:prstGeom>
        </p:spPr>
      </p:pic>
    </p:spTree>
    <p:extLst>
      <p:ext uri="{BB962C8B-B14F-4D97-AF65-F5344CB8AC3E}">
        <p14:creationId xmlns:p14="http://schemas.microsoft.com/office/powerpoint/2010/main" val="1135149772"/>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3"/>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3"/>
                                        </p:tgtEl>
                                      </p:cBhvr>
                                    </p:cmd>
                                  </p:childTnLst>
                                </p:cTn>
                              </p:par>
                            </p:childTnLst>
                          </p:cTn>
                        </p:par>
                      </p:childTnLst>
                    </p:cTn>
                  </p:par>
                </p:childTnLst>
              </p:cTn>
              <p:nextCondLst>
                <p:cond evt="onClick" delay="0">
                  <p:tgtEl>
                    <p:spTgt spid="3"/>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7"/>
          <p:cNvSpPr txBox="1"/>
          <p:nvPr/>
        </p:nvSpPr>
        <p:spPr>
          <a:xfrm>
            <a:off x="2895600" y="1866900"/>
            <a:ext cx="11201400" cy="923330"/>
          </a:xfrm>
          <a:prstGeom prst="rect">
            <a:avLst/>
          </a:prstGeom>
        </p:spPr>
        <p:txBody>
          <a:bodyPr wrap="square" lIns="0" tIns="0" rIns="0" bIns="0" rtlCol="0" anchor="t">
            <a:spAutoFit/>
          </a:bodyPr>
          <a:lstStyle/>
          <a:p>
            <a:pPr marL="0" lvl="0" indent="0" algn="l">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về</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nhà</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3"/>
          <p:cNvSpPr txBox="1"/>
          <p:nvPr/>
        </p:nvSpPr>
        <p:spPr>
          <a:xfrm>
            <a:off x="1066800" y="3467100"/>
            <a:ext cx="15544800" cy="1477328"/>
          </a:xfrm>
          <a:prstGeom prst="rect">
            <a:avLst/>
          </a:prstGeom>
        </p:spPr>
        <p:txBody>
          <a:bodyPr wrap="square" lIns="0" tIns="0" rIns="0" bIns="0" rtlCol="0" anchor="t">
            <a:spAutoFit/>
          </a:bodyPr>
          <a:lstStyle/>
          <a:p>
            <a:r>
              <a:rPr lang="en-US" sz="3200" b="1" dirty="0" err="1"/>
              <a:t>Hoàn</a:t>
            </a:r>
            <a:r>
              <a:rPr lang="en-US" sz="3200" b="1" dirty="0"/>
              <a:t> </a:t>
            </a:r>
            <a:r>
              <a:rPr lang="en-US" sz="3200" b="1" dirty="0" err="1"/>
              <a:t>thiện</a:t>
            </a:r>
            <a:r>
              <a:rPr lang="en-US" sz="3200" b="1" dirty="0"/>
              <a:t> Landing Page (Responsive):</a:t>
            </a:r>
            <a:endParaRPr lang="en-US" sz="3200" dirty="0"/>
          </a:p>
          <a:p>
            <a:pPr lvl="1"/>
            <a:r>
              <a:rPr lang="en-US" sz="3200" dirty="0" err="1"/>
              <a:t>Áp</a:t>
            </a:r>
            <a:r>
              <a:rPr lang="en-US" sz="3200" dirty="0"/>
              <a:t> </a:t>
            </a:r>
            <a:r>
              <a:rPr lang="en-US" sz="3200" dirty="0" err="1"/>
              <a:t>dụng</a:t>
            </a:r>
            <a:r>
              <a:rPr lang="en-US" sz="3200" dirty="0"/>
              <a:t> Responsive </a:t>
            </a:r>
            <a:r>
              <a:rPr lang="en-US" sz="3200" dirty="0" err="1"/>
              <a:t>cho</a:t>
            </a:r>
            <a:r>
              <a:rPr lang="en-US" sz="3200" dirty="0"/>
              <a:t> </a:t>
            </a:r>
            <a:r>
              <a:rPr lang="en-US" sz="3200" dirty="0" err="1"/>
              <a:t>bài</a:t>
            </a:r>
            <a:r>
              <a:rPr lang="en-US" sz="3200" dirty="0"/>
              <a:t> </a:t>
            </a:r>
            <a:r>
              <a:rPr lang="en-US" sz="3200" dirty="0" err="1"/>
              <a:t>tập</a:t>
            </a:r>
            <a:r>
              <a:rPr lang="en-US" sz="3200" dirty="0"/>
              <a:t> </a:t>
            </a:r>
            <a:r>
              <a:rPr lang="en-US" sz="3200" dirty="0" err="1"/>
              <a:t>về</a:t>
            </a:r>
            <a:r>
              <a:rPr lang="en-US" sz="3200" dirty="0"/>
              <a:t> </a:t>
            </a:r>
            <a:r>
              <a:rPr lang="en-US" sz="3200" dirty="0" err="1"/>
              <a:t>nhà</a:t>
            </a:r>
            <a:r>
              <a:rPr lang="en-US" sz="3200" dirty="0"/>
              <a:t> </a:t>
            </a:r>
            <a:r>
              <a:rPr lang="en-US" sz="3200" dirty="0" err="1"/>
              <a:t>Buổi</a:t>
            </a:r>
            <a:r>
              <a:rPr lang="en-US" sz="3200" dirty="0"/>
              <a:t> 1.</a:t>
            </a:r>
          </a:p>
          <a:p>
            <a:pPr lvl="1"/>
            <a:r>
              <a:rPr lang="en-US" sz="3200" dirty="0" err="1"/>
              <a:t>Đảm</a:t>
            </a:r>
            <a:r>
              <a:rPr lang="en-US" sz="3200" dirty="0"/>
              <a:t> </a:t>
            </a:r>
            <a:r>
              <a:rPr lang="en-US" sz="3200" dirty="0" err="1"/>
              <a:t>bảo</a:t>
            </a:r>
            <a:r>
              <a:rPr lang="en-US" sz="3200" dirty="0"/>
              <a:t> </a:t>
            </a:r>
            <a:r>
              <a:rPr lang="en-US" sz="3200" dirty="0" err="1"/>
              <a:t>hiển</a:t>
            </a:r>
            <a:r>
              <a:rPr lang="en-US" sz="3200" dirty="0"/>
              <a:t> </a:t>
            </a:r>
            <a:r>
              <a:rPr lang="en-US" sz="3200" dirty="0" err="1"/>
              <a:t>thị</a:t>
            </a:r>
            <a:r>
              <a:rPr lang="en-US" sz="3200" dirty="0"/>
              <a:t> </a:t>
            </a:r>
            <a:r>
              <a:rPr lang="en-US" sz="3200" dirty="0" err="1"/>
              <a:t>đẹp</a:t>
            </a:r>
            <a:r>
              <a:rPr lang="en-US" sz="3200" dirty="0"/>
              <a:t> </a:t>
            </a:r>
            <a:r>
              <a:rPr lang="en-US" sz="3200" dirty="0" err="1"/>
              <a:t>trên</a:t>
            </a:r>
            <a:r>
              <a:rPr lang="en-US" sz="3200" dirty="0"/>
              <a:t> </a:t>
            </a:r>
            <a:r>
              <a:rPr lang="en-US" sz="3200" dirty="0" err="1"/>
              <a:t>cả</a:t>
            </a:r>
            <a:r>
              <a:rPr lang="en-US" sz="3200" dirty="0"/>
              <a:t> </a:t>
            </a:r>
            <a:r>
              <a:rPr lang="en-US" sz="3200" dirty="0" err="1"/>
              <a:t>điện</a:t>
            </a:r>
            <a:r>
              <a:rPr lang="en-US" sz="3200" dirty="0"/>
              <a:t> </a:t>
            </a:r>
            <a:r>
              <a:rPr lang="en-US" sz="3200" dirty="0" err="1"/>
              <a:t>thoại</a:t>
            </a:r>
            <a:r>
              <a:rPr lang="en-US" sz="3200" dirty="0"/>
              <a:t> </a:t>
            </a:r>
            <a:r>
              <a:rPr lang="en-US" sz="3200" dirty="0" err="1"/>
              <a:t>và</a:t>
            </a:r>
            <a:r>
              <a:rPr lang="en-US" sz="3200" dirty="0"/>
              <a:t> </a:t>
            </a:r>
            <a:r>
              <a:rPr lang="en-US" sz="3200" dirty="0" err="1"/>
              <a:t>máy</a:t>
            </a:r>
            <a:r>
              <a:rPr lang="en-US" sz="3200" dirty="0"/>
              <a:t> </a:t>
            </a:r>
            <a:r>
              <a:rPr lang="en-US" sz="3200" dirty="0" err="1"/>
              <a:t>tính</a:t>
            </a:r>
            <a:r>
              <a:rPr lang="en-US" sz="3200" dirty="0"/>
              <a:t>.</a:t>
            </a:r>
          </a:p>
        </p:txBody>
      </p:sp>
    </p:spTree>
    <p:extLst>
      <p:ext uri="{BB962C8B-B14F-4D97-AF65-F5344CB8AC3E}">
        <p14:creationId xmlns:p14="http://schemas.microsoft.com/office/powerpoint/2010/main" val="281933670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405</TotalTime>
  <Words>489</Words>
  <Application>Microsoft Office PowerPoint</Application>
  <PresentationFormat>Custom</PresentationFormat>
  <Paragraphs>41</Paragraphs>
  <Slides>14</Slides>
  <Notes>0</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Bricolage Grotesque</vt:lpstr>
      <vt:lpstr>Bricolage Grotesque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 BUỔI 1: TỪ RAZOR VIEW SANG JSX</dc:title>
  <dc:description>Bài thuyết trình - BUỔI 1: TỪ RAZOR VIEW SANG JSX</dc:description>
  <cp:lastModifiedBy>vtrust</cp:lastModifiedBy>
  <cp:revision>19</cp:revision>
  <dcterms:created xsi:type="dcterms:W3CDTF">2006-08-16T00:00:00Z</dcterms:created>
  <dcterms:modified xsi:type="dcterms:W3CDTF">2026-01-03T03:49:46Z</dcterms:modified>
  <dc:identifier>DAG8Mi2FD9A</dc:identifier>
</cp:coreProperties>
</file>