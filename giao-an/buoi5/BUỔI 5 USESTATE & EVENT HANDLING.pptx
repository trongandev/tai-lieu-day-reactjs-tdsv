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9" r:id="rId4"/>
    <p:sldId id="284" r:id="rId5"/>
    <p:sldId id="280" r:id="rId6"/>
    <p:sldId id="275" r:id="rId7"/>
    <p:sldId id="285" r:id="rId8"/>
    <p:sldId id="281" r:id="rId9"/>
    <p:sldId id="282" r:id="rId10"/>
    <p:sldId id="260" r:id="rId11"/>
    <p:sldId id="270" r:id="rId12"/>
    <p:sldId id="276" r:id="rId13"/>
    <p:sldId id="277" r:id="rId14"/>
    <p:sldId id="278" r:id="rId15"/>
    <p:sldId id="283" r:id="rId16"/>
  </p:sldIdLst>
  <p:sldSz cx="18288000" cy="10287000"/>
  <p:notesSz cx="6858000" cy="9144000"/>
  <p:embeddedFontLst>
    <p:embeddedFont>
      <p:font typeface="Bricolage Grotesque" panose="020B0604020202020204" charset="0"/>
      <p:regular r:id="rId17"/>
    </p:embeddedFont>
    <p:embeddedFont>
      <p:font typeface="Bricolage Grotesque Bold" panose="020B0604020202020204" charset="0"/>
      <p:regular r:id="rId18"/>
    </p:embeddedFont>
    <p:embeddedFont>
      <p:font typeface="Calibri" panose="020F0502020204030204" pitchFamily="3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22" autoAdjust="0"/>
  </p:normalViewPr>
  <p:slideViewPr>
    <p:cSldViewPr>
      <p:cViewPr varScale="1">
        <p:scale>
          <a:sx n="77" d="100"/>
          <a:sy n="77" d="100"/>
        </p:scale>
        <p:origin x="39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2026-01-16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2.png"/><Relationship Id="rId5" Type="http://schemas.openxmlformats.org/officeDocument/2006/relationships/image" Target="../media/image30.sv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3.png"/><Relationship Id="rId5" Type="http://schemas.openxmlformats.org/officeDocument/2006/relationships/image" Target="../media/image30.sv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14.png"/><Relationship Id="rId5" Type="http://schemas.openxmlformats.org/officeDocument/2006/relationships/image" Target="../media/image30.sv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15.png"/><Relationship Id="rId5" Type="http://schemas.openxmlformats.org/officeDocument/2006/relationships/image" Target="../media/image30.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4" name="Group 4"/>
          <p:cNvGrpSpPr/>
          <p:nvPr/>
        </p:nvGrpSpPr>
        <p:grpSpPr>
          <a:xfrm>
            <a:off x="15677043" y="6462606"/>
            <a:ext cx="3467057" cy="4305236"/>
            <a:chOff x="0" y="0"/>
            <a:chExt cx="4622743" cy="5740315"/>
          </a:xfrm>
        </p:grpSpPr>
        <p:sp>
          <p:nvSpPr>
            <p:cNvPr id="5" name="Freeform 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grpSp>
          <p:nvGrpSpPr>
            <p:cNvPr id="6" name="Group 6"/>
            <p:cNvGrpSpPr/>
            <p:nvPr/>
          </p:nvGrpSpPr>
          <p:grpSpPr>
            <a:xfrm rot="8100000">
              <a:off x="-106337" y="2577879"/>
              <a:ext cx="4835418" cy="1702128"/>
              <a:chOff x="0" y="0"/>
              <a:chExt cx="954623" cy="336039"/>
            </a:xfrm>
          </p:grpSpPr>
          <p:sp>
            <p:nvSpPr>
              <p:cNvPr id="7" name="Freeform 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64748B"/>
              </a:solidFill>
              <a:ln cap="sq">
                <a:noFill/>
                <a:prstDash val="solid"/>
                <a:miter/>
              </a:ln>
            </p:spPr>
          </p:sp>
          <p:sp>
            <p:nvSpPr>
              <p:cNvPr id="8" name="TextBox 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sp>
        <p:nvSpPr>
          <p:cNvPr id="9" name="TextBox 9"/>
          <p:cNvSpPr txBox="1"/>
          <p:nvPr/>
        </p:nvSpPr>
        <p:spPr>
          <a:xfrm>
            <a:off x="1371600" y="2476500"/>
            <a:ext cx="17378364" cy="984885"/>
          </a:xfrm>
          <a:prstGeom prst="rect">
            <a:avLst/>
          </a:prstGeom>
        </p:spPr>
        <p:txBody>
          <a:bodyPr wrap="square" lIns="0" tIns="0" rIns="0" bIns="0" rtlCol="0" anchor="t">
            <a:spAutoFit/>
          </a:bodyPr>
          <a:lstStyle/>
          <a:p>
            <a:r>
              <a:rPr lang="en-US" sz="6400" b="1" dirty="0"/>
              <a:t>BUỔI </a:t>
            </a:r>
            <a:r>
              <a:rPr lang="en-US" sz="6400" b="1" dirty="0" smtClean="0"/>
              <a:t>5</a:t>
            </a:r>
            <a:r>
              <a:rPr lang="en-US" sz="6400" b="1" dirty="0"/>
              <a:t>: EVENT </a:t>
            </a:r>
            <a:r>
              <a:rPr lang="en-US" sz="6400" b="1" dirty="0" smtClean="0"/>
              <a:t>HANDLING</a:t>
            </a:r>
            <a:r>
              <a:rPr lang="en-US" sz="6400" dirty="0" smtClean="0"/>
              <a:t> </a:t>
            </a:r>
            <a:r>
              <a:rPr lang="en-US" sz="6400" b="1" dirty="0" smtClean="0"/>
              <a:t>&amp; USESTATE</a:t>
            </a:r>
            <a:endParaRPr lang="en-US" sz="6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Box 2"/>
          <p:cNvSpPr txBox="1"/>
          <p:nvPr/>
        </p:nvSpPr>
        <p:spPr>
          <a:xfrm>
            <a:off x="0" y="116205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a:solidFill>
                  <a:srgbClr val="1E293B"/>
                </a:solidFill>
                <a:latin typeface="Bricolage Grotesque Bold"/>
                <a:ea typeface="Bricolage Grotesque Bold"/>
                <a:cs typeface="Bricolage Grotesque Bold"/>
                <a:sym typeface="Bricolage Grotesque Bold"/>
              </a:rPr>
              <a:t>Nội dung buổi học</a:t>
            </a:r>
          </a:p>
        </p:txBody>
      </p:sp>
      <p:sp>
        <p:nvSpPr>
          <p:cNvPr id="3" name="TextBox 3"/>
          <p:cNvSpPr txBox="1"/>
          <p:nvPr/>
        </p:nvSpPr>
        <p:spPr>
          <a:xfrm>
            <a:off x="5029200" y="4229100"/>
            <a:ext cx="9678972" cy="2808461"/>
          </a:xfrm>
          <a:prstGeom prst="rect">
            <a:avLst/>
          </a:prstGeom>
        </p:spPr>
        <p:txBody>
          <a:bodyPr lIns="0" tIns="0" rIns="0" bIns="0" rtlCol="0" anchor="t">
            <a:spAutoFit/>
          </a:bodyPr>
          <a:lstStyle/>
          <a:p>
            <a:pPr marL="755864" lvl="1" indent="-377932">
              <a:lnSpc>
                <a:spcPts val="7282"/>
              </a:lnSpc>
              <a:buFontTx/>
              <a:buAutoNum type="arabicPeriod"/>
            </a:pPr>
            <a:r>
              <a:rPr lang="en-US" sz="3500" b="1" dirty="0" smtClean="0">
                <a:solidFill>
                  <a:srgbClr val="1E293B"/>
                </a:solidFill>
                <a:latin typeface="Bricolage Grotesque Bold"/>
                <a:ea typeface="Bricolage Grotesque Bold"/>
                <a:cs typeface="Bricolage Grotesque Bold"/>
                <a:sym typeface="Bricolage Grotesque Bold"/>
              </a:rPr>
              <a:t>Event Handling</a:t>
            </a:r>
          </a:p>
          <a:p>
            <a:pPr marL="755864" lvl="1" indent="-377932">
              <a:lnSpc>
                <a:spcPts val="7282"/>
              </a:lnSpc>
              <a:buFontTx/>
              <a:buAutoNum type="arabicPeriod"/>
            </a:pPr>
            <a:r>
              <a:rPr lang="en-US" sz="3500" b="1" dirty="0" smtClean="0">
                <a:solidFill>
                  <a:srgbClr val="1E293B"/>
                </a:solidFill>
                <a:latin typeface="Bricolage Grotesque Bold"/>
                <a:ea typeface="Bricolage Grotesque Bold"/>
                <a:cs typeface="Bricolage Grotesque Bold"/>
                <a:sym typeface="Bricolage Grotesque Bold"/>
              </a:rPr>
              <a:t> </a:t>
            </a:r>
            <a:r>
              <a:rPr lang="en-US" sz="3500" b="1" dirty="0" err="1" smtClean="0">
                <a:solidFill>
                  <a:srgbClr val="1E293B"/>
                </a:solidFill>
                <a:latin typeface="Bricolage Grotesque Bold"/>
                <a:ea typeface="Bricolage Grotesque Bold"/>
                <a:cs typeface="Bricolage Grotesque Bold"/>
                <a:sym typeface="Bricolage Grotesque Bold"/>
              </a:rPr>
              <a:t>useState</a:t>
            </a:r>
            <a:r>
              <a:rPr lang="en-US" sz="3500" b="1" dirty="0" smtClean="0">
                <a:solidFill>
                  <a:srgbClr val="1E293B"/>
                </a:solidFill>
                <a:latin typeface="Bricolage Grotesque Bold"/>
                <a:ea typeface="Bricolage Grotesque Bold"/>
                <a:cs typeface="Bricolage Grotesque Bold"/>
                <a:sym typeface="Bricolage Grotesque Bold"/>
              </a:rPr>
              <a:t> Hook</a:t>
            </a:r>
          </a:p>
          <a:p>
            <a:pPr marL="377932" lvl="1">
              <a:lnSpc>
                <a:spcPts val="7282"/>
              </a:lnSpc>
            </a:pPr>
            <a:r>
              <a:rPr lang="en-US" sz="3500" b="1" dirty="0" smtClean="0">
                <a:solidFill>
                  <a:srgbClr val="1E293B"/>
                </a:solidFill>
                <a:latin typeface="Bricolage Grotesque Bold"/>
                <a:ea typeface="Bricolage Grotesque Bold"/>
                <a:cs typeface="Bricolage Grotesque Bold"/>
                <a:sym typeface="Bricolage Grotesque Bold"/>
              </a:rPr>
              <a:t>3. </a:t>
            </a:r>
            <a:r>
              <a:rPr lang="en-US" sz="3500" b="1" dirty="0" err="1" smtClean="0">
                <a:solidFill>
                  <a:srgbClr val="1E293B"/>
                </a:solidFill>
                <a:latin typeface="Bricolage Grotesque Bold"/>
                <a:ea typeface="Bricolage Grotesque Bold"/>
                <a:cs typeface="Bricolage Grotesque Bold"/>
                <a:sym typeface="Bricolage Grotesque Bold"/>
              </a:rPr>
              <a:t>Bài</a:t>
            </a:r>
            <a:r>
              <a:rPr lang="en-US" sz="3500" b="1" dirty="0" smtClean="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tập</a:t>
            </a:r>
            <a:r>
              <a:rPr lang="en-US" sz="3500" b="1" dirty="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thực</a:t>
            </a:r>
            <a:r>
              <a:rPr lang="en-US" sz="3500" b="1" dirty="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hành</a:t>
            </a:r>
            <a:r>
              <a:rPr lang="en-US" sz="3500" b="1" dirty="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tại</a:t>
            </a:r>
            <a:r>
              <a:rPr lang="en-US" sz="3500" b="1" dirty="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lớp</a:t>
            </a:r>
            <a:endParaRPr lang="en-US" sz="3500" b="1" dirty="0" smtClean="0">
              <a:solidFill>
                <a:srgbClr val="1E293B"/>
              </a:solidFill>
              <a:latin typeface="Bricolage Grotesque Bold"/>
              <a:ea typeface="Bricolage Grotesque Bold"/>
              <a:cs typeface="Bricolage Grotesque Bold"/>
              <a:sym typeface="Bricolage Grotesque Bold"/>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Box 2"/>
          <p:cNvSpPr txBox="1"/>
          <p:nvPr/>
        </p:nvSpPr>
        <p:spPr>
          <a:xfrm>
            <a:off x="152400" y="110490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smtClean="0">
                <a:solidFill>
                  <a:srgbClr val="1E293B"/>
                </a:solidFill>
                <a:latin typeface="Bricolage Grotesque Bold"/>
                <a:ea typeface="Bricolage Grotesque Bold"/>
                <a:cs typeface="Bricolage Grotesque Bold"/>
                <a:sym typeface="Bricolage Grotesque Bold"/>
              </a:rPr>
              <a:t>Event Handling </a:t>
            </a:r>
            <a:r>
              <a:rPr lang="en-US" sz="6999" b="1" dirty="0" err="1" smtClean="0">
                <a:solidFill>
                  <a:srgbClr val="1E293B"/>
                </a:solidFill>
                <a:latin typeface="Bricolage Grotesque Bold"/>
                <a:ea typeface="Bricolage Grotesque Bold"/>
                <a:cs typeface="Bricolage Grotesque Bold"/>
                <a:sym typeface="Bricolage Grotesque Bold"/>
              </a:rPr>
              <a:t>trong</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ReactJS</a:t>
            </a:r>
            <a:endParaRPr lang="en-US" sz="6999" b="1" dirty="0">
              <a:solidFill>
                <a:srgbClr val="1E293B"/>
              </a:solidFill>
              <a:latin typeface="Bricolage Grotesque Bold"/>
              <a:ea typeface="Bricolage Grotesque Bold"/>
              <a:cs typeface="Bricolage Grotesque Bold"/>
              <a:sym typeface="Bricolage Grotesque Bold"/>
            </a:endParaRPr>
          </a:p>
        </p:txBody>
      </p:sp>
      <p:sp>
        <p:nvSpPr>
          <p:cNvPr id="3" name="TextBox 3"/>
          <p:cNvSpPr txBox="1"/>
          <p:nvPr/>
        </p:nvSpPr>
        <p:spPr>
          <a:xfrm>
            <a:off x="2438400" y="3619500"/>
            <a:ext cx="12649200" cy="4002314"/>
          </a:xfrm>
          <a:prstGeom prst="rect">
            <a:avLst/>
          </a:prstGeom>
        </p:spPr>
        <p:txBody>
          <a:bodyPr wrap="square" lIns="0" tIns="0" rIns="0" bIns="0" rtlCol="0" anchor="t">
            <a:spAutoFit/>
          </a:bodyPr>
          <a:lstStyle/>
          <a:p>
            <a:pPr marL="323850" lvl="1">
              <a:lnSpc>
                <a:spcPts val="4500"/>
              </a:lnSpc>
            </a:pPr>
            <a:r>
              <a:rPr lang="en-US" sz="3200" dirty="0" smtClean="0"/>
              <a:t>T</a:t>
            </a:r>
            <a:r>
              <a:rPr lang="vi-VN" sz="3200" dirty="0" smtClean="0"/>
              <a:t>rong </a:t>
            </a:r>
            <a:r>
              <a:rPr lang="vi-VN" sz="3200" dirty="0"/>
              <a:t>ReactJS là quá trình xử lý các sự kiện (events) xảy ra trong ứng dụng, như khi người dùng tương tác với giao diện, chẳng hạn như nhấn nút, nhập dữ liệu vào ô input, di chuột qua một phần tử, và nhiều tình huống khác. </a:t>
            </a:r>
            <a:endParaRPr lang="en-US" sz="3200" dirty="0" smtClean="0"/>
          </a:p>
          <a:p>
            <a:pPr marL="323850" lvl="1">
              <a:lnSpc>
                <a:spcPts val="4500"/>
              </a:lnSpc>
            </a:pPr>
            <a:endParaRPr lang="en-US" sz="3200" dirty="0"/>
          </a:p>
          <a:p>
            <a:pPr marL="323850" lvl="1">
              <a:lnSpc>
                <a:spcPts val="4500"/>
              </a:lnSpc>
            </a:pPr>
            <a:r>
              <a:rPr lang="vi-VN" sz="3200" dirty="0" smtClean="0"/>
              <a:t>React </a:t>
            </a:r>
            <a:r>
              <a:rPr lang="vi-VN" sz="3200" dirty="0"/>
              <a:t>cung cấp một cách tiếp cận đơn giản và hiệu quả để quản lý các sự kiện thông qua các thuộc tính (props) của component.</a:t>
            </a:r>
            <a:endParaRPr lang="en-US" sz="3200" dirty="0">
              <a:solidFill>
                <a:srgbClr val="1E293B"/>
              </a:solidFill>
              <a:latin typeface="Bricolage Grotesque Bold" panose="020B0604020202020204" charset="0"/>
              <a:ea typeface="Bricolage Grotesque"/>
              <a:cs typeface="Bricolage Grotesque"/>
              <a:sym typeface="Bricolage Grotesque"/>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2400" y="110490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smtClean="0">
                <a:solidFill>
                  <a:srgbClr val="1E293B"/>
                </a:solidFill>
                <a:latin typeface="Bricolage Grotesque Bold"/>
                <a:ea typeface="Bricolage Grotesque Bold"/>
                <a:cs typeface="Bricolage Grotesque Bold"/>
                <a:sym typeface="Bricolage Grotesque Bold"/>
              </a:rPr>
              <a:t>Event Handling </a:t>
            </a:r>
            <a:r>
              <a:rPr lang="en-US" sz="6999" b="1" dirty="0" err="1" smtClean="0">
                <a:solidFill>
                  <a:srgbClr val="1E293B"/>
                </a:solidFill>
                <a:latin typeface="Bricolage Grotesque Bold"/>
                <a:ea typeface="Bricolage Grotesque Bold"/>
                <a:cs typeface="Bricolage Grotesque Bold"/>
                <a:sym typeface="Bricolage Grotesque Bold"/>
              </a:rPr>
              <a:t>trong</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ReactJS</a:t>
            </a:r>
            <a:endParaRPr lang="en-US" sz="6999" b="1" dirty="0">
              <a:solidFill>
                <a:srgbClr val="1E293B"/>
              </a:solidFill>
              <a:latin typeface="Bricolage Grotesque Bold"/>
              <a:ea typeface="Bricolage Grotesque Bold"/>
              <a:cs typeface="Bricolage Grotesque Bold"/>
              <a:sym typeface="Bricolage Grotesque Bold"/>
            </a:endParaRPr>
          </a:p>
        </p:txBody>
      </p:sp>
      <p:pic>
        <p:nvPicPr>
          <p:cNvPr id="4" name="Picture 3"/>
          <p:cNvPicPr>
            <a:picLocks noChangeAspect="1"/>
          </p:cNvPicPr>
          <p:nvPr/>
        </p:nvPicPr>
        <p:blipFill>
          <a:blip r:embed="rId2"/>
          <a:stretch>
            <a:fillRect/>
          </a:stretch>
        </p:blipFill>
        <p:spPr>
          <a:xfrm>
            <a:off x="1239252" y="3543300"/>
            <a:ext cx="16114295" cy="3733800"/>
          </a:xfrm>
          <a:prstGeom prst="rect">
            <a:avLst/>
          </a:prstGeom>
        </p:spPr>
      </p:pic>
    </p:spTree>
    <p:extLst>
      <p:ext uri="{BB962C8B-B14F-4D97-AF65-F5344CB8AC3E}">
        <p14:creationId xmlns:p14="http://schemas.microsoft.com/office/powerpoint/2010/main" val="35333763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2400" y="110490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err="1" smtClean="0">
                <a:solidFill>
                  <a:srgbClr val="1E293B"/>
                </a:solidFill>
                <a:latin typeface="Bricolage Grotesque Bold"/>
                <a:ea typeface="Bricolage Grotesque Bold"/>
                <a:cs typeface="Bricolage Grotesque Bold"/>
                <a:sym typeface="Bricolage Grotesque Bold"/>
              </a:rPr>
              <a:t>Cách</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thức</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hoạt</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động</a:t>
            </a:r>
            <a:endParaRPr lang="en-US" sz="6999" b="1" dirty="0">
              <a:solidFill>
                <a:srgbClr val="1E293B"/>
              </a:solidFill>
              <a:latin typeface="Bricolage Grotesque Bold"/>
              <a:ea typeface="Bricolage Grotesque Bold"/>
              <a:cs typeface="Bricolage Grotesque Bold"/>
              <a:sym typeface="Bricolage Grotesque Bold"/>
            </a:endParaRPr>
          </a:p>
        </p:txBody>
      </p:sp>
      <p:sp>
        <p:nvSpPr>
          <p:cNvPr id="3" name="TextBox 3"/>
          <p:cNvSpPr txBox="1"/>
          <p:nvPr/>
        </p:nvSpPr>
        <p:spPr>
          <a:xfrm>
            <a:off x="609600" y="2705100"/>
            <a:ext cx="9448800" cy="6924973"/>
          </a:xfrm>
          <a:prstGeom prst="rect">
            <a:avLst/>
          </a:prstGeom>
        </p:spPr>
        <p:txBody>
          <a:bodyPr wrap="square" lIns="0" tIns="0" rIns="0" bIns="0" rtlCol="0" anchor="t">
            <a:spAutoFit/>
          </a:bodyPr>
          <a:lstStyle/>
          <a:p>
            <a:pPr marL="323850" lvl="1">
              <a:lnSpc>
                <a:spcPts val="4500"/>
              </a:lnSpc>
            </a:pPr>
            <a:r>
              <a:rPr lang="vi-VN" sz="3200" dirty="0"/>
              <a:t>Gán Sự Kiện: Bạn có thể gán các hàm xử lý sự kiện (event handler) cho các phần tử trong JSX bằng cách sử dụng các thuộc tính tương ứng với sự kiện. </a:t>
            </a:r>
            <a:endParaRPr lang="en-US" sz="3200" dirty="0" smtClean="0"/>
          </a:p>
          <a:p>
            <a:pPr marL="323850" lvl="1">
              <a:lnSpc>
                <a:spcPts val="4500"/>
              </a:lnSpc>
            </a:pPr>
            <a:endParaRPr lang="en-US" sz="3200" dirty="0"/>
          </a:p>
          <a:p>
            <a:pPr marL="323850" lvl="1">
              <a:lnSpc>
                <a:spcPts val="4500"/>
              </a:lnSpc>
            </a:pPr>
            <a:r>
              <a:rPr lang="vi-VN" sz="3200" dirty="0" smtClean="0"/>
              <a:t>Ví </a:t>
            </a:r>
            <a:r>
              <a:rPr lang="vi-VN" sz="3200" dirty="0"/>
              <a:t>dụ, để xử lý sự kiện onClick, bạn sẽ sử dụng thuộc tính onClick.</a:t>
            </a:r>
          </a:p>
          <a:p>
            <a:pPr marL="323850" lvl="1">
              <a:lnSpc>
                <a:spcPts val="4500"/>
              </a:lnSpc>
            </a:pPr>
            <a:endParaRPr lang="vi-VN" sz="3200" dirty="0"/>
          </a:p>
          <a:p>
            <a:pPr marL="323850" lvl="1">
              <a:lnSpc>
                <a:spcPts val="4500"/>
              </a:lnSpc>
            </a:pPr>
            <a:r>
              <a:rPr lang="vi-VN" sz="3200" dirty="0"/>
              <a:t>Sử Dụng Hàm: Khi sự kiện xảy ra, hàm xử lý sẽ được gọi, và bạn có thể thực hiện các hành động như cập nhật trạng thái (state), thay đổi giao diện hoặc gọi các hàm khác.</a:t>
            </a:r>
            <a:endParaRPr lang="en-US" sz="3200" dirty="0">
              <a:solidFill>
                <a:srgbClr val="1E293B"/>
              </a:solidFill>
              <a:latin typeface="Bricolage Grotesque Bold" panose="020B0604020202020204" charset="0"/>
              <a:ea typeface="Bricolage Grotesque"/>
              <a:cs typeface="Bricolage Grotesque"/>
              <a:sym typeface="Bricolage Grotesque"/>
            </a:endParaRPr>
          </a:p>
        </p:txBody>
      </p:sp>
      <p:pic>
        <p:nvPicPr>
          <p:cNvPr id="5" name="Picture 4"/>
          <p:cNvPicPr>
            <a:picLocks noChangeAspect="1"/>
          </p:cNvPicPr>
          <p:nvPr/>
        </p:nvPicPr>
        <p:blipFill>
          <a:blip r:embed="rId2"/>
          <a:stretch>
            <a:fillRect/>
          </a:stretch>
        </p:blipFill>
        <p:spPr>
          <a:xfrm>
            <a:off x="10439400" y="3314700"/>
            <a:ext cx="7528104" cy="4143375"/>
          </a:xfrm>
          <a:prstGeom prst="rect">
            <a:avLst/>
          </a:prstGeom>
        </p:spPr>
      </p:pic>
    </p:spTree>
    <p:extLst>
      <p:ext uri="{BB962C8B-B14F-4D97-AF65-F5344CB8AC3E}">
        <p14:creationId xmlns:p14="http://schemas.microsoft.com/office/powerpoint/2010/main" val="6550240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438400" y="2476500"/>
            <a:ext cx="13068300" cy="7005519"/>
          </a:xfrm>
          <a:prstGeom prst="rect">
            <a:avLst/>
          </a:prstGeom>
        </p:spPr>
      </p:pic>
      <p:sp>
        <p:nvSpPr>
          <p:cNvPr id="4" name="TextBox 3"/>
          <p:cNvSpPr txBox="1"/>
          <p:nvPr/>
        </p:nvSpPr>
        <p:spPr>
          <a:xfrm>
            <a:off x="4800600" y="1409700"/>
            <a:ext cx="12649200" cy="543034"/>
          </a:xfrm>
          <a:prstGeom prst="rect">
            <a:avLst/>
          </a:prstGeom>
        </p:spPr>
        <p:txBody>
          <a:bodyPr wrap="square" lIns="0" tIns="0" rIns="0" bIns="0" rtlCol="0" anchor="t">
            <a:spAutoFit/>
          </a:bodyPr>
          <a:lstStyle/>
          <a:p>
            <a:pPr marL="323850" lvl="1">
              <a:lnSpc>
                <a:spcPts val="4500"/>
              </a:lnSpc>
            </a:pPr>
            <a:r>
              <a:rPr lang="en-US" sz="3200" dirty="0" err="1" smtClean="0"/>
              <a:t>Sử</a:t>
            </a:r>
            <a:r>
              <a:rPr lang="en-US" sz="3200" dirty="0" smtClean="0"/>
              <a:t> </a:t>
            </a:r>
            <a:r>
              <a:rPr lang="en-US" sz="3200" dirty="0" err="1" smtClean="0"/>
              <a:t>dụng</a:t>
            </a:r>
            <a:r>
              <a:rPr lang="en-US" sz="3200" dirty="0" smtClean="0"/>
              <a:t> Default Function </a:t>
            </a:r>
            <a:r>
              <a:rPr lang="en-US" sz="3200" dirty="0" err="1" smtClean="0"/>
              <a:t>và</a:t>
            </a:r>
            <a:r>
              <a:rPr lang="en-US" sz="3200" dirty="0" smtClean="0"/>
              <a:t> Arrow </a:t>
            </a:r>
            <a:r>
              <a:rPr lang="en-US" sz="3200" dirty="0"/>
              <a:t>F</a:t>
            </a:r>
            <a:r>
              <a:rPr lang="en-US" sz="3200" dirty="0" smtClean="0"/>
              <a:t>unction</a:t>
            </a:r>
            <a:endParaRPr lang="en-US" sz="3200" dirty="0">
              <a:solidFill>
                <a:srgbClr val="1E293B"/>
              </a:solidFill>
              <a:latin typeface="Bricolage Grotesque Bold" panose="020B0604020202020204" charset="0"/>
              <a:ea typeface="Bricolage Grotesque"/>
              <a:cs typeface="Bricolage Grotesque"/>
              <a:sym typeface="Bricolage Grotesque"/>
            </a:endParaRPr>
          </a:p>
        </p:txBody>
      </p:sp>
    </p:spTree>
    <p:extLst>
      <p:ext uri="{BB962C8B-B14F-4D97-AF65-F5344CB8AC3E}">
        <p14:creationId xmlns:p14="http://schemas.microsoft.com/office/powerpoint/2010/main" val="22536278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95800" y="1562099"/>
            <a:ext cx="12649200" cy="543034"/>
          </a:xfrm>
          <a:prstGeom prst="rect">
            <a:avLst/>
          </a:prstGeom>
        </p:spPr>
        <p:txBody>
          <a:bodyPr wrap="square" lIns="0" tIns="0" rIns="0" bIns="0" rtlCol="0" anchor="t">
            <a:spAutoFit/>
          </a:bodyPr>
          <a:lstStyle/>
          <a:p>
            <a:pPr marL="323850" lvl="1">
              <a:lnSpc>
                <a:spcPts val="4500"/>
              </a:lnSpc>
            </a:pPr>
            <a:r>
              <a:rPr lang="en-US" sz="3200" dirty="0" err="1" smtClean="0"/>
              <a:t>Ngăn</a:t>
            </a:r>
            <a:r>
              <a:rPr lang="en-US" sz="3200" dirty="0" smtClean="0"/>
              <a:t> </a:t>
            </a:r>
            <a:r>
              <a:rPr lang="en-US" sz="3200" dirty="0" err="1" smtClean="0"/>
              <a:t>chặn</a:t>
            </a:r>
            <a:r>
              <a:rPr lang="en-US" sz="3200" dirty="0" smtClean="0"/>
              <a:t> </a:t>
            </a:r>
            <a:r>
              <a:rPr lang="en-US" sz="3200" dirty="0" err="1" smtClean="0"/>
              <a:t>các</a:t>
            </a:r>
            <a:r>
              <a:rPr lang="en-US" sz="3200" dirty="0" smtClean="0"/>
              <a:t> </a:t>
            </a:r>
            <a:r>
              <a:rPr lang="en-US" sz="3200" dirty="0" err="1" smtClean="0"/>
              <a:t>hành</a:t>
            </a:r>
            <a:r>
              <a:rPr lang="en-US" sz="3200" dirty="0" smtClean="0"/>
              <a:t> vi </a:t>
            </a:r>
            <a:r>
              <a:rPr lang="en-US" sz="3200" dirty="0" err="1" smtClean="0"/>
              <a:t>mặc</a:t>
            </a:r>
            <a:r>
              <a:rPr lang="en-US" sz="3200" dirty="0" smtClean="0"/>
              <a:t> </a:t>
            </a:r>
            <a:r>
              <a:rPr lang="en-US" sz="3200" dirty="0" err="1" smtClean="0"/>
              <a:t>định</a:t>
            </a:r>
            <a:r>
              <a:rPr lang="en-US" sz="3200" dirty="0" smtClean="0"/>
              <a:t> </a:t>
            </a:r>
            <a:r>
              <a:rPr lang="en-US" sz="3200" dirty="0" err="1" smtClean="0"/>
              <a:t>của</a:t>
            </a:r>
            <a:r>
              <a:rPr lang="en-US" sz="3200" dirty="0" smtClean="0"/>
              <a:t> HTML Form</a:t>
            </a:r>
            <a:endParaRPr lang="en-US" sz="3200" dirty="0">
              <a:solidFill>
                <a:srgbClr val="1E293B"/>
              </a:solidFill>
              <a:latin typeface="Bricolage Grotesque Bold" panose="020B0604020202020204" charset="0"/>
              <a:ea typeface="Bricolage Grotesque"/>
              <a:cs typeface="Bricolage Grotesque"/>
              <a:sym typeface="Bricolage Grotesque"/>
            </a:endParaRPr>
          </a:p>
        </p:txBody>
      </p:sp>
      <p:pic>
        <p:nvPicPr>
          <p:cNvPr id="5" name="Picture 4"/>
          <p:cNvPicPr>
            <a:picLocks noChangeAspect="1"/>
          </p:cNvPicPr>
          <p:nvPr/>
        </p:nvPicPr>
        <p:blipFill>
          <a:blip r:embed="rId2"/>
          <a:stretch>
            <a:fillRect/>
          </a:stretch>
        </p:blipFill>
        <p:spPr>
          <a:xfrm>
            <a:off x="1066800" y="2579040"/>
            <a:ext cx="7811049" cy="5183033"/>
          </a:xfrm>
          <a:prstGeom prst="rect">
            <a:avLst/>
          </a:prstGeom>
        </p:spPr>
      </p:pic>
      <p:pic>
        <p:nvPicPr>
          <p:cNvPr id="6" name="Picture 5"/>
          <p:cNvPicPr>
            <a:picLocks noChangeAspect="1"/>
          </p:cNvPicPr>
          <p:nvPr/>
        </p:nvPicPr>
        <p:blipFill>
          <a:blip r:embed="rId3"/>
          <a:stretch>
            <a:fillRect/>
          </a:stretch>
        </p:blipFill>
        <p:spPr>
          <a:xfrm>
            <a:off x="9144000" y="2552700"/>
            <a:ext cx="7850745" cy="5209373"/>
          </a:xfrm>
          <a:prstGeom prst="rect">
            <a:avLst/>
          </a:prstGeom>
        </p:spPr>
      </p:pic>
      <p:sp>
        <p:nvSpPr>
          <p:cNvPr id="7" name="TextBox 6"/>
          <p:cNvSpPr txBox="1"/>
          <p:nvPr/>
        </p:nvSpPr>
        <p:spPr>
          <a:xfrm>
            <a:off x="876849" y="7947439"/>
            <a:ext cx="8001000" cy="1076770"/>
          </a:xfrm>
          <a:prstGeom prst="rect">
            <a:avLst/>
          </a:prstGeom>
        </p:spPr>
        <p:txBody>
          <a:bodyPr wrap="square" lIns="0" tIns="0" rIns="0" bIns="0" rtlCol="0" anchor="t">
            <a:spAutoFit/>
          </a:bodyPr>
          <a:lstStyle/>
          <a:p>
            <a:pPr marL="323850" lvl="1">
              <a:lnSpc>
                <a:spcPts val="4500"/>
              </a:lnSpc>
            </a:pPr>
            <a:r>
              <a:rPr lang="en-US" sz="2000" dirty="0" smtClean="0">
                <a:latin typeface="Arial" panose="020B0604020202020204" pitchFamily="34" charset="0"/>
                <a:cs typeface="Arial" panose="020B0604020202020204" pitchFamily="34" charset="0"/>
              </a:rPr>
              <a:t>Default Function</a:t>
            </a:r>
          </a:p>
          <a:p>
            <a:pPr marL="323850" lvl="1">
              <a:lnSpc>
                <a:spcPts val="4500"/>
              </a:lnSpc>
            </a:pPr>
            <a:r>
              <a:rPr lang="en-US" sz="2000" dirty="0" smtClean="0">
                <a:solidFill>
                  <a:schemeClr val="tx1">
                    <a:lumMod val="75000"/>
                    <a:lumOff val="25000"/>
                  </a:schemeClr>
                </a:solidFill>
                <a:latin typeface="Arial" panose="020B0604020202020204" pitchFamily="34" charset="0"/>
                <a:cs typeface="Arial" panose="020B0604020202020204" pitchFamily="34" charset="0"/>
              </a:rPr>
              <a:t>- </a:t>
            </a:r>
            <a:r>
              <a:rPr lang="vi-VN" sz="2000" dirty="0" smtClean="0">
                <a:solidFill>
                  <a:schemeClr val="tx1">
                    <a:lumMod val="75000"/>
                    <a:lumOff val="25000"/>
                  </a:schemeClr>
                </a:solidFill>
                <a:latin typeface="Arial" panose="020B0604020202020204" pitchFamily="34" charset="0"/>
                <a:cs typeface="Arial" panose="020B0604020202020204" pitchFamily="34" charset="0"/>
              </a:rPr>
              <a:t>React </a:t>
            </a:r>
            <a:r>
              <a:rPr lang="vi-VN" sz="2000" dirty="0">
                <a:solidFill>
                  <a:schemeClr val="tx1">
                    <a:lumMod val="75000"/>
                    <a:lumOff val="25000"/>
                  </a:schemeClr>
                </a:solidFill>
                <a:latin typeface="Arial" panose="020B0604020202020204" pitchFamily="34" charset="0"/>
                <a:cs typeface="Arial" panose="020B0604020202020204" pitchFamily="34" charset="0"/>
              </a:rPr>
              <a:t>sẽ tự động truyền đối tượng sự kiện vào hàm xử lý sự kiện</a:t>
            </a:r>
            <a:endParaRPr lang="en-US" sz="2000" dirty="0">
              <a:solidFill>
                <a:schemeClr val="tx1">
                  <a:lumMod val="75000"/>
                  <a:lumOff val="25000"/>
                </a:schemeClr>
              </a:solidFill>
              <a:latin typeface="Arial" panose="020B0604020202020204" pitchFamily="34" charset="0"/>
              <a:ea typeface="Bricolage Grotesque"/>
              <a:cs typeface="Arial" panose="020B0604020202020204" pitchFamily="34" charset="0"/>
              <a:sym typeface="Bricolage Grotesque"/>
            </a:endParaRPr>
          </a:p>
        </p:txBody>
      </p:sp>
      <p:sp>
        <p:nvSpPr>
          <p:cNvPr id="8" name="TextBox 7"/>
          <p:cNvSpPr txBox="1"/>
          <p:nvPr/>
        </p:nvSpPr>
        <p:spPr>
          <a:xfrm>
            <a:off x="8993745" y="7947439"/>
            <a:ext cx="8001000" cy="1068306"/>
          </a:xfrm>
          <a:prstGeom prst="rect">
            <a:avLst/>
          </a:prstGeom>
        </p:spPr>
        <p:txBody>
          <a:bodyPr wrap="square" lIns="0" tIns="0" rIns="0" bIns="0" rtlCol="0" anchor="t">
            <a:spAutoFit/>
          </a:bodyPr>
          <a:lstStyle/>
          <a:p>
            <a:pPr marL="323850" lvl="1">
              <a:lnSpc>
                <a:spcPts val="4500"/>
              </a:lnSpc>
            </a:pPr>
            <a:r>
              <a:rPr lang="en-US" sz="2000" dirty="0" smtClean="0">
                <a:latin typeface="Arial" panose="020B0604020202020204" pitchFamily="34" charset="0"/>
                <a:cs typeface="Arial" panose="020B0604020202020204" pitchFamily="34" charset="0"/>
              </a:rPr>
              <a:t>Arrow Function</a:t>
            </a:r>
          </a:p>
          <a:p>
            <a:pPr marL="323850" lvl="1">
              <a:lnSpc>
                <a:spcPts val="4500"/>
              </a:lnSpc>
            </a:pPr>
            <a:r>
              <a:rPr lang="en-US" sz="2000" dirty="0" smtClean="0">
                <a:solidFill>
                  <a:schemeClr val="tx1">
                    <a:lumMod val="75000"/>
                    <a:lumOff val="25000"/>
                  </a:schemeClr>
                </a:solidFill>
                <a:latin typeface="Arial" panose="020B0604020202020204" pitchFamily="34" charset="0"/>
                <a:cs typeface="Arial" panose="020B0604020202020204" pitchFamily="34" charset="0"/>
              </a:rPr>
              <a:t>- </a:t>
            </a:r>
            <a:r>
              <a:rPr lang="en-US" sz="2000" dirty="0" err="1" smtClean="0">
                <a:solidFill>
                  <a:schemeClr val="tx1">
                    <a:lumMod val="75000"/>
                    <a:lumOff val="25000"/>
                  </a:schemeClr>
                </a:solidFill>
                <a:latin typeface="Arial" panose="020B0604020202020204" pitchFamily="34" charset="0"/>
                <a:cs typeface="Arial" panose="020B0604020202020204" pitchFamily="34" charset="0"/>
              </a:rPr>
              <a:t>Phải</a:t>
            </a:r>
            <a:r>
              <a:rPr lang="en-US" sz="2000" dirty="0" smtClean="0">
                <a:solidFill>
                  <a:schemeClr val="tx1">
                    <a:lumMod val="75000"/>
                    <a:lumOff val="25000"/>
                  </a:schemeClr>
                </a:solidFill>
                <a:latin typeface="Arial" panose="020B0604020202020204" pitchFamily="34" charset="0"/>
                <a:cs typeface="Arial" panose="020B0604020202020204" pitchFamily="34" charset="0"/>
              </a:rPr>
              <a:t> </a:t>
            </a:r>
            <a:r>
              <a:rPr lang="en-US" sz="2000" dirty="0" err="1" smtClean="0">
                <a:solidFill>
                  <a:schemeClr val="tx1">
                    <a:lumMod val="75000"/>
                    <a:lumOff val="25000"/>
                  </a:schemeClr>
                </a:solidFill>
                <a:latin typeface="Arial" panose="020B0604020202020204" pitchFamily="34" charset="0"/>
                <a:cs typeface="Arial" panose="020B0604020202020204" pitchFamily="34" charset="0"/>
              </a:rPr>
              <a:t>thêm</a:t>
            </a:r>
            <a:r>
              <a:rPr lang="en-US" sz="2000" dirty="0" smtClean="0">
                <a:solidFill>
                  <a:schemeClr val="tx1">
                    <a:lumMod val="75000"/>
                    <a:lumOff val="25000"/>
                  </a:schemeClr>
                </a:solidFill>
                <a:latin typeface="Arial" panose="020B0604020202020204" pitchFamily="34" charset="0"/>
                <a:cs typeface="Arial" panose="020B0604020202020204" pitchFamily="34" charset="0"/>
              </a:rPr>
              <a:t> event </a:t>
            </a:r>
            <a:r>
              <a:rPr lang="en-US" sz="2000" dirty="0" err="1" smtClean="0">
                <a:solidFill>
                  <a:schemeClr val="tx1">
                    <a:lumMod val="75000"/>
                    <a:lumOff val="25000"/>
                  </a:schemeClr>
                </a:solidFill>
                <a:latin typeface="Arial" panose="020B0604020202020204" pitchFamily="34" charset="0"/>
                <a:cs typeface="Arial" panose="020B0604020202020204" pitchFamily="34" charset="0"/>
              </a:rPr>
              <a:t>truyền</a:t>
            </a:r>
            <a:r>
              <a:rPr lang="en-US" sz="2000" dirty="0" smtClean="0">
                <a:solidFill>
                  <a:schemeClr val="tx1">
                    <a:lumMod val="75000"/>
                    <a:lumOff val="25000"/>
                  </a:schemeClr>
                </a:solidFill>
                <a:latin typeface="Arial" panose="020B0604020202020204" pitchFamily="34" charset="0"/>
                <a:cs typeface="Arial" panose="020B0604020202020204" pitchFamily="34" charset="0"/>
              </a:rPr>
              <a:t> </a:t>
            </a:r>
            <a:r>
              <a:rPr lang="en-US" sz="2000" dirty="0" err="1" smtClean="0">
                <a:solidFill>
                  <a:schemeClr val="tx1">
                    <a:lumMod val="75000"/>
                    <a:lumOff val="25000"/>
                  </a:schemeClr>
                </a:solidFill>
                <a:latin typeface="Arial" panose="020B0604020202020204" pitchFamily="34" charset="0"/>
                <a:cs typeface="Arial" panose="020B0604020202020204" pitchFamily="34" charset="0"/>
              </a:rPr>
              <a:t>vào</a:t>
            </a:r>
            <a:r>
              <a:rPr lang="en-US" sz="2000" dirty="0" smtClean="0">
                <a:solidFill>
                  <a:schemeClr val="tx1">
                    <a:lumMod val="75000"/>
                    <a:lumOff val="25000"/>
                  </a:schemeClr>
                </a:solidFill>
                <a:latin typeface="Arial" panose="020B0604020202020204" pitchFamily="34" charset="0"/>
                <a:cs typeface="Arial" panose="020B0604020202020204" pitchFamily="34" charset="0"/>
              </a:rPr>
              <a:t> </a:t>
            </a:r>
            <a:r>
              <a:rPr lang="en-US" sz="2000" dirty="0" err="1" smtClean="0">
                <a:solidFill>
                  <a:schemeClr val="tx1">
                    <a:lumMod val="75000"/>
                    <a:lumOff val="25000"/>
                  </a:schemeClr>
                </a:solidFill>
                <a:latin typeface="Arial" panose="020B0604020202020204" pitchFamily="34" charset="0"/>
                <a:cs typeface="Arial" panose="020B0604020202020204" pitchFamily="34" charset="0"/>
              </a:rPr>
              <a:t>hàm</a:t>
            </a:r>
            <a:endParaRPr lang="en-US" sz="2000" dirty="0">
              <a:solidFill>
                <a:schemeClr val="tx1">
                  <a:lumMod val="75000"/>
                  <a:lumOff val="25000"/>
                </a:schemeClr>
              </a:solidFill>
              <a:latin typeface="Arial" panose="020B0604020202020204" pitchFamily="34" charset="0"/>
              <a:ea typeface="Bricolage Grotesque"/>
              <a:cs typeface="Arial" panose="020B0604020202020204" pitchFamily="34" charset="0"/>
              <a:sym typeface="Bricolage Grotesque"/>
            </a:endParaRPr>
          </a:p>
        </p:txBody>
      </p:sp>
    </p:spTree>
    <p:extLst>
      <p:ext uri="{BB962C8B-B14F-4D97-AF65-F5344CB8AC3E}">
        <p14:creationId xmlns:p14="http://schemas.microsoft.com/office/powerpoint/2010/main" val="39187001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2400" y="110490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err="1" smtClean="0">
                <a:solidFill>
                  <a:srgbClr val="1E293B"/>
                </a:solidFill>
                <a:latin typeface="Bricolage Grotesque Bold"/>
                <a:ea typeface="Bricolage Grotesque Bold"/>
                <a:cs typeface="Bricolage Grotesque Bold"/>
                <a:sym typeface="Bricolage Grotesque Bold"/>
              </a:rPr>
              <a:t>useState</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trong</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ReactJS</a:t>
            </a:r>
            <a:endParaRPr lang="en-US" sz="6999" b="1" dirty="0">
              <a:solidFill>
                <a:srgbClr val="1E293B"/>
              </a:solidFill>
              <a:latin typeface="Bricolage Grotesque Bold"/>
              <a:ea typeface="Bricolage Grotesque Bold"/>
              <a:cs typeface="Bricolage Grotesque Bold"/>
              <a:sym typeface="Bricolage Grotesque Bold"/>
            </a:endParaRPr>
          </a:p>
        </p:txBody>
      </p:sp>
      <p:sp>
        <p:nvSpPr>
          <p:cNvPr id="3" name="TextBox 3"/>
          <p:cNvSpPr txBox="1"/>
          <p:nvPr/>
        </p:nvSpPr>
        <p:spPr>
          <a:xfrm>
            <a:off x="1371600" y="3314700"/>
            <a:ext cx="9753600" cy="4616648"/>
          </a:xfrm>
          <a:prstGeom prst="rect">
            <a:avLst/>
          </a:prstGeom>
        </p:spPr>
        <p:txBody>
          <a:bodyPr wrap="square" lIns="0" tIns="0" rIns="0" bIns="0" rtlCol="0" anchor="t">
            <a:spAutoFit/>
          </a:bodyPr>
          <a:lstStyle/>
          <a:p>
            <a:pPr marL="323850" lvl="1">
              <a:lnSpc>
                <a:spcPts val="4500"/>
              </a:lnSpc>
            </a:pPr>
            <a:r>
              <a:rPr lang="vi-VN" sz="3200" dirty="0"/>
              <a:t>useState là một hook trong React cho phép bạn thêm state (trạng thái) vào các functional components. </a:t>
            </a:r>
            <a:endParaRPr lang="en-US" sz="3200" dirty="0" smtClean="0"/>
          </a:p>
          <a:p>
            <a:pPr marL="323850" lvl="1">
              <a:lnSpc>
                <a:spcPts val="4500"/>
              </a:lnSpc>
            </a:pPr>
            <a:endParaRPr lang="en-US" sz="3200" dirty="0"/>
          </a:p>
          <a:p>
            <a:pPr marL="323850" lvl="1">
              <a:lnSpc>
                <a:spcPts val="4500"/>
              </a:lnSpc>
            </a:pPr>
            <a:r>
              <a:rPr lang="vi-VN" sz="3200" dirty="0" smtClean="0"/>
              <a:t>Trước </a:t>
            </a:r>
            <a:r>
              <a:rPr lang="vi-VN" sz="3200" dirty="0"/>
              <a:t>khi React giới thiệu hooks, chỉ có class components mới có khả năng quản lý state. Với useState, bạn có thể quản lý state một cách đơn giản và tiện lợi trong functional components.</a:t>
            </a:r>
            <a:endParaRPr lang="en-US" sz="3200" dirty="0">
              <a:solidFill>
                <a:srgbClr val="1E293B"/>
              </a:solidFill>
              <a:latin typeface="Bricolage Grotesque Bold" panose="020B0604020202020204" charset="0"/>
              <a:ea typeface="Bricolage Grotesque"/>
              <a:cs typeface="Bricolage Grotesque"/>
              <a:sym typeface="Bricolage Grotesque"/>
            </a:endParaRPr>
          </a:p>
        </p:txBody>
      </p:sp>
      <p:pic>
        <p:nvPicPr>
          <p:cNvPr id="3074" name="Picture 2" descr="ReactJS: useState – albertprofe wik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25200" y="3314700"/>
            <a:ext cx="6219825" cy="4124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94919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2400" y="110490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err="1" smtClean="0">
                <a:solidFill>
                  <a:srgbClr val="1E293B"/>
                </a:solidFill>
                <a:latin typeface="Bricolage Grotesque Bold"/>
                <a:ea typeface="Bricolage Grotesque Bold"/>
                <a:cs typeface="Bricolage Grotesque Bold"/>
                <a:sym typeface="Bricolage Grotesque Bold"/>
              </a:rPr>
              <a:t>Nguyên</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lý</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hoạt</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động</a:t>
            </a:r>
            <a:endParaRPr lang="en-US" sz="6999" b="1" dirty="0">
              <a:solidFill>
                <a:srgbClr val="1E293B"/>
              </a:solidFill>
              <a:latin typeface="Bricolage Grotesque Bold"/>
              <a:ea typeface="Bricolage Grotesque Bold"/>
              <a:cs typeface="Bricolage Grotesque Bold"/>
              <a:sym typeface="Bricolage Grotesque Bold"/>
            </a:endParaRPr>
          </a:p>
        </p:txBody>
      </p:sp>
      <p:sp>
        <p:nvSpPr>
          <p:cNvPr id="3" name="TextBox 3"/>
          <p:cNvSpPr txBox="1"/>
          <p:nvPr/>
        </p:nvSpPr>
        <p:spPr>
          <a:xfrm>
            <a:off x="762000" y="2933700"/>
            <a:ext cx="10515600" cy="5770811"/>
          </a:xfrm>
          <a:prstGeom prst="rect">
            <a:avLst/>
          </a:prstGeom>
        </p:spPr>
        <p:txBody>
          <a:bodyPr wrap="square" lIns="0" tIns="0" rIns="0" bIns="0" rtlCol="0" anchor="t">
            <a:spAutoFit/>
          </a:bodyPr>
          <a:lstStyle/>
          <a:p>
            <a:pPr marL="323850" lvl="1">
              <a:lnSpc>
                <a:spcPts val="4500"/>
              </a:lnSpc>
            </a:pPr>
            <a:r>
              <a:rPr lang="vi-VN" sz="3200" dirty="0">
                <a:latin typeface="Calibri" panose="020F0502020204030204" pitchFamily="34" charset="0"/>
                <a:ea typeface="Calibri" panose="020F0502020204030204" pitchFamily="34" charset="0"/>
                <a:cs typeface="Calibri" panose="020F0502020204030204" pitchFamily="34" charset="0"/>
              </a:rPr>
              <a:t>Khởi tạo State: Khi bạn gọi useState, bạn truyền vào một giá trị khởi tạo (initial state). Hàm này trả về một mảng gồm hai phần tử</a:t>
            </a:r>
            <a:r>
              <a:rPr lang="vi-VN" sz="3200" dirty="0" smtClean="0">
                <a:latin typeface="Calibri" panose="020F0502020204030204" pitchFamily="34" charset="0"/>
                <a:ea typeface="Calibri" panose="020F0502020204030204" pitchFamily="34" charset="0"/>
                <a:cs typeface="Calibri" panose="020F0502020204030204" pitchFamily="34" charset="0"/>
              </a:rPr>
              <a:t>:</a:t>
            </a:r>
            <a:endParaRPr lang="vi-VN" sz="3200" dirty="0">
              <a:latin typeface="Calibri" panose="020F0502020204030204" pitchFamily="34" charset="0"/>
              <a:ea typeface="Calibri" panose="020F0502020204030204" pitchFamily="34" charset="0"/>
              <a:cs typeface="Calibri" panose="020F0502020204030204" pitchFamily="34" charset="0"/>
            </a:endParaRPr>
          </a:p>
          <a:p>
            <a:pPr marL="781050" lvl="1" indent="-457200">
              <a:lnSpc>
                <a:spcPts val="4500"/>
              </a:lnSpc>
              <a:buFont typeface="Arial" panose="020B0604020202020204" pitchFamily="34" charset="0"/>
              <a:buChar char="•"/>
            </a:pPr>
            <a:r>
              <a:rPr lang="vi-VN" sz="3200" dirty="0">
                <a:latin typeface="Calibri" panose="020F0502020204030204" pitchFamily="34" charset="0"/>
                <a:ea typeface="Calibri" panose="020F0502020204030204" pitchFamily="34" charset="0"/>
                <a:cs typeface="Calibri" panose="020F0502020204030204" pitchFamily="34" charset="0"/>
              </a:rPr>
              <a:t>Giá trị hiện tại của state.</a:t>
            </a:r>
          </a:p>
          <a:p>
            <a:pPr marL="781050" lvl="1" indent="-457200">
              <a:lnSpc>
                <a:spcPts val="4500"/>
              </a:lnSpc>
              <a:buFont typeface="Arial" panose="020B0604020202020204" pitchFamily="34" charset="0"/>
              <a:buChar char="•"/>
            </a:pPr>
            <a:r>
              <a:rPr lang="vi-VN" sz="3200" dirty="0">
                <a:latin typeface="Calibri" panose="020F0502020204030204" pitchFamily="34" charset="0"/>
                <a:ea typeface="Calibri" panose="020F0502020204030204" pitchFamily="34" charset="0"/>
                <a:cs typeface="Calibri" panose="020F0502020204030204" pitchFamily="34" charset="0"/>
              </a:rPr>
              <a:t>Một hàm để cập nhật giá trị của state</a:t>
            </a:r>
            <a:r>
              <a:rPr lang="vi-VN" sz="3200" dirty="0" smtClean="0">
                <a:latin typeface="Calibri" panose="020F0502020204030204" pitchFamily="34" charset="0"/>
                <a:ea typeface="Calibri" panose="020F0502020204030204" pitchFamily="34" charset="0"/>
                <a:cs typeface="Calibri" panose="020F0502020204030204" pitchFamily="34" charset="0"/>
              </a:rPr>
              <a:t>.</a:t>
            </a:r>
            <a:endParaRPr lang="en-US" sz="3200" dirty="0" smtClean="0">
              <a:latin typeface="Calibri" panose="020F0502020204030204" pitchFamily="34" charset="0"/>
              <a:ea typeface="Calibri" panose="020F0502020204030204" pitchFamily="34" charset="0"/>
              <a:cs typeface="Calibri" panose="020F0502020204030204" pitchFamily="34" charset="0"/>
            </a:endParaRPr>
          </a:p>
          <a:p>
            <a:pPr marL="781050" lvl="1" indent="-457200">
              <a:lnSpc>
                <a:spcPts val="4500"/>
              </a:lnSpc>
              <a:buFont typeface="Arial" panose="020B0604020202020204" pitchFamily="34" charset="0"/>
              <a:buChar char="•"/>
            </a:pPr>
            <a:endParaRPr lang="en-US" sz="3200" dirty="0">
              <a:latin typeface="Calibri" panose="020F0502020204030204" pitchFamily="34" charset="0"/>
              <a:ea typeface="Calibri" panose="020F0502020204030204" pitchFamily="34" charset="0"/>
              <a:cs typeface="Calibri" panose="020F0502020204030204" pitchFamily="34" charset="0"/>
            </a:endParaRPr>
          </a:p>
          <a:p>
            <a:pPr marL="781050" lvl="1" indent="-457200">
              <a:lnSpc>
                <a:spcPts val="4500"/>
              </a:lnSpc>
              <a:buFont typeface="Arial" panose="020B0604020202020204" pitchFamily="34" charset="0"/>
              <a:buChar char="•"/>
            </a:pPr>
            <a:endParaRPr lang="vi-VN" sz="3200" dirty="0">
              <a:latin typeface="Calibri" panose="020F0502020204030204" pitchFamily="34" charset="0"/>
              <a:ea typeface="Calibri" panose="020F0502020204030204" pitchFamily="34" charset="0"/>
              <a:cs typeface="Calibri" panose="020F0502020204030204" pitchFamily="34" charset="0"/>
            </a:endParaRPr>
          </a:p>
          <a:p>
            <a:pPr marL="323850" lvl="1">
              <a:lnSpc>
                <a:spcPts val="4500"/>
              </a:lnSpc>
            </a:pPr>
            <a:r>
              <a:rPr lang="vi-VN" sz="3200" dirty="0">
                <a:latin typeface="Calibri" panose="020F0502020204030204" pitchFamily="34" charset="0"/>
                <a:ea typeface="Calibri" panose="020F0502020204030204" pitchFamily="34" charset="0"/>
                <a:cs typeface="Calibri" panose="020F0502020204030204" pitchFamily="34" charset="0"/>
              </a:rPr>
              <a:t>Cập nhật State: Khi bạn gọi hàm cập nhật state, React sẽ lên lịch một lần render lại component với state đã được cập nhật.</a:t>
            </a:r>
            <a:endParaRPr lang="en-US" sz="3200" dirty="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a:endParaRPr>
          </a:p>
        </p:txBody>
      </p:sp>
      <p:pic>
        <p:nvPicPr>
          <p:cNvPr id="7" name="Picture 6"/>
          <p:cNvPicPr>
            <a:picLocks noChangeAspect="1"/>
          </p:cNvPicPr>
          <p:nvPr/>
        </p:nvPicPr>
        <p:blipFill>
          <a:blip r:embed="rId2"/>
          <a:stretch>
            <a:fillRect/>
          </a:stretch>
        </p:blipFill>
        <p:spPr>
          <a:xfrm>
            <a:off x="11811000" y="4076700"/>
            <a:ext cx="5569434" cy="2814703"/>
          </a:xfrm>
          <a:prstGeom prst="rect">
            <a:avLst/>
          </a:prstGeom>
        </p:spPr>
      </p:pic>
      <p:sp>
        <p:nvSpPr>
          <p:cNvPr id="9" name="TextBox 3"/>
          <p:cNvSpPr txBox="1"/>
          <p:nvPr/>
        </p:nvSpPr>
        <p:spPr>
          <a:xfrm>
            <a:off x="11791167" y="7581900"/>
            <a:ext cx="6705600" cy="577081"/>
          </a:xfrm>
          <a:prstGeom prst="rect">
            <a:avLst/>
          </a:prstGeom>
        </p:spPr>
        <p:txBody>
          <a:bodyPr wrap="square" lIns="0" tIns="0" rIns="0" bIns="0" rtlCol="0" anchor="t">
            <a:spAutoFit/>
          </a:bodyPr>
          <a:lstStyle/>
          <a:p>
            <a:pPr marL="323850" lvl="1">
              <a:lnSpc>
                <a:spcPts val="4500"/>
              </a:lnSpc>
            </a:pPr>
            <a:r>
              <a:rPr lang="en-US" sz="3200" dirty="0" err="1" smtClean="0">
                <a:latin typeface="Calibri" panose="020F0502020204030204" pitchFamily="34" charset="0"/>
                <a:ea typeface="Calibri" panose="020F0502020204030204" pitchFamily="34" charset="0"/>
                <a:cs typeface="Calibri" panose="020F0502020204030204" pitchFamily="34" charset="0"/>
              </a:rPr>
              <a:t>Cú</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err="1" smtClean="0">
                <a:latin typeface="Calibri" panose="020F0502020204030204" pitchFamily="34" charset="0"/>
                <a:ea typeface="Calibri" panose="020F0502020204030204" pitchFamily="34" charset="0"/>
                <a:cs typeface="Calibri" panose="020F0502020204030204" pitchFamily="34" charset="0"/>
              </a:rPr>
              <a:t>pháp</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err="1" smtClean="0">
                <a:latin typeface="Calibri" panose="020F0502020204030204" pitchFamily="34" charset="0"/>
                <a:ea typeface="Calibri" panose="020F0502020204030204" pitchFamily="34" charset="0"/>
                <a:cs typeface="Calibri" panose="020F0502020204030204" pitchFamily="34" charset="0"/>
              </a:rPr>
              <a:t>khai</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err="1" smtClean="0">
                <a:latin typeface="Calibri" panose="020F0502020204030204" pitchFamily="34" charset="0"/>
                <a:ea typeface="Calibri" panose="020F0502020204030204" pitchFamily="34" charset="0"/>
                <a:cs typeface="Calibri" panose="020F0502020204030204" pitchFamily="34" charset="0"/>
              </a:rPr>
              <a:t>báo</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err="1" smtClean="0">
                <a:latin typeface="Calibri" panose="020F0502020204030204" pitchFamily="34" charset="0"/>
                <a:ea typeface="Calibri" panose="020F0502020204030204" pitchFamily="34" charset="0"/>
                <a:cs typeface="Calibri" panose="020F0502020204030204" pitchFamily="34" charset="0"/>
              </a:rPr>
              <a:t>trong</a:t>
            </a:r>
            <a:r>
              <a:rPr lang="en-US" sz="3200" dirty="0" smtClean="0">
                <a:latin typeface="Calibri" panose="020F0502020204030204" pitchFamily="34" charset="0"/>
                <a:ea typeface="Calibri" panose="020F0502020204030204" pitchFamily="34" charset="0"/>
                <a:cs typeface="Calibri" panose="020F0502020204030204" pitchFamily="34" charset="0"/>
              </a:rPr>
              <a:t> </a:t>
            </a:r>
            <a:r>
              <a:rPr lang="en-US" sz="3200" dirty="0" err="1" smtClean="0">
                <a:latin typeface="Calibri" panose="020F0502020204030204" pitchFamily="34" charset="0"/>
                <a:ea typeface="Calibri" panose="020F0502020204030204" pitchFamily="34" charset="0"/>
                <a:cs typeface="Calibri" panose="020F0502020204030204" pitchFamily="34" charset="0"/>
              </a:rPr>
              <a:t>useState</a:t>
            </a:r>
            <a:endParaRPr lang="en-US" sz="3200" dirty="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a:endParaRPr>
          </a:p>
        </p:txBody>
      </p:sp>
    </p:spTree>
    <p:extLst>
      <p:ext uri="{BB962C8B-B14F-4D97-AF65-F5344CB8AC3E}">
        <p14:creationId xmlns:p14="http://schemas.microsoft.com/office/powerpoint/2010/main" val="14186116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8" name="TextBox 3"/>
          <p:cNvSpPr txBox="1"/>
          <p:nvPr/>
        </p:nvSpPr>
        <p:spPr>
          <a:xfrm>
            <a:off x="533400" y="1409700"/>
            <a:ext cx="4495800" cy="543034"/>
          </a:xfrm>
          <a:prstGeom prst="rect">
            <a:avLst/>
          </a:prstGeom>
        </p:spPr>
        <p:txBody>
          <a:bodyPr wrap="square" lIns="0" tIns="0" rIns="0" bIns="0" rtlCol="0" anchor="t">
            <a:spAutoFit/>
          </a:bodyPr>
          <a:lstStyle/>
          <a:p>
            <a:pPr marL="323850" lvl="1">
              <a:lnSpc>
                <a:spcPts val="4500"/>
              </a:lnSpc>
            </a:pPr>
            <a:r>
              <a:rPr lang="en-US" sz="3200" b="1" dirty="0" err="1" smtClean="0">
                <a:solidFill>
                  <a:srgbClr val="FF0000"/>
                </a:solidFill>
              </a:rPr>
              <a:t>Lưu</a:t>
            </a:r>
            <a:r>
              <a:rPr lang="en-US" sz="3200" b="1" dirty="0" smtClean="0">
                <a:solidFill>
                  <a:srgbClr val="FF0000"/>
                </a:solidFill>
              </a:rPr>
              <a:t> ý:</a:t>
            </a:r>
            <a:endParaRPr lang="en-US" sz="3200" b="1" dirty="0">
              <a:solidFill>
                <a:srgbClr val="FF0000"/>
              </a:solidFill>
              <a:latin typeface="Bricolage Grotesque Bold" panose="020B0604020202020204" charset="0"/>
              <a:ea typeface="Bricolage Grotesque"/>
              <a:cs typeface="Bricolage Grotesque"/>
              <a:sym typeface="Bricolage Grotesque"/>
            </a:endParaRPr>
          </a:p>
        </p:txBody>
      </p:sp>
      <p:pic>
        <p:nvPicPr>
          <p:cNvPr id="2" name="Picture 1"/>
          <p:cNvPicPr>
            <a:picLocks noChangeAspect="1"/>
          </p:cNvPicPr>
          <p:nvPr/>
        </p:nvPicPr>
        <p:blipFill>
          <a:blip r:embed="rId2"/>
          <a:stretch>
            <a:fillRect/>
          </a:stretch>
        </p:blipFill>
        <p:spPr>
          <a:xfrm>
            <a:off x="9144000" y="1562100"/>
            <a:ext cx="8399117" cy="8201025"/>
          </a:xfrm>
          <a:prstGeom prst="rect">
            <a:avLst/>
          </a:prstGeom>
        </p:spPr>
      </p:pic>
      <p:sp>
        <p:nvSpPr>
          <p:cNvPr id="10" name="TextBox 3"/>
          <p:cNvSpPr txBox="1"/>
          <p:nvPr/>
        </p:nvSpPr>
        <p:spPr>
          <a:xfrm>
            <a:off x="517742" y="2152518"/>
            <a:ext cx="7620000" cy="5193729"/>
          </a:xfrm>
          <a:prstGeom prst="rect">
            <a:avLst/>
          </a:prstGeom>
        </p:spPr>
        <p:txBody>
          <a:bodyPr wrap="square" lIns="0" tIns="0" rIns="0" bIns="0" rtlCol="0" anchor="t">
            <a:spAutoFit/>
          </a:bodyPr>
          <a:lstStyle/>
          <a:p>
            <a:pPr marL="323850" lvl="1">
              <a:lnSpc>
                <a:spcPts val="4500"/>
              </a:lnSpc>
            </a:pPr>
            <a:r>
              <a:rPr lang="vi-VN" sz="3200" dirty="0" smtClean="0">
                <a:latin typeface="Calibri" panose="020F0502020204030204" pitchFamily="34" charset="0"/>
                <a:ea typeface="Calibri" panose="020F0502020204030204" pitchFamily="34" charset="0"/>
                <a:cs typeface="Calibri" panose="020F0502020204030204" pitchFamily="34" charset="0"/>
              </a:rPr>
              <a:t>Cập </a:t>
            </a:r>
            <a:r>
              <a:rPr lang="vi-VN" sz="3200" dirty="0">
                <a:latin typeface="Calibri" panose="020F0502020204030204" pitchFamily="34" charset="0"/>
                <a:ea typeface="Calibri" panose="020F0502020204030204" pitchFamily="34" charset="0"/>
                <a:cs typeface="Calibri" panose="020F0502020204030204" pitchFamily="34" charset="0"/>
              </a:rPr>
              <a:t>nhật state bằng setState là bất đồng bộ. </a:t>
            </a:r>
            <a:endParaRPr lang="en-US" sz="3200" dirty="0">
              <a:latin typeface="Calibri" panose="020F0502020204030204" pitchFamily="34" charset="0"/>
              <a:ea typeface="Calibri" panose="020F0502020204030204" pitchFamily="34" charset="0"/>
              <a:cs typeface="Calibri" panose="020F0502020204030204" pitchFamily="34" charset="0"/>
            </a:endParaRPr>
          </a:p>
          <a:p>
            <a:pPr marL="323850" lvl="1">
              <a:lnSpc>
                <a:spcPts val="4500"/>
              </a:lnSpc>
            </a:pPr>
            <a:endParaRPr lang="en-US" sz="3200" dirty="0" smtClean="0">
              <a:latin typeface="Calibri" panose="020F0502020204030204" pitchFamily="34" charset="0"/>
              <a:ea typeface="Calibri" panose="020F0502020204030204" pitchFamily="34" charset="0"/>
              <a:cs typeface="Calibri" panose="020F0502020204030204" pitchFamily="34" charset="0"/>
            </a:endParaRPr>
          </a:p>
          <a:p>
            <a:pPr marL="323850" lvl="1">
              <a:lnSpc>
                <a:spcPts val="4500"/>
              </a:lnSpc>
            </a:pPr>
            <a:r>
              <a:rPr lang="vi-VN" sz="3200" dirty="0" smtClean="0">
                <a:latin typeface="Calibri" panose="020F0502020204030204" pitchFamily="34" charset="0"/>
                <a:ea typeface="Calibri" panose="020F0502020204030204" pitchFamily="34" charset="0"/>
                <a:cs typeface="Calibri" panose="020F0502020204030204" pitchFamily="34" charset="0"/>
              </a:rPr>
              <a:t>Điều </a:t>
            </a:r>
            <a:r>
              <a:rPr lang="vi-VN" sz="3200" dirty="0">
                <a:latin typeface="Calibri" panose="020F0502020204030204" pitchFamily="34" charset="0"/>
                <a:ea typeface="Calibri" panose="020F0502020204030204" pitchFamily="34" charset="0"/>
                <a:cs typeface="Calibri" panose="020F0502020204030204" pitchFamily="34" charset="0"/>
              </a:rPr>
              <a:t>này có nghĩa là nếu bạn gọi setCount(count + 1); nhiều lần liên tiếp mà không có delay, giá trị của count có thể không được cập nhật ngay lập tức. </a:t>
            </a:r>
            <a:endParaRPr lang="en-US" sz="3200" dirty="0" smtClean="0">
              <a:latin typeface="Calibri" panose="020F0502020204030204" pitchFamily="34" charset="0"/>
              <a:ea typeface="Calibri" panose="020F0502020204030204" pitchFamily="34" charset="0"/>
              <a:cs typeface="Calibri" panose="020F0502020204030204" pitchFamily="34" charset="0"/>
            </a:endParaRPr>
          </a:p>
          <a:p>
            <a:pPr marL="323850" lvl="1">
              <a:lnSpc>
                <a:spcPts val="4500"/>
              </a:lnSpc>
            </a:pPr>
            <a:endParaRPr lang="en-US" sz="3200" dirty="0">
              <a:latin typeface="Calibri" panose="020F0502020204030204" pitchFamily="34" charset="0"/>
              <a:ea typeface="Calibri" panose="020F0502020204030204" pitchFamily="34" charset="0"/>
              <a:cs typeface="Calibri" panose="020F0502020204030204" pitchFamily="34" charset="0"/>
            </a:endParaRPr>
          </a:p>
          <a:p>
            <a:pPr marL="323850" lvl="1">
              <a:lnSpc>
                <a:spcPts val="4500"/>
              </a:lnSpc>
            </a:pPr>
            <a:r>
              <a:rPr lang="vi-VN" sz="3200" dirty="0" smtClean="0">
                <a:latin typeface="Calibri" panose="020F0502020204030204" pitchFamily="34" charset="0"/>
                <a:ea typeface="Calibri" panose="020F0502020204030204" pitchFamily="34" charset="0"/>
                <a:cs typeface="Calibri" panose="020F0502020204030204" pitchFamily="34" charset="0"/>
              </a:rPr>
              <a:t>Để </a:t>
            </a:r>
            <a:r>
              <a:rPr lang="vi-VN" sz="3200" dirty="0">
                <a:latin typeface="Calibri" panose="020F0502020204030204" pitchFamily="34" charset="0"/>
                <a:ea typeface="Calibri" panose="020F0502020204030204" pitchFamily="34" charset="0"/>
                <a:cs typeface="Calibri" panose="020F0502020204030204" pitchFamily="34" charset="0"/>
              </a:rPr>
              <a:t>tránh vấn đề này, bạn có thể sử dụng hàm trong setCount:</a:t>
            </a:r>
            <a:endParaRPr lang="en-US" sz="3200" dirty="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a:endParaRPr>
          </a:p>
        </p:txBody>
      </p:sp>
      <p:sp>
        <p:nvSpPr>
          <p:cNvPr id="11" name="TextBox 2"/>
          <p:cNvSpPr txBox="1"/>
          <p:nvPr/>
        </p:nvSpPr>
        <p:spPr>
          <a:xfrm>
            <a:off x="0" y="266700"/>
            <a:ext cx="18288000" cy="846386"/>
          </a:xfrm>
          <a:prstGeom prst="rect">
            <a:avLst/>
          </a:prstGeom>
        </p:spPr>
        <p:txBody>
          <a:bodyPr lIns="0" tIns="0" rIns="0" bIns="0" rtlCol="0" anchor="t">
            <a:spAutoFit/>
          </a:bodyPr>
          <a:lstStyle/>
          <a:p>
            <a:pPr marL="0" lvl="0" indent="0" algn="ctr">
              <a:lnSpc>
                <a:spcPts val="6999"/>
              </a:lnSpc>
              <a:spcBef>
                <a:spcPct val="0"/>
              </a:spcBef>
            </a:pPr>
            <a:r>
              <a:rPr lang="en-US" sz="5000" b="1" dirty="0" err="1" smtClean="0">
                <a:solidFill>
                  <a:srgbClr val="1E293B"/>
                </a:solidFill>
                <a:latin typeface="Bricolage Grotesque Bold"/>
                <a:ea typeface="Bricolage Grotesque Bold"/>
                <a:cs typeface="Bricolage Grotesque Bold"/>
                <a:sym typeface="Bricolage Grotesque Bold"/>
              </a:rPr>
              <a:t>Nguyên</a:t>
            </a:r>
            <a:r>
              <a:rPr lang="en-US" sz="5000" b="1" dirty="0" smtClean="0">
                <a:solidFill>
                  <a:srgbClr val="1E293B"/>
                </a:solidFill>
                <a:latin typeface="Bricolage Grotesque Bold"/>
                <a:ea typeface="Bricolage Grotesque Bold"/>
                <a:cs typeface="Bricolage Grotesque Bold"/>
                <a:sym typeface="Bricolage Grotesque Bold"/>
              </a:rPr>
              <a:t> </a:t>
            </a:r>
            <a:r>
              <a:rPr lang="en-US" sz="5000" b="1" dirty="0" err="1" smtClean="0">
                <a:solidFill>
                  <a:srgbClr val="1E293B"/>
                </a:solidFill>
                <a:latin typeface="Bricolage Grotesque Bold"/>
                <a:ea typeface="Bricolage Grotesque Bold"/>
                <a:cs typeface="Bricolage Grotesque Bold"/>
                <a:sym typeface="Bricolage Grotesque Bold"/>
              </a:rPr>
              <a:t>lý</a:t>
            </a:r>
            <a:r>
              <a:rPr lang="en-US" sz="5000" b="1" dirty="0" smtClean="0">
                <a:solidFill>
                  <a:srgbClr val="1E293B"/>
                </a:solidFill>
                <a:latin typeface="Bricolage Grotesque Bold"/>
                <a:ea typeface="Bricolage Grotesque Bold"/>
                <a:cs typeface="Bricolage Grotesque Bold"/>
                <a:sym typeface="Bricolage Grotesque Bold"/>
              </a:rPr>
              <a:t> </a:t>
            </a:r>
            <a:r>
              <a:rPr lang="en-US" sz="5000" b="1" dirty="0" err="1" smtClean="0">
                <a:solidFill>
                  <a:srgbClr val="1E293B"/>
                </a:solidFill>
                <a:latin typeface="Bricolage Grotesque Bold"/>
                <a:ea typeface="Bricolage Grotesque Bold"/>
                <a:cs typeface="Bricolage Grotesque Bold"/>
                <a:sym typeface="Bricolage Grotesque Bold"/>
              </a:rPr>
              <a:t>hoạt</a:t>
            </a:r>
            <a:r>
              <a:rPr lang="en-US" sz="5000" b="1" dirty="0" smtClean="0">
                <a:solidFill>
                  <a:srgbClr val="1E293B"/>
                </a:solidFill>
                <a:latin typeface="Bricolage Grotesque Bold"/>
                <a:ea typeface="Bricolage Grotesque Bold"/>
                <a:cs typeface="Bricolage Grotesque Bold"/>
                <a:sym typeface="Bricolage Grotesque Bold"/>
              </a:rPr>
              <a:t> </a:t>
            </a:r>
            <a:r>
              <a:rPr lang="en-US" sz="5000" b="1" dirty="0" err="1" smtClean="0">
                <a:solidFill>
                  <a:srgbClr val="1E293B"/>
                </a:solidFill>
                <a:latin typeface="Bricolage Grotesque Bold"/>
                <a:ea typeface="Bricolage Grotesque Bold"/>
                <a:cs typeface="Bricolage Grotesque Bold"/>
                <a:sym typeface="Bricolage Grotesque Bold"/>
              </a:rPr>
              <a:t>động</a:t>
            </a:r>
            <a:endParaRPr lang="en-US" sz="5000" b="1" dirty="0">
              <a:solidFill>
                <a:srgbClr val="1E293B"/>
              </a:solidFill>
              <a:latin typeface="Bricolage Grotesque Bold"/>
              <a:ea typeface="Bricolage Grotesque Bold"/>
              <a:cs typeface="Bricolage Grotesque Bold"/>
              <a:sym typeface="Bricolage Grotesque Bold"/>
            </a:endParaRPr>
          </a:p>
        </p:txBody>
      </p:sp>
      <p:pic>
        <p:nvPicPr>
          <p:cNvPr id="3" name="Picture 2"/>
          <p:cNvPicPr>
            <a:picLocks noChangeAspect="1"/>
          </p:cNvPicPr>
          <p:nvPr/>
        </p:nvPicPr>
        <p:blipFill>
          <a:blip r:embed="rId3"/>
          <a:stretch>
            <a:fillRect/>
          </a:stretch>
        </p:blipFill>
        <p:spPr>
          <a:xfrm>
            <a:off x="1885689" y="7923329"/>
            <a:ext cx="5200911" cy="1865544"/>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7" name="TextBox 7"/>
          <p:cNvSpPr txBox="1"/>
          <p:nvPr/>
        </p:nvSpPr>
        <p:spPr>
          <a:xfrm>
            <a:off x="13487400" y="2095500"/>
            <a:ext cx="4343400" cy="2769989"/>
          </a:xfrm>
          <a:prstGeom prst="rect">
            <a:avLst/>
          </a:prstGeom>
        </p:spPr>
        <p:txBody>
          <a:bodyPr wrap="square" lIns="0" tIns="0" rIns="0" bIns="0" rtlCol="0" anchor="t">
            <a:spAutoFit/>
          </a:bodyPr>
          <a:lstStyle/>
          <a:p>
            <a:pPr marL="0" lvl="0" indent="0" algn="l">
              <a:spcBef>
                <a:spcPct val="0"/>
              </a:spcBef>
            </a:pPr>
            <a:r>
              <a:rPr lang="en-US" sz="6000" b="1" u="none" strike="noStrike" dirty="0" err="1" smtClean="0">
                <a:solidFill>
                  <a:srgbClr val="1E293B"/>
                </a:solidFill>
                <a:latin typeface="Bricolage Grotesque Bold"/>
                <a:ea typeface="Bricolage Grotesque Bold"/>
                <a:cs typeface="Bricolage Grotesque Bold"/>
                <a:sym typeface="Bricolage Grotesque Bold"/>
              </a:rPr>
              <a:t>Bài</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tập</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thực</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hành</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tại</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lớp</a:t>
            </a:r>
            <a:endParaRPr lang="en-US" sz="6000" b="1" u="none" strike="noStrike" dirty="0">
              <a:solidFill>
                <a:srgbClr val="1E293B"/>
              </a:solidFill>
              <a:latin typeface="Bricolage Grotesque Bold"/>
              <a:ea typeface="Bricolage Grotesque Bold"/>
              <a:cs typeface="Bricolage Grotesque Bold"/>
              <a:sym typeface="Bricolage Grotesque Bold"/>
            </a:endParaRPr>
          </a:p>
        </p:txBody>
      </p:sp>
      <p:grpSp>
        <p:nvGrpSpPr>
          <p:cNvPr id="14" name="Group 14"/>
          <p:cNvGrpSpPr/>
          <p:nvPr/>
        </p:nvGrpSpPr>
        <p:grpSpPr>
          <a:xfrm>
            <a:off x="15493924" y="6934200"/>
            <a:ext cx="3467057" cy="4305236"/>
            <a:chOff x="0" y="0"/>
            <a:chExt cx="4622743" cy="5740315"/>
          </a:xfrm>
        </p:grpSpPr>
        <p:sp>
          <p:nvSpPr>
            <p:cNvPr id="15" name="Freeform 1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grpSp>
          <p:nvGrpSpPr>
            <p:cNvPr id="16" name="Group 16"/>
            <p:cNvGrpSpPr/>
            <p:nvPr/>
          </p:nvGrpSpPr>
          <p:grpSpPr>
            <a:xfrm rot="8100000">
              <a:off x="-106337" y="2577879"/>
              <a:ext cx="4835418" cy="1702128"/>
              <a:chOff x="0" y="0"/>
              <a:chExt cx="954623" cy="336039"/>
            </a:xfrm>
          </p:grpSpPr>
          <p:sp>
            <p:nvSpPr>
              <p:cNvPr id="17" name="Freeform 1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1E293B"/>
              </a:solidFill>
              <a:ln cap="sq">
                <a:noFill/>
                <a:prstDash val="solid"/>
                <a:miter/>
              </a:ln>
            </p:spPr>
          </p:sp>
          <p:sp>
            <p:nvSpPr>
              <p:cNvPr id="18" name="TextBox 1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pic>
        <p:nvPicPr>
          <p:cNvPr id="2" name="Picture 1"/>
          <p:cNvPicPr>
            <a:picLocks noChangeAspect="1"/>
          </p:cNvPicPr>
          <p:nvPr/>
        </p:nvPicPr>
        <p:blipFill>
          <a:blip r:embed="rId5"/>
          <a:stretch>
            <a:fillRect/>
          </a:stretch>
        </p:blipFill>
        <p:spPr>
          <a:xfrm>
            <a:off x="609600" y="342900"/>
            <a:ext cx="8915400" cy="9468592"/>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13487400" y="2095500"/>
            <a:ext cx="2819400" cy="1846659"/>
          </a:xfrm>
          <a:prstGeom prst="rect">
            <a:avLst/>
          </a:prstGeom>
        </p:spPr>
        <p:txBody>
          <a:bodyPr wrap="square" lIns="0" tIns="0" rIns="0" bIns="0" rtlCol="0" anchor="t">
            <a:spAutoFit/>
          </a:bodyPr>
          <a:lstStyle/>
          <a:p>
            <a:pPr marL="0" lvl="0" indent="0" algn="l">
              <a:spcBef>
                <a:spcPct val="0"/>
              </a:spcBef>
            </a:pPr>
            <a:r>
              <a:rPr lang="en-US" sz="6000" b="1" u="none" strike="noStrike" dirty="0" err="1" smtClean="0">
                <a:solidFill>
                  <a:srgbClr val="1E293B"/>
                </a:solidFill>
                <a:latin typeface="Bricolage Grotesque Bold"/>
                <a:ea typeface="Bricolage Grotesque Bold"/>
                <a:cs typeface="Bricolage Grotesque Bold"/>
                <a:sym typeface="Bricolage Grotesque Bold"/>
              </a:rPr>
              <a:t>Ví</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dụ</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bài</a:t>
            </a:r>
            <a:r>
              <a:rPr lang="en-US" sz="6000" b="1" u="none" strike="noStrike" dirty="0" smtClean="0">
                <a:solidFill>
                  <a:srgbClr val="1E293B"/>
                </a:solidFill>
                <a:latin typeface="Bricolage Grotesque Bold"/>
                <a:ea typeface="Bricolage Grotesque Bold"/>
                <a:cs typeface="Bricolage Grotesque Bold"/>
                <a:sym typeface="Bricolage Grotesque Bold"/>
              </a:rPr>
              <a:t> 1</a:t>
            </a:r>
            <a:endParaRPr lang="en-US" sz="6000" b="1" u="none" strike="noStrike" dirty="0">
              <a:solidFill>
                <a:srgbClr val="1E293B"/>
              </a:solidFill>
              <a:latin typeface="Bricolage Grotesque Bold"/>
              <a:ea typeface="Bricolage Grotesque Bold"/>
              <a:cs typeface="Bricolage Grotesque Bold"/>
              <a:sym typeface="Bricolage Grotesque Bold"/>
            </a:endParaRPr>
          </a:p>
        </p:txBody>
      </p:sp>
      <p:grpSp>
        <p:nvGrpSpPr>
          <p:cNvPr id="14" name="Group 14"/>
          <p:cNvGrpSpPr/>
          <p:nvPr/>
        </p:nvGrpSpPr>
        <p:grpSpPr>
          <a:xfrm>
            <a:off x="15493924" y="6934200"/>
            <a:ext cx="3467057" cy="4305236"/>
            <a:chOff x="0" y="0"/>
            <a:chExt cx="4622743" cy="5740315"/>
          </a:xfrm>
        </p:grpSpPr>
        <p:sp>
          <p:nvSpPr>
            <p:cNvPr id="15" name="Freeform 1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16" name="Group 16"/>
            <p:cNvGrpSpPr/>
            <p:nvPr/>
          </p:nvGrpSpPr>
          <p:grpSpPr>
            <a:xfrm rot="8100000">
              <a:off x="-106337" y="2577879"/>
              <a:ext cx="4835418" cy="1702128"/>
              <a:chOff x="0" y="0"/>
              <a:chExt cx="954623" cy="336039"/>
            </a:xfrm>
          </p:grpSpPr>
          <p:sp>
            <p:nvSpPr>
              <p:cNvPr id="17" name="Freeform 1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1E293B"/>
              </a:solidFill>
              <a:ln cap="sq">
                <a:noFill/>
                <a:prstDash val="solid"/>
                <a:miter/>
              </a:ln>
            </p:spPr>
          </p:sp>
          <p:sp>
            <p:nvSpPr>
              <p:cNvPr id="18" name="TextBox 1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pic>
        <p:nvPicPr>
          <p:cNvPr id="3" name="PixPin_2026-01-03_10-33-27">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57200" y="571500"/>
            <a:ext cx="11901036" cy="9125907"/>
          </a:xfrm>
          <a:prstGeom prst="rect">
            <a:avLst/>
          </a:prstGeom>
        </p:spPr>
      </p:pic>
    </p:spTree>
    <p:extLst>
      <p:ext uri="{BB962C8B-B14F-4D97-AF65-F5344CB8AC3E}">
        <p14:creationId xmlns:p14="http://schemas.microsoft.com/office/powerpoint/2010/main" val="247597691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15087600" y="2400300"/>
            <a:ext cx="2819400" cy="1846659"/>
          </a:xfrm>
          <a:prstGeom prst="rect">
            <a:avLst/>
          </a:prstGeom>
        </p:spPr>
        <p:txBody>
          <a:bodyPr wrap="square" lIns="0" tIns="0" rIns="0" bIns="0" rtlCol="0" anchor="t">
            <a:spAutoFit/>
          </a:bodyPr>
          <a:lstStyle/>
          <a:p>
            <a:pPr marL="0" lvl="0" indent="0" algn="l">
              <a:spcBef>
                <a:spcPct val="0"/>
              </a:spcBef>
            </a:pPr>
            <a:r>
              <a:rPr lang="en-US" sz="6000" b="1" u="none" strike="noStrike" dirty="0" err="1" smtClean="0">
                <a:solidFill>
                  <a:srgbClr val="1E293B"/>
                </a:solidFill>
                <a:latin typeface="Bricolage Grotesque Bold"/>
                <a:ea typeface="Bricolage Grotesque Bold"/>
                <a:cs typeface="Bricolage Grotesque Bold"/>
                <a:sym typeface="Bricolage Grotesque Bold"/>
              </a:rPr>
              <a:t>Ví</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dụ</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bài</a:t>
            </a:r>
            <a:r>
              <a:rPr lang="en-US" sz="6000" b="1" u="none" strike="noStrike" dirty="0" smtClean="0">
                <a:solidFill>
                  <a:srgbClr val="1E293B"/>
                </a:solidFill>
                <a:latin typeface="Bricolage Grotesque Bold"/>
                <a:ea typeface="Bricolage Grotesque Bold"/>
                <a:cs typeface="Bricolage Grotesque Bold"/>
                <a:sym typeface="Bricolage Grotesque Bold"/>
              </a:rPr>
              <a:t> 2</a:t>
            </a:r>
            <a:endParaRPr lang="en-US" sz="6000" b="1" u="none" strike="noStrike" dirty="0">
              <a:solidFill>
                <a:srgbClr val="1E293B"/>
              </a:solidFill>
              <a:latin typeface="Bricolage Grotesque Bold"/>
              <a:ea typeface="Bricolage Grotesque Bold"/>
              <a:cs typeface="Bricolage Grotesque Bold"/>
              <a:sym typeface="Bricolage Grotesque Bold"/>
            </a:endParaRPr>
          </a:p>
        </p:txBody>
      </p:sp>
      <p:grpSp>
        <p:nvGrpSpPr>
          <p:cNvPr id="14" name="Group 14"/>
          <p:cNvGrpSpPr/>
          <p:nvPr/>
        </p:nvGrpSpPr>
        <p:grpSpPr>
          <a:xfrm>
            <a:off x="15493924" y="6934200"/>
            <a:ext cx="3467057" cy="4305236"/>
            <a:chOff x="0" y="0"/>
            <a:chExt cx="4622743" cy="5740315"/>
          </a:xfrm>
        </p:grpSpPr>
        <p:sp>
          <p:nvSpPr>
            <p:cNvPr id="15" name="Freeform 1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16" name="Group 16"/>
            <p:cNvGrpSpPr/>
            <p:nvPr/>
          </p:nvGrpSpPr>
          <p:grpSpPr>
            <a:xfrm rot="8100000">
              <a:off x="-106337" y="2577879"/>
              <a:ext cx="4835418" cy="1702128"/>
              <a:chOff x="0" y="0"/>
              <a:chExt cx="954623" cy="336039"/>
            </a:xfrm>
          </p:grpSpPr>
          <p:sp>
            <p:nvSpPr>
              <p:cNvPr id="17" name="Freeform 1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1E293B"/>
              </a:solidFill>
              <a:ln cap="sq">
                <a:noFill/>
                <a:prstDash val="solid"/>
                <a:miter/>
              </a:ln>
            </p:spPr>
          </p:sp>
          <p:sp>
            <p:nvSpPr>
              <p:cNvPr id="18" name="TextBox 1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pic>
        <p:nvPicPr>
          <p:cNvPr id="2" name="PixPin_2026-01-03_10-36-1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752600" y="571500"/>
            <a:ext cx="10077450" cy="9036391"/>
          </a:xfrm>
          <a:prstGeom prst="rect">
            <a:avLst/>
          </a:prstGeom>
        </p:spPr>
      </p:pic>
    </p:spTree>
    <p:extLst>
      <p:ext uri="{BB962C8B-B14F-4D97-AF65-F5344CB8AC3E}">
        <p14:creationId xmlns:p14="http://schemas.microsoft.com/office/powerpoint/2010/main" val="330470647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15087600" y="2400300"/>
            <a:ext cx="2819400" cy="1846659"/>
          </a:xfrm>
          <a:prstGeom prst="rect">
            <a:avLst/>
          </a:prstGeom>
        </p:spPr>
        <p:txBody>
          <a:bodyPr wrap="square" lIns="0" tIns="0" rIns="0" bIns="0" rtlCol="0" anchor="t">
            <a:spAutoFit/>
          </a:bodyPr>
          <a:lstStyle/>
          <a:p>
            <a:pPr marL="0" lvl="0" indent="0" algn="l">
              <a:spcBef>
                <a:spcPct val="0"/>
              </a:spcBef>
            </a:pPr>
            <a:r>
              <a:rPr lang="en-US" sz="6000" b="1" u="none" strike="noStrike" dirty="0" err="1" smtClean="0">
                <a:solidFill>
                  <a:srgbClr val="1E293B"/>
                </a:solidFill>
                <a:latin typeface="Bricolage Grotesque Bold"/>
                <a:ea typeface="Bricolage Grotesque Bold"/>
                <a:cs typeface="Bricolage Grotesque Bold"/>
                <a:sym typeface="Bricolage Grotesque Bold"/>
              </a:rPr>
              <a:t>Ví</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dụ</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bài</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dirty="0">
                <a:solidFill>
                  <a:srgbClr val="1E293B"/>
                </a:solidFill>
                <a:latin typeface="Bricolage Grotesque Bold"/>
                <a:ea typeface="Bricolage Grotesque Bold"/>
                <a:cs typeface="Bricolage Grotesque Bold"/>
                <a:sym typeface="Bricolage Grotesque Bold"/>
              </a:rPr>
              <a:t>3</a:t>
            </a:r>
            <a:endParaRPr lang="en-US" sz="6000" b="1" u="none" strike="noStrike" dirty="0">
              <a:solidFill>
                <a:srgbClr val="1E293B"/>
              </a:solidFill>
              <a:latin typeface="Bricolage Grotesque Bold"/>
              <a:ea typeface="Bricolage Grotesque Bold"/>
              <a:cs typeface="Bricolage Grotesque Bold"/>
              <a:sym typeface="Bricolage Grotesque Bold"/>
            </a:endParaRPr>
          </a:p>
        </p:txBody>
      </p:sp>
      <p:grpSp>
        <p:nvGrpSpPr>
          <p:cNvPr id="14" name="Group 14"/>
          <p:cNvGrpSpPr/>
          <p:nvPr/>
        </p:nvGrpSpPr>
        <p:grpSpPr>
          <a:xfrm>
            <a:off x="15493924" y="6934200"/>
            <a:ext cx="3467057" cy="4305236"/>
            <a:chOff x="0" y="0"/>
            <a:chExt cx="4622743" cy="5740315"/>
          </a:xfrm>
        </p:grpSpPr>
        <p:sp>
          <p:nvSpPr>
            <p:cNvPr id="15" name="Freeform 1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16" name="Group 16"/>
            <p:cNvGrpSpPr/>
            <p:nvPr/>
          </p:nvGrpSpPr>
          <p:grpSpPr>
            <a:xfrm rot="8100000">
              <a:off x="-106337" y="2577879"/>
              <a:ext cx="4835418" cy="1702128"/>
              <a:chOff x="0" y="0"/>
              <a:chExt cx="954623" cy="336039"/>
            </a:xfrm>
          </p:grpSpPr>
          <p:sp>
            <p:nvSpPr>
              <p:cNvPr id="17" name="Freeform 1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1E293B"/>
              </a:solidFill>
              <a:ln cap="sq">
                <a:noFill/>
                <a:prstDash val="solid"/>
                <a:miter/>
              </a:ln>
            </p:spPr>
          </p:sp>
          <p:sp>
            <p:nvSpPr>
              <p:cNvPr id="18" name="TextBox 1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pic>
        <p:nvPicPr>
          <p:cNvPr id="2" name="PixPin_2026-01-03_10-40-1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09600" y="1257300"/>
            <a:ext cx="12763500" cy="7898205"/>
          </a:xfrm>
          <a:prstGeom prst="rect">
            <a:avLst/>
          </a:prstGeom>
        </p:spPr>
      </p:pic>
    </p:spTree>
    <p:extLst>
      <p:ext uri="{BB962C8B-B14F-4D97-AF65-F5344CB8AC3E}">
        <p14:creationId xmlns:p14="http://schemas.microsoft.com/office/powerpoint/2010/main" val="313413186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15087600" y="2400300"/>
            <a:ext cx="2819400" cy="1846659"/>
          </a:xfrm>
          <a:prstGeom prst="rect">
            <a:avLst/>
          </a:prstGeom>
        </p:spPr>
        <p:txBody>
          <a:bodyPr wrap="square" lIns="0" tIns="0" rIns="0" bIns="0" rtlCol="0" anchor="t">
            <a:spAutoFit/>
          </a:bodyPr>
          <a:lstStyle/>
          <a:p>
            <a:pPr marL="0" lvl="0" indent="0" algn="l">
              <a:spcBef>
                <a:spcPct val="0"/>
              </a:spcBef>
            </a:pPr>
            <a:r>
              <a:rPr lang="en-US" sz="6000" b="1" u="none" strike="noStrike" dirty="0" err="1" smtClean="0">
                <a:solidFill>
                  <a:srgbClr val="1E293B"/>
                </a:solidFill>
                <a:latin typeface="Bricolage Grotesque Bold"/>
                <a:ea typeface="Bricolage Grotesque Bold"/>
                <a:cs typeface="Bricolage Grotesque Bold"/>
                <a:sym typeface="Bricolage Grotesque Bold"/>
              </a:rPr>
              <a:t>Ví</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dụ</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bài</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dirty="0">
                <a:solidFill>
                  <a:srgbClr val="1E293B"/>
                </a:solidFill>
                <a:latin typeface="Bricolage Grotesque Bold"/>
                <a:ea typeface="Bricolage Grotesque Bold"/>
                <a:cs typeface="Bricolage Grotesque Bold"/>
                <a:sym typeface="Bricolage Grotesque Bold"/>
              </a:rPr>
              <a:t>4</a:t>
            </a:r>
            <a:endParaRPr lang="en-US" sz="6000" b="1" u="none" strike="noStrike" dirty="0">
              <a:solidFill>
                <a:srgbClr val="1E293B"/>
              </a:solidFill>
              <a:latin typeface="Bricolage Grotesque Bold"/>
              <a:ea typeface="Bricolage Grotesque Bold"/>
              <a:cs typeface="Bricolage Grotesque Bold"/>
              <a:sym typeface="Bricolage Grotesque Bold"/>
            </a:endParaRPr>
          </a:p>
        </p:txBody>
      </p:sp>
      <p:grpSp>
        <p:nvGrpSpPr>
          <p:cNvPr id="14" name="Group 14"/>
          <p:cNvGrpSpPr/>
          <p:nvPr/>
        </p:nvGrpSpPr>
        <p:grpSpPr>
          <a:xfrm>
            <a:off x="15493924" y="6934200"/>
            <a:ext cx="3467057" cy="4305236"/>
            <a:chOff x="0" y="0"/>
            <a:chExt cx="4622743" cy="5740315"/>
          </a:xfrm>
        </p:grpSpPr>
        <p:sp>
          <p:nvSpPr>
            <p:cNvPr id="15" name="Freeform 1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16" name="Group 16"/>
            <p:cNvGrpSpPr/>
            <p:nvPr/>
          </p:nvGrpSpPr>
          <p:grpSpPr>
            <a:xfrm rot="8100000">
              <a:off x="-106337" y="2577879"/>
              <a:ext cx="4835418" cy="1702128"/>
              <a:chOff x="0" y="0"/>
              <a:chExt cx="954623" cy="336039"/>
            </a:xfrm>
          </p:grpSpPr>
          <p:sp>
            <p:nvSpPr>
              <p:cNvPr id="17" name="Freeform 1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1E293B"/>
              </a:solidFill>
              <a:ln cap="sq">
                <a:noFill/>
                <a:prstDash val="solid"/>
                <a:miter/>
              </a:ln>
            </p:spPr>
          </p:sp>
          <p:sp>
            <p:nvSpPr>
              <p:cNvPr id="18" name="TextBox 1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pic>
        <p:nvPicPr>
          <p:cNvPr id="3" name="PixPin_2026-01-03_10-46-5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295400" y="876300"/>
            <a:ext cx="11144250" cy="8493726"/>
          </a:xfrm>
          <a:prstGeom prst="rect">
            <a:avLst/>
          </a:prstGeom>
        </p:spPr>
      </p:pic>
    </p:spTree>
    <p:extLst>
      <p:ext uri="{BB962C8B-B14F-4D97-AF65-F5344CB8AC3E}">
        <p14:creationId xmlns:p14="http://schemas.microsoft.com/office/powerpoint/2010/main" val="113514977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420</TotalTime>
  <Words>502</Words>
  <Application>Microsoft Office PowerPoint</Application>
  <PresentationFormat>Custom</PresentationFormat>
  <Paragraphs>46</Paragraphs>
  <Slides>15</Slides>
  <Notes>0</Notes>
  <HiddenSlides>0</HiddenSlides>
  <MMClips>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Bricolage Grotesque</vt:lpstr>
      <vt:lpstr>Bricolage Grotesque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thuyết trình - BUỔI 1: TỪ RAZOR VIEW SANG JSX</dc:title>
  <dc:description>Bài thuyết trình - BUỔI 1: TỪ RAZOR VIEW SANG JSX</dc:description>
  <cp:lastModifiedBy>vtrust</cp:lastModifiedBy>
  <cp:revision>22</cp:revision>
  <dcterms:created xsi:type="dcterms:W3CDTF">2006-08-16T00:00:00Z</dcterms:created>
  <dcterms:modified xsi:type="dcterms:W3CDTF">2026-01-16T06:04:07Z</dcterms:modified>
  <dc:identifier>DAG8Mi2FD9A</dc:identifier>
</cp:coreProperties>
</file>