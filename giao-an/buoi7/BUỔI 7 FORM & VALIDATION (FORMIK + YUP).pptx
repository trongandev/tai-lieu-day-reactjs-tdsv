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86" r:id="rId5"/>
    <p:sldId id="280" r:id="rId6"/>
    <p:sldId id="275" r:id="rId7"/>
    <p:sldId id="281" r:id="rId8"/>
    <p:sldId id="279" r:id="rId9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Bricolage Grotesque Bold" panose="020B0604020202020204" charset="0"/>
      <p:regular r:id="rId14"/>
    </p:embeddedFont>
    <p:embeddedFont>
      <p:font typeface="Bricolage Grotesque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22" autoAdjust="0"/>
  </p:normalViewPr>
  <p:slideViewPr>
    <p:cSldViewPr>
      <p:cViewPr varScale="1">
        <p:scale>
          <a:sx n="77" d="100"/>
          <a:sy n="77" d="100"/>
        </p:scale>
        <p:origin x="38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2026-01-13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5677043" y="6462606"/>
            <a:ext cx="3467057" cy="4305236"/>
            <a:chOff x="0" y="0"/>
            <a:chExt cx="4622743" cy="5740315"/>
          </a:xfrm>
        </p:grpSpPr>
        <p:sp>
          <p:nvSpPr>
            <p:cNvPr id="5" name="Freeform 5"/>
            <p:cNvSpPr/>
            <p:nvPr/>
          </p:nvSpPr>
          <p:spPr>
            <a:xfrm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l="l" t="t" r="r" b="b"/>
              <a:pathLst>
                <a:path w="4872155" h="1665391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" name="Group 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5462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954623" h="336039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474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lIns="18752" tIns="18752" rIns="18752" bIns="18752" rtlCol="0" anchor="ctr"/>
              <a:lstStyle/>
              <a:p>
                <a:pPr marL="0" lvl="0" indent="0" algn="ctr">
                  <a:lnSpc>
                    <a:spcPts val="755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1371600" y="2476500"/>
            <a:ext cx="17378364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400" b="1" dirty="0"/>
              <a:t>BUỔI </a:t>
            </a:r>
            <a:r>
              <a:rPr lang="en-US" sz="6400" b="1" dirty="0" smtClean="0"/>
              <a:t>7: </a:t>
            </a:r>
            <a:r>
              <a:rPr lang="en-US" sz="6400" b="1" dirty="0"/>
              <a:t>FORM &amp; VALIDATION (FORMIK + YUP)</a:t>
            </a:r>
            <a:endParaRPr lang="en-US" sz="6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16205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Nội dung buổi học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0" y="3695700"/>
            <a:ext cx="9678972" cy="280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864" lvl="1" indent="-377932">
              <a:lnSpc>
                <a:spcPts val="7282"/>
              </a:lnSpc>
              <a:buFontTx/>
              <a:buAutoNum type="arabicPeriod"/>
            </a:pP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Vấn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đề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của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Form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thủ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công</a:t>
            </a:r>
            <a:endParaRPr lang="en-US" sz="3500" b="1" dirty="0" smtClean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  <a:p>
            <a:pPr marL="755864" lvl="1" indent="-377932">
              <a:lnSpc>
                <a:spcPts val="7282"/>
              </a:lnSpc>
              <a:buFontTx/>
              <a:buAutoNum type="arabicPeriod"/>
            </a:pP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Giới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thiệu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Formik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&amp; </a:t>
            </a:r>
            <a:r>
              <a:rPr lang="en-US" sz="3500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Y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up</a:t>
            </a:r>
          </a:p>
          <a:p>
            <a:pPr marL="755864" lvl="1" indent="-377932">
              <a:lnSpc>
                <a:spcPts val="7282"/>
              </a:lnSpc>
              <a:buFontTx/>
              <a:buAutoNum type="arabicPeriod"/>
            </a:pP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Bài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tập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thực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hành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tại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lớp</a:t>
            </a:r>
            <a:endParaRPr lang="en-US" sz="3500" b="1" dirty="0" smtClean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Vấn</a:t>
            </a:r>
            <a:r>
              <a:rPr lang="en-US" sz="6999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đề</a:t>
            </a:r>
            <a:r>
              <a:rPr lang="en-US" sz="6999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của</a:t>
            </a:r>
            <a:r>
              <a:rPr lang="en-US" sz="6999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Form </a:t>
            </a:r>
            <a:r>
              <a:rPr lang="en-US" sz="6999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thủ</a:t>
            </a:r>
            <a:r>
              <a:rPr lang="en-US" sz="6999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công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09600" y="4000500"/>
            <a:ext cx="9144000" cy="2885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>
              <a:lnSpc>
                <a:spcPts val="4500"/>
              </a:lnSpc>
            </a:pPr>
            <a:r>
              <a:rPr lang="en-US" sz="3200" dirty="0" smtClean="0">
                <a:sym typeface="Bricolage Grotesque"/>
              </a:rPr>
              <a:t>Ở </a:t>
            </a:r>
            <a:r>
              <a:rPr lang="en-US" sz="3200" dirty="0" err="1" smtClean="0">
                <a:sym typeface="Bricolage Grotesque"/>
              </a:rPr>
              <a:t>bài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tập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buổi</a:t>
            </a:r>
            <a:r>
              <a:rPr lang="en-US" sz="3200" dirty="0" smtClean="0">
                <a:sym typeface="Bricolage Grotesque"/>
              </a:rPr>
              <a:t> 6: </a:t>
            </a:r>
            <a:r>
              <a:rPr lang="en-US" sz="3200" dirty="0" err="1" smtClean="0">
                <a:sym typeface="Bricolage Grotesque"/>
              </a:rPr>
              <a:t>các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bất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cập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thường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gặp</a:t>
            </a:r>
            <a:endParaRPr lang="en-US" sz="3200" dirty="0" smtClean="0">
              <a:sym typeface="Bricolage Grotesque"/>
            </a:endParaRPr>
          </a:p>
          <a:p>
            <a:pPr marL="323850" lvl="1">
              <a:lnSpc>
                <a:spcPts val="4500"/>
              </a:lnSpc>
            </a:pPr>
            <a:endParaRPr lang="en-US" sz="3200" dirty="0" smtClean="0">
              <a:sym typeface="Bricolage Grotesque"/>
            </a:endParaRPr>
          </a:p>
          <a:p>
            <a:pPr marL="323850" lvl="1">
              <a:lnSpc>
                <a:spcPts val="4500"/>
              </a:lnSpc>
            </a:pPr>
            <a:r>
              <a:rPr lang="en-US" sz="3200" dirty="0" err="1" smtClean="0">
                <a:sym typeface="Bricolage Grotesque"/>
              </a:rPr>
              <a:t>Tạo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nhiều</a:t>
            </a:r>
            <a:r>
              <a:rPr lang="en-US" sz="3200" dirty="0" smtClean="0">
                <a:sym typeface="Bricolage Grotesque"/>
              </a:rPr>
              <a:t> state </a:t>
            </a:r>
            <a:r>
              <a:rPr lang="en-US" sz="3200" dirty="0" err="1" smtClean="0">
                <a:sym typeface="Bricolage Grotesque"/>
              </a:rPr>
              <a:t>cho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từng</a:t>
            </a:r>
            <a:r>
              <a:rPr lang="en-US" sz="3200" dirty="0" smtClean="0">
                <a:sym typeface="Bricolage Grotesque"/>
              </a:rPr>
              <a:t> input</a:t>
            </a:r>
          </a:p>
          <a:p>
            <a:pPr marL="323850" lvl="1">
              <a:lnSpc>
                <a:spcPts val="4500"/>
              </a:lnSpc>
            </a:pPr>
            <a:r>
              <a:rPr lang="en-US" sz="3200" dirty="0" err="1" smtClean="0">
                <a:sym typeface="Bricolage Grotesque"/>
              </a:rPr>
              <a:t>Phải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tự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viết</a:t>
            </a:r>
            <a:r>
              <a:rPr lang="en-US" sz="3200" dirty="0" smtClean="0">
                <a:sym typeface="Bricolage Grotesque"/>
              </a:rPr>
              <a:t> logic validate (check </a:t>
            </a:r>
            <a:r>
              <a:rPr lang="en-US" sz="3200" dirty="0" err="1" smtClean="0">
                <a:sym typeface="Bricolage Grotesque"/>
              </a:rPr>
              <a:t>rỗng</a:t>
            </a:r>
            <a:r>
              <a:rPr lang="en-US" sz="3200" dirty="0" smtClean="0">
                <a:sym typeface="Bricolage Grotesque"/>
              </a:rPr>
              <a:t>, check email,..)</a:t>
            </a:r>
          </a:p>
          <a:p>
            <a:pPr marL="323850" lvl="1">
              <a:lnSpc>
                <a:spcPts val="4500"/>
              </a:lnSpc>
            </a:pPr>
            <a:r>
              <a:rPr lang="en-US" sz="3200" dirty="0" err="1" smtClean="0">
                <a:sym typeface="Bricolage Grotesque"/>
              </a:rPr>
              <a:t>Phải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xử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lí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onBlur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khi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người</a:t>
            </a:r>
            <a:r>
              <a:rPr lang="en-US" sz="3200" dirty="0" smtClean="0">
                <a:sym typeface="Bricolage Grotesque"/>
              </a:rPr>
              <a:t> dung </a:t>
            </a:r>
            <a:r>
              <a:rPr lang="en-US" sz="3200" dirty="0" err="1" smtClean="0">
                <a:sym typeface="Bricolage Grotesque"/>
              </a:rPr>
              <a:t>rời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khỏi</a:t>
            </a:r>
            <a:r>
              <a:rPr lang="en-US" sz="3200" dirty="0" smtClean="0">
                <a:sym typeface="Bricolage Grotesque"/>
              </a:rPr>
              <a:t> ô input</a:t>
            </a:r>
            <a:endParaRPr lang="en-US" sz="3200" dirty="0" smtClean="0">
              <a:sym typeface="Bricolage Grotesque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476500"/>
            <a:ext cx="7162800" cy="73284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Formik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&amp; Yup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363200" y="4305300"/>
            <a:ext cx="6172200" cy="2885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>
              <a:lnSpc>
                <a:spcPts val="4500"/>
              </a:lnSpc>
            </a:pPr>
            <a:r>
              <a:rPr lang="en-US" sz="3200" dirty="0" err="1" smtClean="0">
                <a:sym typeface="Bricolage Grotesque"/>
              </a:rPr>
              <a:t>Formik</a:t>
            </a:r>
            <a:r>
              <a:rPr lang="en-US" sz="3200" dirty="0" smtClean="0">
                <a:sym typeface="Bricolage Grotesque"/>
              </a:rPr>
              <a:t>: </a:t>
            </a:r>
            <a:r>
              <a:rPr lang="en-US" sz="3200" dirty="0" err="1" smtClean="0">
                <a:sym typeface="Bricolage Grotesque"/>
              </a:rPr>
              <a:t>Quản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lý</a:t>
            </a:r>
            <a:r>
              <a:rPr lang="en-US" sz="3200" dirty="0" smtClean="0">
                <a:sym typeface="Bricolage Grotesque"/>
              </a:rPr>
              <a:t> State </a:t>
            </a:r>
            <a:r>
              <a:rPr lang="en-US" sz="3200" dirty="0" err="1" smtClean="0">
                <a:sym typeface="Bricolage Grotesque"/>
              </a:rPr>
              <a:t>của</a:t>
            </a:r>
            <a:r>
              <a:rPr lang="en-US" sz="3200" dirty="0" smtClean="0">
                <a:sym typeface="Bricolage Grotesque"/>
              </a:rPr>
              <a:t> form, </a:t>
            </a:r>
            <a:r>
              <a:rPr lang="en-US" sz="3200" dirty="0" err="1" smtClean="0">
                <a:sym typeface="Bricolage Grotesque"/>
              </a:rPr>
              <a:t>xử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lý</a:t>
            </a:r>
            <a:r>
              <a:rPr lang="en-US" sz="3200" dirty="0" smtClean="0">
                <a:sym typeface="Bricolage Grotesque"/>
              </a:rPr>
              <a:t> submit, handle change/blur</a:t>
            </a:r>
          </a:p>
          <a:p>
            <a:pPr marL="323850" lvl="1">
              <a:lnSpc>
                <a:spcPts val="4500"/>
              </a:lnSpc>
            </a:pPr>
            <a:endParaRPr lang="en-US" sz="3200" dirty="0" smtClean="0">
              <a:sym typeface="Bricolage Grotesque"/>
            </a:endParaRPr>
          </a:p>
          <a:p>
            <a:pPr marL="323850" lvl="1">
              <a:lnSpc>
                <a:spcPts val="4500"/>
              </a:lnSpc>
            </a:pPr>
            <a:r>
              <a:rPr lang="en-US" sz="3200" dirty="0" smtClean="0">
                <a:sym typeface="Bricolage Grotesque"/>
              </a:rPr>
              <a:t>Yup: </a:t>
            </a:r>
            <a:r>
              <a:rPr lang="en-US" sz="3200" dirty="0" err="1" smtClean="0">
                <a:sym typeface="Bricolage Grotesque"/>
              </a:rPr>
              <a:t>Định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nghĩa</a:t>
            </a:r>
            <a:r>
              <a:rPr lang="en-US" sz="3200" dirty="0" smtClean="0">
                <a:sym typeface="Bricolage Grotesque"/>
              </a:rPr>
              <a:t> schema validation (</a:t>
            </a:r>
            <a:r>
              <a:rPr lang="en-US" sz="3200" dirty="0" err="1" smtClean="0">
                <a:sym typeface="Bricolage Grotesque"/>
              </a:rPr>
              <a:t>luật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lệ</a:t>
            </a:r>
            <a:r>
              <a:rPr lang="en-US" sz="3200" dirty="0" smtClean="0">
                <a:sym typeface="Bricolage Grotesque"/>
              </a:rPr>
              <a:t>) </a:t>
            </a:r>
            <a:r>
              <a:rPr lang="en-US" sz="3200" dirty="0" err="1" smtClean="0">
                <a:sym typeface="Bricolage Grotesque"/>
              </a:rPr>
              <a:t>cực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kỳ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ngắn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gọn</a:t>
            </a:r>
            <a:endParaRPr lang="en-US" sz="3200" dirty="0" smtClean="0">
              <a:sym typeface="Bricolage Grotesque"/>
            </a:endParaRPr>
          </a:p>
        </p:txBody>
      </p:sp>
      <p:pic>
        <p:nvPicPr>
          <p:cNvPr id="2050" name="Picture 2" descr="Form Validation in React JS using Formik and Yu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965537"/>
            <a:ext cx="9677400" cy="5443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29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Cách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cài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đặt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0" y="3086100"/>
            <a:ext cx="7353300" cy="363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2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Cách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sử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dụng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552700"/>
            <a:ext cx="14493132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2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Bài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tập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thực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hành</a:t>
            </a:r>
            <a:r>
              <a:rPr lang="en-US" sz="6999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tại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lớp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533400" y="2933700"/>
            <a:ext cx="91440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>
              <a:lnSpc>
                <a:spcPts val="4500"/>
              </a:lnSpc>
            </a:pPr>
            <a:r>
              <a:rPr lang="en-US" sz="3200" dirty="0" err="1" smtClean="0">
                <a:sym typeface="Bricolage Grotesque"/>
              </a:rPr>
              <a:t>Bài</a:t>
            </a:r>
            <a:r>
              <a:rPr lang="en-US" sz="3200" dirty="0" smtClean="0">
                <a:sym typeface="Bricolage Grotesque"/>
              </a:rPr>
              <a:t> 1: </a:t>
            </a:r>
            <a:r>
              <a:rPr lang="en-US" sz="3200" dirty="0" err="1" smtClean="0">
                <a:sym typeface="Bricolage Grotesque"/>
              </a:rPr>
              <a:t>Sử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>
                <a:sym typeface="Bricolage Grotesque"/>
              </a:rPr>
              <a:t>dụng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err="1">
                <a:sym typeface="Bricolage Grotesque"/>
              </a:rPr>
              <a:t>Formik</a:t>
            </a:r>
            <a:r>
              <a:rPr lang="en-US" sz="3200" dirty="0">
                <a:sym typeface="Bricolage Grotesque"/>
              </a:rPr>
              <a:t> &amp; Yup </a:t>
            </a:r>
            <a:r>
              <a:rPr lang="en-US" sz="3200" dirty="0" err="1">
                <a:sym typeface="Bricolage Grotesque"/>
              </a:rPr>
              <a:t>để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err="1">
                <a:sym typeface="Bricolage Grotesque"/>
              </a:rPr>
              <a:t>nâng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err="1">
                <a:sym typeface="Bricolage Grotesque"/>
              </a:rPr>
              <a:t>cấp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err="1">
                <a:sym typeface="Bricolage Grotesque"/>
              </a:rPr>
              <a:t>bài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err="1">
                <a:sym typeface="Bricolage Grotesque"/>
              </a:rPr>
              <a:t>tập</a:t>
            </a:r>
            <a:r>
              <a:rPr lang="en-US" sz="3200" dirty="0">
                <a:sym typeface="Bricolage Grotesque"/>
              </a:rPr>
              <a:t> 2: </a:t>
            </a:r>
            <a:endParaRPr lang="en-US" sz="3200" dirty="0" smtClean="0">
              <a:sym typeface="Bricolage Grotesque"/>
            </a:endParaRPr>
          </a:p>
          <a:p>
            <a:pPr marL="323850" lvl="1">
              <a:lnSpc>
                <a:spcPts val="4500"/>
              </a:lnSpc>
            </a:pPr>
            <a:r>
              <a:rPr lang="en-US" sz="3200" b="1" dirty="0" err="1" smtClean="0">
                <a:sym typeface="Bricolage Grotesque"/>
              </a:rPr>
              <a:t>Quản</a:t>
            </a:r>
            <a:r>
              <a:rPr lang="en-US" sz="3200" b="1" dirty="0" smtClean="0">
                <a:sym typeface="Bricolage Grotesque"/>
              </a:rPr>
              <a:t> </a:t>
            </a:r>
            <a:r>
              <a:rPr lang="en-US" sz="3200" b="1" dirty="0" err="1">
                <a:sym typeface="Bricolage Grotesque"/>
              </a:rPr>
              <a:t>lý</a:t>
            </a:r>
            <a:r>
              <a:rPr lang="en-US" sz="3200" b="1" dirty="0">
                <a:sym typeface="Bricolage Grotesque"/>
              </a:rPr>
              <a:t> </a:t>
            </a:r>
            <a:r>
              <a:rPr lang="en-US" sz="3200" b="1" dirty="0" err="1">
                <a:sym typeface="Bricolage Grotesque"/>
              </a:rPr>
              <a:t>đăng</a:t>
            </a:r>
            <a:r>
              <a:rPr lang="en-US" sz="3200" b="1" dirty="0">
                <a:sym typeface="Bricolage Grotesque"/>
              </a:rPr>
              <a:t> </a:t>
            </a:r>
            <a:r>
              <a:rPr lang="en-US" sz="3200" b="1" dirty="0" err="1" smtClean="0">
                <a:sym typeface="Bricolage Grotesque"/>
              </a:rPr>
              <a:t>ký</a:t>
            </a:r>
            <a:r>
              <a:rPr lang="en-US" sz="3200" b="1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trong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>
                <a:sym typeface="Bricolage Grotesque"/>
              </a:rPr>
              <a:t>buổi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smtClean="0">
                <a:sym typeface="Bricolage Grotesque"/>
              </a:rPr>
              <a:t>6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1866900"/>
            <a:ext cx="5944430" cy="76686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70" y="5143500"/>
            <a:ext cx="9468030" cy="296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49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609600" y="643235"/>
            <a:ext cx="112014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Bài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tập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về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nhà</a:t>
            </a:r>
            <a:endParaRPr lang="en-US" sz="6000" b="1" u="none" strike="noStrike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5493924" y="6934200"/>
            <a:ext cx="3467057" cy="4305236"/>
            <a:chOff x="0" y="0"/>
            <a:chExt cx="4622743" cy="5740315"/>
          </a:xfrm>
        </p:grpSpPr>
        <p:sp>
          <p:nvSpPr>
            <p:cNvPr id="15" name="Freeform 15"/>
            <p:cNvSpPr/>
            <p:nvPr/>
          </p:nvSpPr>
          <p:spPr>
            <a:xfrm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l="l" t="t" r="r" b="b"/>
              <a:pathLst>
                <a:path w="4872155" h="1665391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95462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954623" h="336039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lIns="18752" tIns="18752" rIns="18752" bIns="18752" rtlCol="0" anchor="ctr"/>
              <a:lstStyle/>
              <a:p>
                <a:pPr marL="0" lvl="0" indent="0" algn="ctr">
                  <a:lnSpc>
                    <a:spcPts val="755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9" name="TextBox 3"/>
          <p:cNvSpPr txBox="1"/>
          <p:nvPr/>
        </p:nvSpPr>
        <p:spPr>
          <a:xfrm>
            <a:off x="838200" y="1943100"/>
            <a:ext cx="7315200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 smtClean="0"/>
              <a:t>Form Checkout (</a:t>
            </a:r>
            <a:r>
              <a:rPr lang="en-US" sz="2800" b="1" dirty="0" err="1" smtClean="0"/>
              <a:t>thanh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toán</a:t>
            </a:r>
            <a:r>
              <a:rPr lang="en-US" sz="2800" b="1" dirty="0" smtClean="0"/>
              <a:t>)</a:t>
            </a:r>
            <a:endParaRPr lang="en-US" sz="28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/>
              <a:t>Thông tin người nhận (Tên, SĐT, và 3 ô địa chỉ combobox cho người dùng chọn xã, huyện, tỉnh).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 smtClean="0"/>
              <a:t>Phương </a:t>
            </a:r>
            <a:r>
              <a:rPr lang="vi-VN" sz="2800" dirty="0"/>
              <a:t>thức thanh toán (Radio button: COD / Chuyển khoản).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 smtClean="0"/>
              <a:t>Ghi </a:t>
            </a:r>
            <a:r>
              <a:rPr lang="vi-VN" sz="2800" dirty="0"/>
              <a:t>chú (Textarea).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 smtClean="0"/>
              <a:t>Validate </a:t>
            </a:r>
            <a:r>
              <a:rPr lang="vi-VN" sz="2800" dirty="0"/>
              <a:t>chặt chẽ (SĐT phải là số, Địa chỉ không được quá ngắn).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 smtClean="0"/>
              <a:t>Fetch </a:t>
            </a:r>
            <a:r>
              <a:rPr lang="vi-VN" sz="2800" dirty="0"/>
              <a:t>API giả lập để lấy danh sách xã, huyện, tỉnh tại Việt Nam (có thể dùng JSON tĩnh).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 smtClean="0"/>
              <a:t>Truy </a:t>
            </a:r>
            <a:r>
              <a:rPr lang="vi-VN" sz="2800" dirty="0"/>
              <a:t>cập vào demo tại: https://vn-provinces-vue-demo.netlify.app/. 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1104900"/>
            <a:ext cx="7543800" cy="837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36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247</Words>
  <Application>Microsoft Office PowerPoint</Application>
  <PresentationFormat>Custom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Bricolage Grotesque Bold</vt:lpstr>
      <vt:lpstr>Arial</vt:lpstr>
      <vt:lpstr>Bricolage Grotesque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thuyết trình - BUỔI 1: TỪ RAZOR VIEW SANG JSX</dc:title>
  <dc:description>Bài thuyết trình - BUỔI 1: TỪ RAZOR VIEW SANG JSX</dc:description>
  <cp:lastModifiedBy>vtrust</cp:lastModifiedBy>
  <cp:revision>32</cp:revision>
  <dcterms:created xsi:type="dcterms:W3CDTF">2006-08-16T00:00:00Z</dcterms:created>
  <dcterms:modified xsi:type="dcterms:W3CDTF">2026-01-13T05:38:33Z</dcterms:modified>
  <dc:identifier>DAG8Mi2FD9A</dc:identifier>
</cp:coreProperties>
</file>