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9" r:id="rId4"/>
    <p:sldId id="260" r:id="rId5"/>
    <p:sldId id="265" r:id="rId6"/>
    <p:sldId id="274" r:id="rId7"/>
    <p:sldId id="270" r:id="rId8"/>
    <p:sldId id="275" r:id="rId9"/>
    <p:sldId id="276" r:id="rId10"/>
    <p:sldId id="277" r:id="rId11"/>
    <p:sldId id="278" r:id="rId12"/>
    <p:sldId id="279" r:id="rId13"/>
  </p:sldIdLst>
  <p:sldSz cx="18288000" cy="10287000"/>
  <p:notesSz cx="6858000" cy="9144000"/>
  <p:embeddedFontLst>
    <p:embeddedFont>
      <p:font typeface="Bricolage Grotesque Semi-Bold" panose="020B0604020202020204" charset="0"/>
      <p:regular r:id="rId14"/>
    </p:embeddedFont>
    <p:embeddedFont>
      <p:font typeface="Canva Sans Bold" panose="020B0604020202020204" charset="0"/>
      <p:regular r:id="rId15"/>
    </p:embeddedFont>
    <p:embeddedFont>
      <p:font typeface="Bricolage Grotesque Bold" panose="020B0604020202020204" charset="0"/>
      <p:regular r:id="rId16"/>
    </p:embeddedFont>
    <p:embeddedFont>
      <p:font typeface="Bricolage Grotesque" panose="020B0604020202020204" charset="0"/>
      <p:regular r:id="rId17"/>
    </p:embeddedFont>
    <p:embeddedFont>
      <p:font typeface="Calibri" panose="020F0502020204030204" pitchFamily="34" charset="0"/>
      <p:regular r:id="rId18"/>
      <p:bold r:id="rId19"/>
      <p:italic r:id="rId20"/>
      <p:boldItalic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3" d="100"/>
          <a:sy n="73" d="100"/>
        </p:scale>
        <p:origin x="594" y="6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2026-01-16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2026-01-16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grpSp>
        <p:nvGrpSpPr>
          <p:cNvPr id="4" name="Group 4"/>
          <p:cNvGrpSpPr/>
          <p:nvPr/>
        </p:nvGrpSpPr>
        <p:grpSpPr>
          <a:xfrm>
            <a:off x="15677043" y="6462606"/>
            <a:ext cx="3467057" cy="4305236"/>
            <a:chOff x="0" y="0"/>
            <a:chExt cx="4622743" cy="5740315"/>
          </a:xfrm>
        </p:grpSpPr>
        <p:sp>
          <p:nvSpPr>
            <p:cNvPr id="5" name="Freeform 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xmlns="" r:embed="rId4"/>
                  </a:ext>
                </a:extLst>
              </a:blip>
              <a:stretch>
                <a:fillRect/>
              </a:stretch>
            </a:blipFill>
          </p:spPr>
        </p:sp>
        <p:grpSp>
          <p:nvGrpSpPr>
            <p:cNvPr id="6" name="Group 6"/>
            <p:cNvGrpSpPr/>
            <p:nvPr/>
          </p:nvGrpSpPr>
          <p:grpSpPr>
            <a:xfrm rot="8100000">
              <a:off x="-106337" y="2577879"/>
              <a:ext cx="4835418" cy="1702128"/>
              <a:chOff x="0" y="0"/>
              <a:chExt cx="954623" cy="336039"/>
            </a:xfrm>
          </p:grpSpPr>
          <p:sp>
            <p:nvSpPr>
              <p:cNvPr id="7" name="Freeform 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64748B"/>
              </a:solidFill>
              <a:ln cap="sq">
                <a:noFill/>
                <a:prstDash val="solid"/>
                <a:miter/>
              </a:ln>
            </p:spPr>
          </p:sp>
          <p:sp>
            <p:nvSpPr>
              <p:cNvPr id="8" name="TextBox 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sp>
        <p:nvSpPr>
          <p:cNvPr id="9" name="TextBox 9"/>
          <p:cNvSpPr txBox="1"/>
          <p:nvPr/>
        </p:nvSpPr>
        <p:spPr>
          <a:xfrm>
            <a:off x="452436" y="4302125"/>
            <a:ext cx="17378364" cy="897682"/>
          </a:xfrm>
          <a:prstGeom prst="rect">
            <a:avLst/>
          </a:prstGeom>
        </p:spPr>
        <p:txBody>
          <a:bodyPr wrap="square" lIns="0" tIns="0" rIns="0" bIns="0" rtlCol="0" anchor="t">
            <a:spAutoFit/>
          </a:bodyPr>
          <a:lstStyle/>
          <a:p>
            <a:pPr lvl="0">
              <a:lnSpc>
                <a:spcPts val="6999"/>
              </a:lnSpc>
              <a:spcBef>
                <a:spcPct val="0"/>
              </a:spcBef>
            </a:pPr>
            <a:r>
              <a:rPr lang="it-IT" sz="6999" b="1" spc="-419" dirty="0" smtClean="0">
                <a:solidFill>
                  <a:srgbClr val="1E293B"/>
                </a:solidFill>
                <a:latin typeface="Canva Sans Bold"/>
                <a:ea typeface="Canva Sans Bold"/>
                <a:cs typeface="Canva Sans Bold"/>
                <a:sym typeface="Canva Sans Bold"/>
              </a:rPr>
              <a:t>BUỔI </a:t>
            </a:r>
            <a:r>
              <a:rPr lang="it-IT" sz="6999" b="1" spc="-419" dirty="0">
                <a:solidFill>
                  <a:srgbClr val="1E293B"/>
                </a:solidFill>
                <a:latin typeface="Canva Sans Bold"/>
                <a:ea typeface="Canva Sans Bold"/>
                <a:cs typeface="Canva Sans Bold"/>
                <a:sym typeface="Canva Sans Bold"/>
              </a:rPr>
              <a:t>2: COMPONENT &amp; TƯ DUY CHIA NHỎ</a:t>
            </a:r>
            <a:endParaRPr lang="en-US" sz="6999" b="1" u="none" strike="noStrike" spc="-419" dirty="0">
              <a:solidFill>
                <a:srgbClr val="1E293B"/>
              </a:solidFill>
              <a:latin typeface="Canva Sans Bold"/>
              <a:ea typeface="Canva Sans Bold"/>
              <a:cs typeface="Canva Sans Bold"/>
              <a:sym typeface="Canva Sans Bold"/>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0" y="116205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a:solidFill>
                  <a:srgbClr val="1E293B"/>
                </a:solidFill>
                <a:latin typeface="Bricolage Grotesque Bold"/>
                <a:ea typeface="Bricolage Grotesque Bold"/>
                <a:cs typeface="Bricolage Grotesque Bold"/>
                <a:sym typeface="Bricolage Grotesque Bold"/>
              </a:rPr>
              <a:t>Nội dung buổi học</a:t>
            </a:r>
          </a:p>
        </p:txBody>
      </p:sp>
      <p:sp>
        <p:nvSpPr>
          <p:cNvPr id="3" name="TextBox 3"/>
          <p:cNvSpPr txBox="1"/>
          <p:nvPr/>
        </p:nvSpPr>
        <p:spPr>
          <a:xfrm>
            <a:off x="5029200" y="4229100"/>
            <a:ext cx="9678972" cy="3744615"/>
          </a:xfrm>
          <a:prstGeom prst="rect">
            <a:avLst/>
          </a:prstGeom>
        </p:spPr>
        <p:txBody>
          <a:bodyPr lIns="0" tIns="0" rIns="0" bIns="0" rtlCol="0" anchor="t">
            <a:spAutoFit/>
          </a:bodyPr>
          <a:lstStyle/>
          <a:p>
            <a:pPr marL="755864" lvl="1" indent="-377932">
              <a:lnSpc>
                <a:spcPts val="7282"/>
              </a:lnSpc>
              <a:buFontTx/>
              <a:buAutoNum type="arabicPeriod"/>
            </a:pPr>
            <a:r>
              <a:rPr lang="en-US" sz="3500" b="1" dirty="0" smtClean="0">
                <a:solidFill>
                  <a:srgbClr val="1E293B"/>
                </a:solidFill>
                <a:latin typeface="Bricolage Grotesque Bold"/>
                <a:ea typeface="Bricolage Grotesque Bold"/>
                <a:cs typeface="Bricolage Grotesque Bold"/>
                <a:sym typeface="Bricolage Grotesque Bold"/>
              </a:rPr>
              <a:t>Component </a:t>
            </a:r>
            <a:r>
              <a:rPr lang="en-US" sz="3500" b="1" dirty="0" err="1">
                <a:solidFill>
                  <a:srgbClr val="1E293B"/>
                </a:solidFill>
                <a:latin typeface="Bricolage Grotesque Bold"/>
                <a:ea typeface="Bricolage Grotesque Bold"/>
                <a:cs typeface="Bricolage Grotesque Bold"/>
                <a:sym typeface="Bricolage Grotesque Bold"/>
              </a:rPr>
              <a:t>là</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smtClean="0">
                <a:solidFill>
                  <a:srgbClr val="1E293B"/>
                </a:solidFill>
                <a:latin typeface="Bricolage Grotesque Bold"/>
                <a:ea typeface="Bricolage Grotesque Bold"/>
                <a:cs typeface="Bricolage Grotesque Bold"/>
                <a:sym typeface="Bricolage Grotesque Bold"/>
              </a:rPr>
              <a:t>gì</a:t>
            </a:r>
            <a:r>
              <a:rPr lang="en-US" sz="3500" b="1" dirty="0" smtClean="0">
                <a:solidFill>
                  <a:srgbClr val="1E293B"/>
                </a:solidFill>
                <a:latin typeface="Bricolage Grotesque Bold"/>
                <a:ea typeface="Bricolage Grotesque Bold"/>
                <a:cs typeface="Bricolage Grotesque Bold"/>
                <a:sym typeface="Bricolage Grotesque Bold"/>
              </a:rPr>
              <a:t>?</a:t>
            </a:r>
            <a:endParaRPr lang="en-US" sz="3500" b="1" dirty="0">
              <a:solidFill>
                <a:srgbClr val="1E293B"/>
              </a:solidFill>
              <a:latin typeface="Bricolage Grotesque Bold"/>
              <a:ea typeface="Bricolage Grotesque Bold"/>
              <a:cs typeface="Bricolage Grotesque Bold"/>
              <a:sym typeface="Bricolage Grotesque Bold"/>
            </a:endParaRPr>
          </a:p>
          <a:p>
            <a:pPr marL="755864" lvl="1" indent="-377932">
              <a:lnSpc>
                <a:spcPts val="7282"/>
              </a:lnSpc>
              <a:buFontTx/>
              <a:buAutoNum type="arabicPeriod"/>
            </a:pPr>
            <a:r>
              <a:rPr lang="en-US" sz="3500" b="1" dirty="0" smtClean="0">
                <a:solidFill>
                  <a:srgbClr val="1E293B"/>
                </a:solidFill>
                <a:latin typeface="Bricolage Grotesque Bold"/>
                <a:ea typeface="Bricolage Grotesque Bold"/>
                <a:cs typeface="Bricolage Grotesque Bold"/>
                <a:sym typeface="Bricolage Grotesque Bold"/>
              </a:rPr>
              <a:t>Functional </a:t>
            </a:r>
            <a:r>
              <a:rPr lang="en-US" sz="3500" b="1" dirty="0">
                <a:solidFill>
                  <a:srgbClr val="1E293B"/>
                </a:solidFill>
                <a:latin typeface="Bricolage Grotesque Bold"/>
                <a:ea typeface="Bricolage Grotesque Bold"/>
                <a:cs typeface="Bricolage Grotesque Bold"/>
                <a:sym typeface="Bricolage Grotesque Bold"/>
              </a:rPr>
              <a:t>Component </a:t>
            </a:r>
            <a:endParaRPr lang="en-US" sz="3500" b="1" dirty="0" smtClean="0">
              <a:solidFill>
                <a:srgbClr val="1E293B"/>
              </a:solidFill>
              <a:latin typeface="Bricolage Grotesque Bold"/>
              <a:ea typeface="Bricolage Grotesque Bold"/>
              <a:cs typeface="Bricolage Grotesque Bold"/>
              <a:sym typeface="Bricolage Grotesque Bold"/>
            </a:endParaRPr>
          </a:p>
          <a:p>
            <a:pPr marL="755864" lvl="1" indent="-377932">
              <a:lnSpc>
                <a:spcPts val="7282"/>
              </a:lnSpc>
              <a:buFontTx/>
              <a:buAutoNum type="arabicPeriod"/>
            </a:pPr>
            <a:r>
              <a:rPr lang="en-US" sz="3500" b="1" dirty="0" smtClean="0">
                <a:solidFill>
                  <a:srgbClr val="1E293B"/>
                </a:solidFill>
                <a:latin typeface="Bricolage Grotesque Bold"/>
                <a:ea typeface="Bricolage Grotesque Bold"/>
                <a:cs typeface="Bricolage Grotesque Bold"/>
                <a:sym typeface="Bricolage Grotesque Bold"/>
              </a:rPr>
              <a:t>Import </a:t>
            </a:r>
            <a:r>
              <a:rPr lang="en-US" sz="3500" b="1" dirty="0">
                <a:solidFill>
                  <a:srgbClr val="1E293B"/>
                </a:solidFill>
                <a:latin typeface="Bricolage Grotesque Bold"/>
                <a:ea typeface="Bricolage Grotesque Bold"/>
                <a:cs typeface="Bricolage Grotesque Bold"/>
                <a:sym typeface="Bricolage Grotesque Bold"/>
              </a:rPr>
              <a:t>&amp; </a:t>
            </a:r>
            <a:r>
              <a:rPr lang="en-US" sz="3500" b="1" dirty="0" smtClean="0">
                <a:solidFill>
                  <a:srgbClr val="1E293B"/>
                </a:solidFill>
                <a:latin typeface="Bricolage Grotesque Bold"/>
                <a:ea typeface="Bricolage Grotesque Bold"/>
                <a:cs typeface="Bricolage Grotesque Bold"/>
                <a:sym typeface="Bricolage Grotesque Bold"/>
              </a:rPr>
              <a:t>Export</a:t>
            </a:r>
          </a:p>
          <a:p>
            <a:pPr marL="755864" lvl="1" indent="-377932">
              <a:lnSpc>
                <a:spcPts val="7282"/>
              </a:lnSpc>
              <a:buAutoNum type="arabicPeriod"/>
            </a:pPr>
            <a:r>
              <a:rPr lang="en-US" sz="3500" b="1" dirty="0" err="1" smtClean="0">
                <a:solidFill>
                  <a:srgbClr val="1E293B"/>
                </a:solidFill>
                <a:latin typeface="Bricolage Grotesque Bold"/>
                <a:ea typeface="Bricolage Grotesque Bold"/>
                <a:cs typeface="Bricolage Grotesque Bold"/>
                <a:sym typeface="Bricolage Grotesque Bold"/>
              </a:rPr>
              <a:t>Bài</a:t>
            </a:r>
            <a:r>
              <a:rPr lang="en-US" sz="3500" b="1" dirty="0" smtClean="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tập</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thực</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hành</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tại</a:t>
            </a:r>
            <a:r>
              <a:rPr lang="en-US" sz="3500" b="1" dirty="0">
                <a:solidFill>
                  <a:srgbClr val="1E293B"/>
                </a:solidFill>
                <a:latin typeface="Bricolage Grotesque Bold"/>
                <a:ea typeface="Bricolage Grotesque Bold"/>
                <a:cs typeface="Bricolage Grotesque Bold"/>
                <a:sym typeface="Bricolage Grotesque Bold"/>
              </a:rPr>
              <a:t> </a:t>
            </a:r>
            <a:r>
              <a:rPr lang="en-US" sz="3500" b="1" dirty="0" err="1">
                <a:solidFill>
                  <a:srgbClr val="1E293B"/>
                </a:solidFill>
                <a:latin typeface="Bricolage Grotesque Bold"/>
                <a:ea typeface="Bricolage Grotesque Bold"/>
                <a:cs typeface="Bricolage Grotesque Bold"/>
                <a:sym typeface="Bricolage Grotesque Bold"/>
              </a:rPr>
              <a:t>lớp</a:t>
            </a:r>
            <a:endParaRPr lang="en-US" sz="3500" b="1" dirty="0" smtClean="0">
              <a:solidFill>
                <a:srgbClr val="1E293B"/>
              </a:solidFill>
              <a:latin typeface="Bricolage Grotesque Bold"/>
              <a:ea typeface="Bricolage Grotesque Bold"/>
              <a:cs typeface="Bricolage Grotesque Bold"/>
              <a:sym typeface="Bricolage Grotesque Bold"/>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2" name="TextBox 2"/>
          <p:cNvSpPr txBox="1"/>
          <p:nvPr/>
        </p:nvSpPr>
        <p:spPr>
          <a:xfrm>
            <a:off x="152400" y="1104900"/>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smtClean="0">
                <a:solidFill>
                  <a:srgbClr val="1E293B"/>
                </a:solidFill>
                <a:latin typeface="Bricolage Grotesque Bold"/>
                <a:ea typeface="Bricolage Grotesque Bold"/>
                <a:cs typeface="Bricolage Grotesque Bold"/>
                <a:sym typeface="Bricolage Grotesque Bold"/>
              </a:rPr>
              <a:t>Component </a:t>
            </a:r>
            <a:r>
              <a:rPr lang="en-US" sz="6999" b="1" dirty="0" err="1">
                <a:solidFill>
                  <a:srgbClr val="1E293B"/>
                </a:solidFill>
                <a:latin typeface="Bricolage Grotesque Bold"/>
                <a:ea typeface="Bricolage Grotesque Bold"/>
                <a:cs typeface="Bricolage Grotesque Bold"/>
                <a:sym typeface="Bricolage Grotesque Bold"/>
              </a:rPr>
              <a:t>là</a:t>
            </a:r>
            <a:r>
              <a:rPr lang="en-US" sz="6999" b="1" dirty="0">
                <a:solidFill>
                  <a:srgbClr val="1E293B"/>
                </a:solidFill>
                <a:latin typeface="Bricolage Grotesque Bold"/>
                <a:ea typeface="Bricolage Grotesque Bold"/>
                <a:cs typeface="Bricolage Grotesque Bold"/>
                <a:sym typeface="Bricolage Grotesque Bold"/>
              </a:rPr>
              <a:t> </a:t>
            </a:r>
            <a:r>
              <a:rPr lang="en-US" sz="6999" b="1" dirty="0" err="1">
                <a:solidFill>
                  <a:srgbClr val="1E293B"/>
                </a:solidFill>
                <a:latin typeface="Bricolage Grotesque Bold"/>
                <a:ea typeface="Bricolage Grotesque Bold"/>
                <a:cs typeface="Bricolage Grotesque Bold"/>
                <a:sym typeface="Bricolage Grotesque Bold"/>
              </a:rPr>
              <a:t>gì</a:t>
            </a:r>
            <a:r>
              <a:rPr lang="en-US" sz="6999" b="1" dirty="0">
                <a:solidFill>
                  <a:srgbClr val="1E293B"/>
                </a:solidFill>
                <a:latin typeface="Bricolage Grotesque Bold"/>
                <a:ea typeface="Bricolage Grotesque Bold"/>
                <a:cs typeface="Bricolage Grotesque Bold"/>
                <a:sym typeface="Bricolage Grotesque Bold"/>
              </a:rPr>
              <a:t>?</a:t>
            </a:r>
          </a:p>
        </p:txBody>
      </p:sp>
      <p:sp>
        <p:nvSpPr>
          <p:cNvPr id="3" name="TextBox 3"/>
          <p:cNvSpPr txBox="1"/>
          <p:nvPr/>
        </p:nvSpPr>
        <p:spPr>
          <a:xfrm>
            <a:off x="1295400" y="2781300"/>
            <a:ext cx="15838693" cy="2848152"/>
          </a:xfrm>
          <a:prstGeom prst="rect">
            <a:avLst/>
          </a:prstGeom>
        </p:spPr>
        <p:txBody>
          <a:bodyPr lIns="0" tIns="0" rIns="0" bIns="0" rtlCol="0" anchor="t">
            <a:spAutoFit/>
          </a:bodyPr>
          <a:lstStyle/>
          <a:p>
            <a:pPr marL="323850" lvl="1">
              <a:lnSpc>
                <a:spcPts val="4500"/>
              </a:lnSpc>
            </a:pPr>
            <a:r>
              <a:rPr lang="vi-VN" sz="3200" dirty="0"/>
              <a:t>Trong ReactJS, "component" (thành phần) là một khối mã có thể tái sử dụng, được dùng để xây dựng giao diện người dùng. </a:t>
            </a:r>
            <a:endParaRPr lang="en-US" sz="3200" dirty="0" smtClean="0"/>
          </a:p>
          <a:p>
            <a:pPr marL="323850" lvl="1">
              <a:lnSpc>
                <a:spcPts val="4500"/>
              </a:lnSpc>
            </a:pPr>
            <a:endParaRPr lang="en-US" sz="3200" dirty="0"/>
          </a:p>
          <a:p>
            <a:pPr marL="323850" lvl="1">
              <a:lnSpc>
                <a:spcPts val="4500"/>
              </a:lnSpc>
            </a:pPr>
            <a:r>
              <a:rPr lang="vi-VN" sz="3200" dirty="0" smtClean="0"/>
              <a:t>Mỗi </a:t>
            </a:r>
            <a:r>
              <a:rPr lang="vi-VN" sz="3200" dirty="0"/>
              <a:t>component có thể quản lý trạng thái (state) và nhận các thuộc tính (props), cho phép chúng ta tạo ra các phần của giao diện một cách linh hoạt và có tổ chức</a:t>
            </a:r>
            <a:r>
              <a:rPr lang="vi-VN" sz="3200" dirty="0" smtClean="0"/>
              <a:t>.</a:t>
            </a:r>
            <a:endParaRPr lang="en-US" sz="3200" dirty="0">
              <a:solidFill>
                <a:srgbClr val="1E293B"/>
              </a:solidFill>
              <a:latin typeface="Bricolage Grotesque Bold" panose="020B0604020202020204" charset="0"/>
              <a:ea typeface="Bricolage Grotesque"/>
              <a:cs typeface="Bricolage Grotesque"/>
              <a:sym typeface="Bricolage Grotesque"/>
            </a:endParaRPr>
          </a:p>
        </p:txBody>
      </p:sp>
      <p:pic>
        <p:nvPicPr>
          <p:cNvPr id="4" name="Picture 3"/>
          <p:cNvPicPr>
            <a:picLocks noChangeAspect="1"/>
          </p:cNvPicPr>
          <p:nvPr/>
        </p:nvPicPr>
        <p:blipFill>
          <a:blip r:embed="rId2"/>
          <a:stretch>
            <a:fillRect/>
          </a:stretch>
        </p:blipFill>
        <p:spPr>
          <a:xfrm>
            <a:off x="1981200" y="6972300"/>
            <a:ext cx="14861689" cy="1371600"/>
          </a:xfrm>
          <a:prstGeom prst="rect">
            <a:avLst/>
          </a:prstGeom>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3" name="TextBox 3"/>
          <p:cNvSpPr txBox="1"/>
          <p:nvPr/>
        </p:nvSpPr>
        <p:spPr>
          <a:xfrm>
            <a:off x="0" y="630238"/>
            <a:ext cx="18288000" cy="930275"/>
          </a:xfrm>
          <a:prstGeom prst="rect">
            <a:avLst/>
          </a:prstGeom>
        </p:spPr>
        <p:txBody>
          <a:bodyPr lIns="0" tIns="0" rIns="0" bIns="0" rtlCol="0" anchor="t">
            <a:spAutoFit/>
          </a:bodyPr>
          <a:lstStyle/>
          <a:p>
            <a:pPr marL="0" lvl="0" indent="0" algn="ctr">
              <a:lnSpc>
                <a:spcPts val="6999"/>
              </a:lnSpc>
              <a:spcBef>
                <a:spcPct val="0"/>
              </a:spcBef>
            </a:pPr>
            <a:r>
              <a:rPr lang="en-US" sz="6999" b="1" dirty="0" err="1">
                <a:solidFill>
                  <a:srgbClr val="1E293B"/>
                </a:solidFill>
                <a:latin typeface="Bricolage Grotesque Bold"/>
                <a:ea typeface="Bricolage Grotesque Bold"/>
                <a:cs typeface="Bricolage Grotesque Bold"/>
                <a:sym typeface="Bricolage Grotesque Bold"/>
              </a:rPr>
              <a:t>Quy</a:t>
            </a:r>
            <a:r>
              <a:rPr lang="en-US" sz="6999" b="1" dirty="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tắc</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đặt</a:t>
            </a:r>
            <a:r>
              <a:rPr lang="en-US" sz="6999" b="1" dirty="0" smtClean="0">
                <a:solidFill>
                  <a:srgbClr val="1E293B"/>
                </a:solidFill>
                <a:latin typeface="Bricolage Grotesque Bold"/>
                <a:ea typeface="Bricolage Grotesque Bold"/>
                <a:cs typeface="Bricolage Grotesque Bold"/>
                <a:sym typeface="Bricolage Grotesque Bold"/>
              </a:rPr>
              <a:t> </a:t>
            </a:r>
            <a:r>
              <a:rPr lang="en-US" sz="6999" b="1" dirty="0" err="1" smtClean="0">
                <a:solidFill>
                  <a:srgbClr val="1E293B"/>
                </a:solidFill>
                <a:latin typeface="Bricolage Grotesque Bold"/>
                <a:ea typeface="Bricolage Grotesque Bold"/>
                <a:cs typeface="Bricolage Grotesque Bold"/>
                <a:sym typeface="Bricolage Grotesque Bold"/>
              </a:rPr>
              <a:t>tên</a:t>
            </a:r>
            <a:endParaRPr lang="en-US" sz="6999" b="1" dirty="0">
              <a:solidFill>
                <a:srgbClr val="1E293B"/>
              </a:solidFill>
              <a:latin typeface="Bricolage Grotesque Bold"/>
              <a:ea typeface="Bricolage Grotesque Bold"/>
              <a:cs typeface="Bricolage Grotesque Bold"/>
              <a:sym typeface="Bricolage Grotesque Bold"/>
            </a:endParaRPr>
          </a:p>
        </p:txBody>
      </p:sp>
      <p:sp>
        <p:nvSpPr>
          <p:cNvPr id="4" name="TextBox 4"/>
          <p:cNvSpPr txBox="1"/>
          <p:nvPr/>
        </p:nvSpPr>
        <p:spPr>
          <a:xfrm>
            <a:off x="3043897" y="2134288"/>
            <a:ext cx="12273022" cy="2885405"/>
          </a:xfrm>
          <a:prstGeom prst="rect">
            <a:avLst/>
          </a:prstGeom>
        </p:spPr>
        <p:txBody>
          <a:bodyPr wrap="square" lIns="0" tIns="0" rIns="0" bIns="0" rtlCol="0" anchor="t">
            <a:spAutoFit/>
          </a:bodyPr>
          <a:lstStyle/>
          <a:p>
            <a:pPr marL="323850" lvl="1">
              <a:lnSpc>
                <a:spcPts val="4500"/>
              </a:lnSpc>
            </a:pPr>
            <a:r>
              <a:rPr lang="vi-VN" sz="30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Pascal Case: Tên của các component thường được đặt theo quy tắc Pascal Case, tức là mỗi từ trong tên đều bắt đầu bằng chữ hoa.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Đặt</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tên</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rõ</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ràng</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chức</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năng</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của</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component</a:t>
            </a:r>
          </a:p>
          <a:p>
            <a:pPr marL="323850" lvl="1">
              <a:lnSpc>
                <a:spcPts val="4500"/>
              </a:lnSpc>
            </a:pPr>
            <a:endParaRPr lang="en-US" sz="30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endParaRPr>
          </a:p>
          <a:p>
            <a:pPr marL="323850" lvl="1">
              <a:lnSpc>
                <a:spcPts val="4500"/>
              </a:lnSpc>
            </a:pPr>
            <a:r>
              <a:rPr lang="vi-VN"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Ví </a:t>
            </a:r>
            <a:r>
              <a:rPr lang="vi-VN" sz="30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dụ: MyComponent, UserProfile, ProductList.</a:t>
            </a:r>
            <a:endParaRPr lang="en-US" sz="30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endParaRPr>
          </a:p>
        </p:txBody>
      </p:sp>
      <p:pic>
        <p:nvPicPr>
          <p:cNvPr id="9" name="Picture 8"/>
          <p:cNvPicPr>
            <a:picLocks noChangeAspect="1"/>
          </p:cNvPicPr>
          <p:nvPr/>
        </p:nvPicPr>
        <p:blipFill>
          <a:blip r:embed="rId2"/>
          <a:stretch>
            <a:fillRect/>
          </a:stretch>
        </p:blipFill>
        <p:spPr>
          <a:xfrm>
            <a:off x="1183463" y="6515100"/>
            <a:ext cx="4106594" cy="2362200"/>
          </a:xfrm>
          <a:prstGeom prst="rect">
            <a:avLst/>
          </a:prstGeom>
        </p:spPr>
      </p:pic>
      <p:pic>
        <p:nvPicPr>
          <p:cNvPr id="10" name="Picture 9"/>
          <p:cNvPicPr>
            <a:picLocks noChangeAspect="1"/>
          </p:cNvPicPr>
          <p:nvPr/>
        </p:nvPicPr>
        <p:blipFill>
          <a:blip r:embed="rId3"/>
          <a:stretch>
            <a:fillRect/>
          </a:stretch>
        </p:blipFill>
        <p:spPr>
          <a:xfrm>
            <a:off x="6629400" y="6515100"/>
            <a:ext cx="4115679" cy="2362200"/>
          </a:xfrm>
          <a:prstGeom prst="rect">
            <a:avLst/>
          </a:prstGeom>
        </p:spPr>
      </p:pic>
      <p:pic>
        <p:nvPicPr>
          <p:cNvPr id="12" name="Picture 11"/>
          <p:cNvPicPr>
            <a:picLocks noChangeAspect="1"/>
          </p:cNvPicPr>
          <p:nvPr/>
        </p:nvPicPr>
        <p:blipFill>
          <a:blip r:embed="rId4"/>
          <a:stretch>
            <a:fillRect/>
          </a:stretch>
        </p:blipFill>
        <p:spPr>
          <a:xfrm>
            <a:off x="11811000" y="6376851"/>
            <a:ext cx="5619164" cy="2514600"/>
          </a:xfrm>
          <a:prstGeom prst="rect">
            <a:avLst/>
          </a:prstGeom>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3" name="TextBox 3"/>
          <p:cNvSpPr txBox="1"/>
          <p:nvPr/>
        </p:nvSpPr>
        <p:spPr>
          <a:xfrm>
            <a:off x="666750" y="800100"/>
            <a:ext cx="16954500" cy="930275"/>
          </a:xfrm>
          <a:prstGeom prst="rect">
            <a:avLst/>
          </a:prstGeom>
        </p:spPr>
        <p:txBody>
          <a:bodyPr lIns="0" tIns="0" rIns="0" bIns="0" rtlCol="0" anchor="t">
            <a:spAutoFit/>
          </a:bodyPr>
          <a:lstStyle/>
          <a:p>
            <a:pPr lvl="0">
              <a:lnSpc>
                <a:spcPts val="6999"/>
              </a:lnSpc>
              <a:spcBef>
                <a:spcPct val="0"/>
              </a:spcBef>
            </a:pPr>
            <a:r>
              <a:rPr lang="en-US" sz="6999" b="1" spc="-209" dirty="0">
                <a:solidFill>
                  <a:srgbClr val="1E293B"/>
                </a:solidFill>
                <a:latin typeface="Bricolage Grotesque Semi-Bold"/>
                <a:ea typeface="Bricolage Grotesque Semi-Bold"/>
                <a:cs typeface="Bricolage Grotesque Semi-Bold"/>
                <a:sym typeface="Bricolage Grotesque Semi-Bold"/>
              </a:rPr>
              <a:t>Import &amp; Export</a:t>
            </a:r>
            <a:endParaRPr lang="en-US" sz="6999" b="1" u="none" strike="noStrike" spc="-209" dirty="0">
              <a:solidFill>
                <a:srgbClr val="1E293B"/>
              </a:solidFill>
              <a:latin typeface="Bricolage Grotesque Semi-Bold"/>
              <a:ea typeface="Bricolage Grotesque Semi-Bold"/>
              <a:cs typeface="Bricolage Grotesque Semi-Bold"/>
              <a:sym typeface="Bricolage Grotesque Semi-Bold"/>
            </a:endParaRPr>
          </a:p>
        </p:txBody>
      </p:sp>
      <p:pic>
        <p:nvPicPr>
          <p:cNvPr id="6" name="Picture 5"/>
          <p:cNvPicPr>
            <a:picLocks noChangeAspect="1"/>
          </p:cNvPicPr>
          <p:nvPr/>
        </p:nvPicPr>
        <p:blipFill>
          <a:blip r:embed="rId2"/>
          <a:stretch>
            <a:fillRect/>
          </a:stretch>
        </p:blipFill>
        <p:spPr>
          <a:xfrm>
            <a:off x="3962400" y="3314700"/>
            <a:ext cx="10896600" cy="497911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6750" y="800100"/>
            <a:ext cx="16954500" cy="846386"/>
          </a:xfrm>
          <a:prstGeom prst="rect">
            <a:avLst/>
          </a:prstGeom>
        </p:spPr>
        <p:txBody>
          <a:bodyPr lIns="0" tIns="0" rIns="0" bIns="0" rtlCol="0" anchor="t">
            <a:spAutoFit/>
          </a:bodyPr>
          <a:lstStyle/>
          <a:p>
            <a:pPr lvl="0" algn="ctr">
              <a:lnSpc>
                <a:spcPts val="6999"/>
              </a:lnSpc>
              <a:spcBef>
                <a:spcPct val="0"/>
              </a:spcBef>
            </a:pPr>
            <a:r>
              <a:rPr lang="en-US" sz="5000" b="1" spc="-209" dirty="0" smtClean="0">
                <a:solidFill>
                  <a:srgbClr val="1E293B"/>
                </a:solidFill>
                <a:latin typeface="Bricolage Grotesque Semi-Bold"/>
                <a:ea typeface="Bricolage Grotesque Semi-Bold"/>
                <a:cs typeface="Bricolage Grotesque Semi-Bold"/>
                <a:sym typeface="Bricolage Grotesque Semi-Bold"/>
              </a:rPr>
              <a:t>Many component</a:t>
            </a:r>
            <a:endParaRPr lang="en-US" sz="5000" b="1" u="none" strike="noStrike" spc="-209" dirty="0">
              <a:solidFill>
                <a:srgbClr val="1E293B"/>
              </a:solidFill>
              <a:latin typeface="Bricolage Grotesque Semi-Bold"/>
              <a:ea typeface="Bricolage Grotesque Semi-Bold"/>
              <a:cs typeface="Bricolage Grotesque Semi-Bold"/>
              <a:sym typeface="Bricolage Grotesque Semi-Bold"/>
            </a:endParaRPr>
          </a:p>
        </p:txBody>
      </p:sp>
      <p:pic>
        <p:nvPicPr>
          <p:cNvPr id="2" name="Picture 1"/>
          <p:cNvPicPr>
            <a:picLocks noChangeAspect="1"/>
          </p:cNvPicPr>
          <p:nvPr/>
        </p:nvPicPr>
        <p:blipFill>
          <a:blip r:embed="rId2"/>
          <a:stretch>
            <a:fillRect/>
          </a:stretch>
        </p:blipFill>
        <p:spPr>
          <a:xfrm>
            <a:off x="4191000" y="1730375"/>
            <a:ext cx="10191750" cy="8210550"/>
          </a:xfrm>
          <a:prstGeom prst="rect">
            <a:avLst/>
          </a:prstGeom>
        </p:spPr>
      </p:pic>
    </p:spTree>
    <p:extLst>
      <p:ext uri="{BB962C8B-B14F-4D97-AF65-F5344CB8AC3E}">
        <p14:creationId xmlns:p14="http://schemas.microsoft.com/office/powerpoint/2010/main" val="44031093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7F7"/>
        </a:solidFill>
        <a:effectLst/>
      </p:bgPr>
    </p:bg>
    <p:spTree>
      <p:nvGrpSpPr>
        <p:cNvPr id="1" name=""/>
        <p:cNvGrpSpPr/>
        <p:nvPr/>
      </p:nvGrpSpPr>
      <p:grpSpPr>
        <a:xfrm>
          <a:off x="0" y="0"/>
          <a:ext cx="0" cy="0"/>
          <a:chOff x="0" y="0"/>
          <a:chExt cx="0" cy="0"/>
        </a:xfrm>
      </p:grpSpPr>
      <p:sp>
        <p:nvSpPr>
          <p:cNvPr id="7" name="TextBox 7"/>
          <p:cNvSpPr txBox="1"/>
          <p:nvPr/>
        </p:nvSpPr>
        <p:spPr>
          <a:xfrm>
            <a:off x="12753947" y="3009900"/>
            <a:ext cx="6172200" cy="2631490"/>
          </a:xfrm>
          <a:prstGeom prst="rect">
            <a:avLst/>
          </a:prstGeom>
        </p:spPr>
        <p:txBody>
          <a:bodyPr wrap="square" lIns="0" tIns="0" rIns="0" bIns="0" rtlCol="0" anchor="t">
            <a:spAutoFit/>
          </a:bodyPr>
          <a:lstStyle/>
          <a:p>
            <a:pPr marL="0" lvl="0" indent="0" algn="l">
              <a:lnSpc>
                <a:spcPct val="150000"/>
              </a:lnSpc>
              <a:spcBef>
                <a:spcPct val="0"/>
              </a:spcBef>
            </a:pPr>
            <a:r>
              <a:rPr lang="en-US" sz="6000" b="1" u="none" strike="noStrike" dirty="0" err="1" smtClean="0">
                <a:solidFill>
                  <a:srgbClr val="1E293B"/>
                </a:solidFill>
                <a:latin typeface="Bricolage Grotesque Bold"/>
                <a:ea typeface="Bricolage Grotesque Bold"/>
                <a:cs typeface="Bricolage Grotesque Bold"/>
                <a:sym typeface="Bricolage Grotesque Bold"/>
              </a:rPr>
              <a:t>Bài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tập</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thực</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hành</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tại</a:t>
            </a:r>
            <a:r>
              <a:rPr lang="en-US" sz="6000" b="1" u="none" strike="noStrike" dirty="0" smtClean="0">
                <a:solidFill>
                  <a:srgbClr val="1E293B"/>
                </a:solidFill>
                <a:latin typeface="Bricolage Grotesque Bold"/>
                <a:ea typeface="Bricolage Grotesque Bold"/>
                <a:cs typeface="Bricolage Grotesque Bold"/>
                <a:sym typeface="Bricolage Grotesque Bold"/>
              </a:rPr>
              <a:t> </a:t>
            </a:r>
            <a:r>
              <a:rPr lang="en-US" sz="6000" b="1" u="none" strike="noStrike" dirty="0" err="1" smtClean="0">
                <a:solidFill>
                  <a:srgbClr val="1E293B"/>
                </a:solidFill>
                <a:latin typeface="Bricolage Grotesque Bold"/>
                <a:ea typeface="Bricolage Grotesque Bold"/>
                <a:cs typeface="Bricolage Grotesque Bold"/>
                <a:sym typeface="Bricolage Grotesque Bold"/>
              </a:rPr>
              <a:t>lớp</a:t>
            </a:r>
            <a:endParaRPr lang="en-US" sz="6000" b="1" u="none" strike="noStrike" dirty="0">
              <a:solidFill>
                <a:srgbClr val="1E293B"/>
              </a:solidFill>
              <a:latin typeface="Bricolage Grotesque Bold"/>
              <a:ea typeface="Bricolage Grotesque Bold"/>
              <a:cs typeface="Bricolage Grotesque Bold"/>
              <a:sym typeface="Bricolage Grotesque Bold"/>
            </a:endParaRPr>
          </a:p>
        </p:txBody>
      </p:sp>
      <p:grpSp>
        <p:nvGrpSpPr>
          <p:cNvPr id="14" name="Group 14"/>
          <p:cNvGrpSpPr/>
          <p:nvPr/>
        </p:nvGrpSpPr>
        <p:grpSpPr>
          <a:xfrm>
            <a:off x="15493924" y="6934200"/>
            <a:ext cx="3467057" cy="4305236"/>
            <a:chOff x="0" y="0"/>
            <a:chExt cx="4622743" cy="5740315"/>
          </a:xfrm>
        </p:grpSpPr>
        <p:sp>
          <p:nvSpPr>
            <p:cNvPr id="15" name="Freeform 15"/>
            <p:cNvSpPr/>
            <p:nvPr/>
          </p:nvSpPr>
          <p:spPr>
            <a:xfrm rot="-2700000">
              <a:off x="-124706" y="1478676"/>
              <a:ext cx="4872155" cy="1665391"/>
            </a:xfrm>
            <a:custGeom>
              <a:avLst/>
              <a:gdLst/>
              <a:ahLst/>
              <a:cxnLst/>
              <a:rect l="l" t="t" r="r" b="b"/>
              <a:pathLst>
                <a:path w="4872155" h="1665391">
                  <a:moveTo>
                    <a:pt x="0" y="0"/>
                  </a:moveTo>
                  <a:lnTo>
                    <a:pt x="4872155" y="0"/>
                  </a:lnTo>
                  <a:lnTo>
                    <a:pt x="4872155" y="1665391"/>
                  </a:lnTo>
                  <a:lnTo>
                    <a:pt x="0" y="1665391"/>
                  </a:lnTo>
                  <a:lnTo>
                    <a:pt x="0" y="0"/>
                  </a:lnTo>
                  <a:close/>
                </a:path>
              </a:pathLst>
            </a:custGeom>
            <a:blipFill>
              <a:blip r:embed="rId2">
                <a:extLst>
                  <a:ext uri="{96DAC541-7B7A-43D3-8B79-37D633B846F1}">
                    <asvg:svgBlip xmlns:asvg="http://schemas.microsoft.com/office/drawing/2016/SVG/main" xmlns="" r:embed="rId4"/>
                  </a:ext>
                </a:extLst>
              </a:blip>
              <a:stretch>
                <a:fillRect/>
              </a:stretch>
            </a:blipFill>
          </p:spPr>
        </p:sp>
        <p:grpSp>
          <p:nvGrpSpPr>
            <p:cNvPr id="16" name="Group 16"/>
            <p:cNvGrpSpPr/>
            <p:nvPr/>
          </p:nvGrpSpPr>
          <p:grpSpPr>
            <a:xfrm rot="8100000">
              <a:off x="-106337" y="2577879"/>
              <a:ext cx="4835418" cy="1702128"/>
              <a:chOff x="0" y="0"/>
              <a:chExt cx="954623" cy="336039"/>
            </a:xfrm>
          </p:grpSpPr>
          <p:sp>
            <p:nvSpPr>
              <p:cNvPr id="17" name="Freeform 17"/>
              <p:cNvSpPr/>
              <p:nvPr/>
            </p:nvSpPr>
            <p:spPr>
              <a:xfrm>
                <a:off x="0" y="0"/>
                <a:ext cx="954623" cy="336039"/>
              </a:xfrm>
              <a:custGeom>
                <a:avLst/>
                <a:gdLst/>
                <a:ahLst/>
                <a:cxnLst/>
                <a:rect l="l" t="t" r="r" b="b"/>
                <a:pathLst>
                  <a:path w="954623" h="336039">
                    <a:moveTo>
                      <a:pt x="751423" y="0"/>
                    </a:moveTo>
                    <a:cubicBezTo>
                      <a:pt x="863647" y="0"/>
                      <a:pt x="954623" y="75225"/>
                      <a:pt x="954623" y="168020"/>
                    </a:cubicBezTo>
                    <a:cubicBezTo>
                      <a:pt x="954623" y="260814"/>
                      <a:pt x="863647" y="336039"/>
                      <a:pt x="751423" y="336039"/>
                    </a:cubicBezTo>
                    <a:lnTo>
                      <a:pt x="203200" y="336039"/>
                    </a:lnTo>
                    <a:cubicBezTo>
                      <a:pt x="90976" y="336039"/>
                      <a:pt x="0" y="260814"/>
                      <a:pt x="0" y="168020"/>
                    </a:cubicBezTo>
                    <a:cubicBezTo>
                      <a:pt x="0" y="75225"/>
                      <a:pt x="90976" y="0"/>
                      <a:pt x="203200" y="0"/>
                    </a:cubicBezTo>
                    <a:close/>
                  </a:path>
                </a:pathLst>
              </a:custGeom>
              <a:solidFill>
                <a:srgbClr val="1E293B"/>
              </a:solidFill>
              <a:ln cap="sq">
                <a:noFill/>
                <a:prstDash val="solid"/>
                <a:miter/>
              </a:ln>
            </p:spPr>
          </p:sp>
          <p:sp>
            <p:nvSpPr>
              <p:cNvPr id="18" name="TextBox 18"/>
              <p:cNvSpPr txBox="1"/>
              <p:nvPr/>
            </p:nvSpPr>
            <p:spPr>
              <a:xfrm>
                <a:off x="0" y="-19050"/>
                <a:ext cx="954623" cy="355089"/>
              </a:xfrm>
              <a:prstGeom prst="rect">
                <a:avLst/>
              </a:prstGeom>
            </p:spPr>
            <p:txBody>
              <a:bodyPr lIns="18752" tIns="18752" rIns="18752" bIns="18752" rtlCol="0" anchor="ctr"/>
              <a:lstStyle/>
              <a:p>
                <a:pPr marL="0" lvl="0" indent="0" algn="ctr">
                  <a:lnSpc>
                    <a:spcPts val="755"/>
                  </a:lnSpc>
                  <a:spcBef>
                    <a:spcPct val="0"/>
                  </a:spcBef>
                </a:pPr>
                <a:endParaRPr/>
              </a:p>
            </p:txBody>
          </p:sp>
        </p:grpSp>
      </p:grpSp>
      <p:pic>
        <p:nvPicPr>
          <p:cNvPr id="3" name="Picture 2"/>
          <p:cNvPicPr>
            <a:picLocks noChangeAspect="1"/>
          </p:cNvPicPr>
          <p:nvPr/>
        </p:nvPicPr>
        <p:blipFill>
          <a:blip r:embed="rId5"/>
          <a:stretch>
            <a:fillRect/>
          </a:stretch>
        </p:blipFill>
        <p:spPr>
          <a:xfrm>
            <a:off x="304800" y="190500"/>
            <a:ext cx="11353800" cy="986634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6750" y="800100"/>
            <a:ext cx="16954500" cy="930275"/>
          </a:xfrm>
          <a:prstGeom prst="rect">
            <a:avLst/>
          </a:prstGeom>
        </p:spPr>
        <p:txBody>
          <a:bodyPr lIns="0" tIns="0" rIns="0" bIns="0" rtlCol="0" anchor="t">
            <a:spAutoFit/>
          </a:bodyPr>
          <a:lstStyle/>
          <a:p>
            <a:pPr lvl="0">
              <a:lnSpc>
                <a:spcPts val="6999"/>
              </a:lnSpc>
              <a:spcBef>
                <a:spcPct val="0"/>
              </a:spcBef>
            </a:pPr>
            <a:r>
              <a:rPr lang="en-US" sz="6999" b="1" spc="-209" dirty="0" err="1" smtClean="0">
                <a:solidFill>
                  <a:srgbClr val="1E293B"/>
                </a:solidFill>
                <a:latin typeface="Bricolage Grotesque Semi-Bold"/>
                <a:ea typeface="Bricolage Grotesque Semi-Bold"/>
                <a:cs typeface="Bricolage Grotesque Semi-Bold"/>
                <a:sym typeface="Bricolage Grotesque Semi-Bold"/>
              </a:rPr>
              <a:t>Bài</a:t>
            </a:r>
            <a:r>
              <a:rPr lang="en-US" sz="6999" b="1" spc="-209" dirty="0" smtClean="0">
                <a:solidFill>
                  <a:srgbClr val="1E293B"/>
                </a:solidFill>
                <a:latin typeface="Bricolage Grotesque Semi-Bold"/>
                <a:ea typeface="Bricolage Grotesque Semi-Bold"/>
                <a:cs typeface="Bricolage Grotesque Semi-Bold"/>
                <a:sym typeface="Bricolage Grotesque Semi-Bold"/>
              </a:rPr>
              <a:t> 1 Profile Card</a:t>
            </a:r>
            <a:endParaRPr lang="en-US" sz="6999" b="1" u="none" strike="noStrike" spc="-209" dirty="0">
              <a:solidFill>
                <a:srgbClr val="1E293B"/>
              </a:solidFill>
              <a:latin typeface="Bricolage Grotesque Semi-Bold"/>
              <a:ea typeface="Bricolage Grotesque Semi-Bold"/>
              <a:cs typeface="Bricolage Grotesque Semi-Bold"/>
              <a:sym typeface="Bricolage Grotesque Semi-Bold"/>
            </a:endParaRPr>
          </a:p>
        </p:txBody>
      </p:sp>
      <p:pic>
        <p:nvPicPr>
          <p:cNvPr id="2" name="Picture 1"/>
          <p:cNvPicPr>
            <a:picLocks noChangeAspect="1"/>
          </p:cNvPicPr>
          <p:nvPr/>
        </p:nvPicPr>
        <p:blipFill>
          <a:blip r:embed="rId2"/>
          <a:stretch>
            <a:fillRect/>
          </a:stretch>
        </p:blipFill>
        <p:spPr>
          <a:xfrm>
            <a:off x="5105400" y="1943100"/>
            <a:ext cx="12727176" cy="6858957"/>
          </a:xfrm>
          <a:prstGeom prst="rect">
            <a:avLst/>
          </a:prstGeom>
        </p:spPr>
      </p:pic>
      <p:pic>
        <p:nvPicPr>
          <p:cNvPr id="4" name="Picture 3"/>
          <p:cNvPicPr>
            <a:picLocks noChangeAspect="1"/>
          </p:cNvPicPr>
          <p:nvPr/>
        </p:nvPicPr>
        <p:blipFill>
          <a:blip r:embed="rId3"/>
          <a:stretch>
            <a:fillRect/>
          </a:stretch>
        </p:blipFill>
        <p:spPr>
          <a:xfrm>
            <a:off x="533400" y="6515100"/>
            <a:ext cx="5213325" cy="3263406"/>
          </a:xfrm>
          <a:prstGeom prst="rect">
            <a:avLst/>
          </a:prstGeom>
        </p:spPr>
      </p:pic>
    </p:spTree>
    <p:extLst>
      <p:ext uri="{BB962C8B-B14F-4D97-AF65-F5344CB8AC3E}">
        <p14:creationId xmlns:p14="http://schemas.microsoft.com/office/powerpoint/2010/main" val="2722059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6750" y="800100"/>
            <a:ext cx="16954500" cy="930275"/>
          </a:xfrm>
          <a:prstGeom prst="rect">
            <a:avLst/>
          </a:prstGeom>
        </p:spPr>
        <p:txBody>
          <a:bodyPr lIns="0" tIns="0" rIns="0" bIns="0" rtlCol="0" anchor="t">
            <a:spAutoFit/>
          </a:bodyPr>
          <a:lstStyle/>
          <a:p>
            <a:pPr lvl="0">
              <a:lnSpc>
                <a:spcPts val="6999"/>
              </a:lnSpc>
              <a:spcBef>
                <a:spcPct val="0"/>
              </a:spcBef>
            </a:pPr>
            <a:r>
              <a:rPr lang="en-US" sz="6999" b="1" spc="-209" dirty="0" err="1" smtClean="0">
                <a:solidFill>
                  <a:srgbClr val="1E293B"/>
                </a:solidFill>
                <a:latin typeface="Bricolage Grotesque Semi-Bold"/>
                <a:ea typeface="Bricolage Grotesque Semi-Bold"/>
                <a:cs typeface="Bricolage Grotesque Semi-Bold"/>
                <a:sym typeface="Bricolage Grotesque Semi-Bold"/>
              </a:rPr>
              <a:t>Bài</a:t>
            </a:r>
            <a:r>
              <a:rPr lang="en-US" sz="6999" b="1" spc="-209" dirty="0" smtClean="0">
                <a:solidFill>
                  <a:srgbClr val="1E293B"/>
                </a:solidFill>
                <a:latin typeface="Bricolage Grotesque Semi-Bold"/>
                <a:ea typeface="Bricolage Grotesque Semi-Bold"/>
                <a:cs typeface="Bricolage Grotesque Semi-Bold"/>
                <a:sym typeface="Bricolage Grotesque Semi-Bold"/>
              </a:rPr>
              <a:t> News</a:t>
            </a:r>
            <a:endParaRPr lang="en-US" sz="6999" b="1" u="none" strike="noStrike" spc="-209" dirty="0">
              <a:solidFill>
                <a:srgbClr val="1E293B"/>
              </a:solidFill>
              <a:latin typeface="Bricolage Grotesque Semi-Bold"/>
              <a:ea typeface="Bricolage Grotesque Semi-Bold"/>
              <a:cs typeface="Bricolage Grotesque Semi-Bold"/>
              <a:sym typeface="Bricolage Grotesque Semi-Bold"/>
            </a:endParaRPr>
          </a:p>
        </p:txBody>
      </p:sp>
      <p:pic>
        <p:nvPicPr>
          <p:cNvPr id="4" name="Picture 3"/>
          <p:cNvPicPr>
            <a:picLocks noChangeAspect="1"/>
          </p:cNvPicPr>
          <p:nvPr/>
        </p:nvPicPr>
        <p:blipFill>
          <a:blip r:embed="rId2"/>
          <a:stretch>
            <a:fillRect/>
          </a:stretch>
        </p:blipFill>
        <p:spPr>
          <a:xfrm>
            <a:off x="9448800" y="800100"/>
            <a:ext cx="7963916" cy="8401723"/>
          </a:xfrm>
          <a:prstGeom prst="rect">
            <a:avLst/>
          </a:prstGeom>
        </p:spPr>
      </p:pic>
      <p:pic>
        <p:nvPicPr>
          <p:cNvPr id="5" name="Picture 4"/>
          <p:cNvPicPr>
            <a:picLocks noChangeAspect="1"/>
          </p:cNvPicPr>
          <p:nvPr/>
        </p:nvPicPr>
        <p:blipFill>
          <a:blip r:embed="rId3"/>
          <a:stretch>
            <a:fillRect/>
          </a:stretch>
        </p:blipFill>
        <p:spPr>
          <a:xfrm>
            <a:off x="914400" y="5991626"/>
            <a:ext cx="7366686" cy="3200400"/>
          </a:xfrm>
          <a:prstGeom prst="rect">
            <a:avLst/>
          </a:prstGeom>
        </p:spPr>
      </p:pic>
    </p:spTree>
    <p:extLst>
      <p:ext uri="{BB962C8B-B14F-4D97-AF65-F5344CB8AC3E}">
        <p14:creationId xmlns:p14="http://schemas.microsoft.com/office/powerpoint/2010/main" val="2239946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6750" y="800100"/>
            <a:ext cx="16954500" cy="930275"/>
          </a:xfrm>
          <a:prstGeom prst="rect">
            <a:avLst/>
          </a:prstGeom>
        </p:spPr>
        <p:txBody>
          <a:bodyPr lIns="0" tIns="0" rIns="0" bIns="0" rtlCol="0" anchor="t">
            <a:spAutoFit/>
          </a:bodyPr>
          <a:lstStyle/>
          <a:p>
            <a:pPr lvl="0">
              <a:lnSpc>
                <a:spcPts val="6999"/>
              </a:lnSpc>
              <a:spcBef>
                <a:spcPct val="0"/>
              </a:spcBef>
            </a:pPr>
            <a:r>
              <a:rPr lang="en-US" sz="6999" b="1" spc="-209" dirty="0" err="1" smtClean="0">
                <a:solidFill>
                  <a:srgbClr val="1E293B"/>
                </a:solidFill>
                <a:latin typeface="Bricolage Grotesque Semi-Bold"/>
                <a:ea typeface="Bricolage Grotesque Semi-Bold"/>
                <a:cs typeface="Bricolage Grotesque Semi-Bold"/>
                <a:sym typeface="Bricolage Grotesque Semi-Bold"/>
              </a:rPr>
              <a:t>Bài</a:t>
            </a:r>
            <a:r>
              <a:rPr lang="en-US" sz="6999" b="1" spc="-209" dirty="0" smtClean="0">
                <a:solidFill>
                  <a:srgbClr val="1E293B"/>
                </a:solidFill>
                <a:latin typeface="Bricolage Grotesque Semi-Bold"/>
                <a:ea typeface="Bricolage Grotesque Semi-Bold"/>
                <a:cs typeface="Bricolage Grotesque Semi-Bold"/>
                <a:sym typeface="Bricolage Grotesque Semi-Bold"/>
              </a:rPr>
              <a:t> </a:t>
            </a:r>
            <a:r>
              <a:rPr lang="en-US" sz="6999" b="1" spc="-209" dirty="0" err="1" smtClean="0">
                <a:solidFill>
                  <a:srgbClr val="1E293B"/>
                </a:solidFill>
                <a:latin typeface="Bricolage Grotesque Semi-Bold"/>
                <a:ea typeface="Bricolage Grotesque Semi-Bold"/>
                <a:cs typeface="Bricolage Grotesque Semi-Bold"/>
                <a:sym typeface="Bricolage Grotesque Semi-Bold"/>
              </a:rPr>
              <a:t>Lịch</a:t>
            </a:r>
            <a:r>
              <a:rPr lang="en-US" sz="6999" b="1" spc="-209" dirty="0" smtClean="0">
                <a:solidFill>
                  <a:srgbClr val="1E293B"/>
                </a:solidFill>
                <a:latin typeface="Bricolage Grotesque Semi-Bold"/>
                <a:ea typeface="Bricolage Grotesque Semi-Bold"/>
                <a:cs typeface="Bricolage Grotesque Semi-Bold"/>
                <a:sym typeface="Bricolage Grotesque Semi-Bold"/>
              </a:rPr>
              <a:t> </a:t>
            </a:r>
            <a:r>
              <a:rPr lang="en-US" sz="6999" b="1" spc="-209" dirty="0" err="1" smtClean="0">
                <a:solidFill>
                  <a:srgbClr val="1E293B"/>
                </a:solidFill>
                <a:latin typeface="Bricolage Grotesque Semi-Bold"/>
                <a:ea typeface="Bricolage Grotesque Semi-Bold"/>
                <a:cs typeface="Bricolage Grotesque Semi-Bold"/>
                <a:sym typeface="Bricolage Grotesque Semi-Bold"/>
              </a:rPr>
              <a:t>đá</a:t>
            </a:r>
            <a:r>
              <a:rPr lang="en-US" sz="6999" b="1" spc="-209" dirty="0" smtClean="0">
                <a:solidFill>
                  <a:srgbClr val="1E293B"/>
                </a:solidFill>
                <a:latin typeface="Bricolage Grotesque Semi-Bold"/>
                <a:ea typeface="Bricolage Grotesque Semi-Bold"/>
                <a:cs typeface="Bricolage Grotesque Semi-Bold"/>
                <a:sym typeface="Bricolage Grotesque Semi-Bold"/>
              </a:rPr>
              <a:t> </a:t>
            </a:r>
            <a:r>
              <a:rPr lang="en-US" sz="6999" b="1" spc="-209" dirty="0" err="1" smtClean="0">
                <a:solidFill>
                  <a:srgbClr val="1E293B"/>
                </a:solidFill>
                <a:latin typeface="Bricolage Grotesque Semi-Bold"/>
                <a:ea typeface="Bricolage Grotesque Semi-Bold"/>
                <a:cs typeface="Bricolage Grotesque Semi-Bold"/>
                <a:sym typeface="Bricolage Grotesque Semi-Bold"/>
              </a:rPr>
              <a:t>bóng</a:t>
            </a:r>
            <a:endParaRPr lang="en-US" sz="6999" b="1" u="none" strike="noStrike" spc="-209" dirty="0">
              <a:solidFill>
                <a:srgbClr val="1E293B"/>
              </a:solidFill>
              <a:latin typeface="Bricolage Grotesque Semi-Bold"/>
              <a:ea typeface="Bricolage Grotesque Semi-Bold"/>
              <a:cs typeface="Bricolage Grotesque Semi-Bold"/>
              <a:sym typeface="Bricolage Grotesque Semi-Bold"/>
            </a:endParaRPr>
          </a:p>
        </p:txBody>
      </p:sp>
      <p:pic>
        <p:nvPicPr>
          <p:cNvPr id="2" name="Picture 1"/>
          <p:cNvPicPr>
            <a:picLocks noChangeAspect="1"/>
          </p:cNvPicPr>
          <p:nvPr/>
        </p:nvPicPr>
        <p:blipFill>
          <a:blip r:embed="rId2"/>
          <a:stretch>
            <a:fillRect/>
          </a:stretch>
        </p:blipFill>
        <p:spPr>
          <a:xfrm>
            <a:off x="8077200" y="495300"/>
            <a:ext cx="9743852" cy="8763000"/>
          </a:xfrm>
          <a:prstGeom prst="rect">
            <a:avLst/>
          </a:prstGeom>
        </p:spPr>
      </p:pic>
      <p:pic>
        <p:nvPicPr>
          <p:cNvPr id="5" name="Picture 4"/>
          <p:cNvPicPr>
            <a:picLocks noChangeAspect="1"/>
          </p:cNvPicPr>
          <p:nvPr/>
        </p:nvPicPr>
        <p:blipFill>
          <a:blip r:embed="rId3"/>
          <a:stretch>
            <a:fillRect/>
          </a:stretch>
        </p:blipFill>
        <p:spPr>
          <a:xfrm>
            <a:off x="631916" y="5405846"/>
            <a:ext cx="7117735" cy="3886200"/>
          </a:xfrm>
          <a:prstGeom prst="rect">
            <a:avLst/>
          </a:prstGeom>
        </p:spPr>
      </p:pic>
    </p:spTree>
    <p:extLst>
      <p:ext uri="{BB962C8B-B14F-4D97-AF65-F5344CB8AC3E}">
        <p14:creationId xmlns:p14="http://schemas.microsoft.com/office/powerpoint/2010/main" val="23067799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6750" y="800100"/>
            <a:ext cx="6724650" cy="1795363"/>
          </a:xfrm>
          <a:prstGeom prst="rect">
            <a:avLst/>
          </a:prstGeom>
        </p:spPr>
        <p:txBody>
          <a:bodyPr wrap="square" lIns="0" tIns="0" rIns="0" bIns="0" rtlCol="0" anchor="t">
            <a:spAutoFit/>
          </a:bodyPr>
          <a:lstStyle/>
          <a:p>
            <a:pPr lvl="0">
              <a:lnSpc>
                <a:spcPts val="6999"/>
              </a:lnSpc>
              <a:spcBef>
                <a:spcPct val="0"/>
              </a:spcBef>
            </a:pPr>
            <a:r>
              <a:rPr lang="en-US" sz="6999" b="1" spc="-209" dirty="0" err="1" smtClean="0">
                <a:solidFill>
                  <a:srgbClr val="1E293B"/>
                </a:solidFill>
                <a:latin typeface="Bricolage Grotesque Semi-Bold"/>
                <a:ea typeface="Bricolage Grotesque Semi-Bold"/>
                <a:cs typeface="Bricolage Grotesque Semi-Bold"/>
                <a:sym typeface="Bricolage Grotesque Semi-Bold"/>
              </a:rPr>
              <a:t>Bài</a:t>
            </a:r>
            <a:r>
              <a:rPr lang="en-US" sz="6999" b="1" spc="-209" dirty="0" smtClean="0">
                <a:solidFill>
                  <a:srgbClr val="1E293B"/>
                </a:solidFill>
                <a:latin typeface="Bricolage Grotesque Semi-Bold"/>
                <a:ea typeface="Bricolage Grotesque Semi-Bold"/>
                <a:cs typeface="Bricolage Grotesque Semi-Bold"/>
                <a:sym typeface="Bricolage Grotesque Semi-Bold"/>
              </a:rPr>
              <a:t> Layout Dashboard</a:t>
            </a:r>
            <a:endParaRPr lang="en-US" sz="6999" b="1" u="none" strike="noStrike" spc="-209" dirty="0">
              <a:solidFill>
                <a:srgbClr val="1E293B"/>
              </a:solidFill>
              <a:latin typeface="Bricolage Grotesque Semi-Bold"/>
              <a:ea typeface="Bricolage Grotesque Semi-Bold"/>
              <a:cs typeface="Bricolage Grotesque Semi-Bold"/>
              <a:sym typeface="Bricolage Grotesque Semi-Bold"/>
            </a:endParaRPr>
          </a:p>
        </p:txBody>
      </p:sp>
      <p:pic>
        <p:nvPicPr>
          <p:cNvPr id="5" name="Picture 4"/>
          <p:cNvPicPr>
            <a:picLocks noChangeAspect="1"/>
          </p:cNvPicPr>
          <p:nvPr/>
        </p:nvPicPr>
        <p:blipFill>
          <a:blip r:embed="rId2"/>
          <a:stretch>
            <a:fillRect/>
          </a:stretch>
        </p:blipFill>
        <p:spPr>
          <a:xfrm>
            <a:off x="660219" y="6286500"/>
            <a:ext cx="5334000" cy="3359336"/>
          </a:xfrm>
          <a:prstGeom prst="rect">
            <a:avLst/>
          </a:prstGeom>
        </p:spPr>
      </p:pic>
      <p:sp>
        <p:nvSpPr>
          <p:cNvPr id="6" name="TextBox 4"/>
          <p:cNvSpPr txBox="1"/>
          <p:nvPr/>
        </p:nvSpPr>
        <p:spPr>
          <a:xfrm>
            <a:off x="686344" y="5372100"/>
            <a:ext cx="12273022" cy="534377"/>
          </a:xfrm>
          <a:prstGeom prst="rect">
            <a:avLst/>
          </a:prstGeom>
        </p:spPr>
        <p:txBody>
          <a:bodyPr wrap="square" lIns="0" tIns="0" rIns="0" bIns="0" rtlCol="0" anchor="t">
            <a:spAutoFit/>
          </a:bodyPr>
          <a:lstStyle/>
          <a:p>
            <a:pPr marL="323850" lvl="1">
              <a:lnSpc>
                <a:spcPts val="4500"/>
              </a:lnSpc>
            </a:pP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Code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mẫu</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tham</a:t>
            </a:r>
            <a:r>
              <a:rPr lang="en-US" sz="3000" dirty="0"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 </a:t>
            </a:r>
            <a:r>
              <a:rPr lang="en-US" sz="3000" dirty="0" err="1" smtClean="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rPr>
              <a:t>khảo</a:t>
            </a:r>
            <a:endParaRPr lang="en-US" sz="3000" dirty="0">
              <a:solidFill>
                <a:srgbClr val="1E293B"/>
              </a:solidFill>
              <a:latin typeface="Calibri" panose="020F0502020204030204" pitchFamily="34" charset="0"/>
              <a:ea typeface="Calibri" panose="020F0502020204030204" pitchFamily="34" charset="0"/>
              <a:cs typeface="Calibri" panose="020F0502020204030204" pitchFamily="34" charset="0"/>
              <a:sym typeface="Bricolage Grotesque Bold"/>
            </a:endParaRPr>
          </a:p>
        </p:txBody>
      </p:sp>
      <p:pic>
        <p:nvPicPr>
          <p:cNvPr id="7" name="Picture 6"/>
          <p:cNvPicPr>
            <a:picLocks noChangeAspect="1"/>
          </p:cNvPicPr>
          <p:nvPr/>
        </p:nvPicPr>
        <p:blipFill>
          <a:blip r:embed="rId3"/>
          <a:stretch>
            <a:fillRect/>
          </a:stretch>
        </p:blipFill>
        <p:spPr>
          <a:xfrm>
            <a:off x="7010400" y="571500"/>
            <a:ext cx="10840963" cy="8792802"/>
          </a:xfrm>
          <a:prstGeom prst="rect">
            <a:avLst/>
          </a:prstGeom>
        </p:spPr>
      </p:pic>
    </p:spTree>
    <p:extLst>
      <p:ext uri="{BB962C8B-B14F-4D97-AF65-F5344CB8AC3E}">
        <p14:creationId xmlns:p14="http://schemas.microsoft.com/office/powerpoint/2010/main" val="322106748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3"/>
          <p:cNvSpPr txBox="1"/>
          <p:nvPr/>
        </p:nvSpPr>
        <p:spPr>
          <a:xfrm>
            <a:off x="666750" y="800100"/>
            <a:ext cx="6724650" cy="915572"/>
          </a:xfrm>
          <a:prstGeom prst="rect">
            <a:avLst/>
          </a:prstGeom>
        </p:spPr>
        <p:txBody>
          <a:bodyPr wrap="square" lIns="0" tIns="0" rIns="0" bIns="0" rtlCol="0" anchor="t">
            <a:spAutoFit/>
          </a:bodyPr>
          <a:lstStyle/>
          <a:p>
            <a:pPr lvl="0">
              <a:lnSpc>
                <a:spcPts val="6999"/>
              </a:lnSpc>
              <a:spcBef>
                <a:spcPct val="0"/>
              </a:spcBef>
            </a:pPr>
            <a:r>
              <a:rPr lang="en-US" sz="6999" b="1" spc="-209" dirty="0" err="1" smtClean="0">
                <a:solidFill>
                  <a:srgbClr val="1E293B"/>
                </a:solidFill>
                <a:latin typeface="Bricolage Grotesque Semi-Bold"/>
                <a:ea typeface="Bricolage Grotesque Semi-Bold"/>
                <a:cs typeface="Bricolage Grotesque Semi-Bold"/>
                <a:sym typeface="Bricolage Grotesque Semi-Bold"/>
              </a:rPr>
              <a:t>Bài</a:t>
            </a:r>
            <a:r>
              <a:rPr lang="en-US" sz="6999" b="1" spc="-209" dirty="0" smtClean="0">
                <a:solidFill>
                  <a:srgbClr val="1E293B"/>
                </a:solidFill>
                <a:latin typeface="Bricolage Grotesque Semi-Bold"/>
                <a:ea typeface="Bricolage Grotesque Semi-Bold"/>
                <a:cs typeface="Bricolage Grotesque Semi-Bold"/>
                <a:sym typeface="Bricolage Grotesque Semi-Bold"/>
              </a:rPr>
              <a:t> UI Kit</a:t>
            </a:r>
            <a:endParaRPr lang="en-US" sz="6999" b="1" u="none" strike="noStrike" spc="-209" dirty="0">
              <a:solidFill>
                <a:srgbClr val="1E293B"/>
              </a:solidFill>
              <a:latin typeface="Bricolage Grotesque Semi-Bold"/>
              <a:ea typeface="Bricolage Grotesque Semi-Bold"/>
              <a:cs typeface="Bricolage Grotesque Semi-Bold"/>
              <a:sym typeface="Bricolage Grotesque Semi-Bold"/>
            </a:endParaRPr>
          </a:p>
        </p:txBody>
      </p:sp>
      <p:pic>
        <p:nvPicPr>
          <p:cNvPr id="2" name="Picture 1"/>
          <p:cNvPicPr>
            <a:picLocks noChangeAspect="1"/>
          </p:cNvPicPr>
          <p:nvPr/>
        </p:nvPicPr>
        <p:blipFill>
          <a:blip r:embed="rId2"/>
          <a:stretch>
            <a:fillRect/>
          </a:stretch>
        </p:blipFill>
        <p:spPr>
          <a:xfrm>
            <a:off x="9906000" y="1028700"/>
            <a:ext cx="6705600" cy="5762903"/>
          </a:xfrm>
          <a:prstGeom prst="rect">
            <a:avLst/>
          </a:prstGeom>
        </p:spPr>
      </p:pic>
      <p:pic>
        <p:nvPicPr>
          <p:cNvPr id="4" name="Picture 3"/>
          <p:cNvPicPr>
            <a:picLocks noChangeAspect="1"/>
          </p:cNvPicPr>
          <p:nvPr/>
        </p:nvPicPr>
        <p:blipFill>
          <a:blip r:embed="rId3"/>
          <a:stretch>
            <a:fillRect/>
          </a:stretch>
        </p:blipFill>
        <p:spPr>
          <a:xfrm>
            <a:off x="666750" y="3086100"/>
            <a:ext cx="5930504" cy="2590800"/>
          </a:xfrm>
          <a:prstGeom prst="rect">
            <a:avLst/>
          </a:prstGeom>
        </p:spPr>
      </p:pic>
      <p:pic>
        <p:nvPicPr>
          <p:cNvPr id="8" name="Picture 7"/>
          <p:cNvPicPr>
            <a:picLocks noChangeAspect="1"/>
          </p:cNvPicPr>
          <p:nvPr/>
        </p:nvPicPr>
        <p:blipFill>
          <a:blip r:embed="rId4"/>
          <a:stretch>
            <a:fillRect/>
          </a:stretch>
        </p:blipFill>
        <p:spPr>
          <a:xfrm>
            <a:off x="666750" y="6362700"/>
            <a:ext cx="7924800" cy="3280968"/>
          </a:xfrm>
          <a:prstGeom prst="rect">
            <a:avLst/>
          </a:prstGeom>
        </p:spPr>
      </p:pic>
    </p:spTree>
    <p:extLst>
      <p:ext uri="{BB962C8B-B14F-4D97-AF65-F5344CB8AC3E}">
        <p14:creationId xmlns:p14="http://schemas.microsoft.com/office/powerpoint/2010/main" val="14823946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TotalTime>
  <Words>182</Words>
  <Application>Microsoft Office PowerPoint</Application>
  <PresentationFormat>Custom</PresentationFormat>
  <Paragraphs>23</Paragraphs>
  <Slides>12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Bricolage Grotesque Semi-Bold</vt:lpstr>
      <vt:lpstr>Canva Sans Bold</vt:lpstr>
      <vt:lpstr>Bricolage Grotesque Bold</vt:lpstr>
      <vt:lpstr>Bricolage Grotesque</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 BUỔI 1: TỪ RAZOR VIEW SANG JSX</dc:title>
  <dc:description>Bài thuyết trình - BUỔI 1: TỪ RAZOR VIEW SANG JSX</dc:description>
  <cp:lastModifiedBy>vtrust</cp:lastModifiedBy>
  <cp:revision>14</cp:revision>
  <dcterms:created xsi:type="dcterms:W3CDTF">2006-08-16T00:00:00Z</dcterms:created>
  <dcterms:modified xsi:type="dcterms:W3CDTF">2026-01-16T00:59:57Z</dcterms:modified>
  <dc:identifier>DAG8Mi2FD9A</dc:identifier>
</cp:coreProperties>
</file>