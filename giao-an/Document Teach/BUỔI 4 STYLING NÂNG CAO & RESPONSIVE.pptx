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80" r:id="rId4"/>
    <p:sldId id="281" r:id="rId5"/>
    <p:sldId id="282" r:id="rId6"/>
    <p:sldId id="283" r:id="rId7"/>
    <p:sldId id="284" r:id="rId8"/>
    <p:sldId id="285" r:id="rId9"/>
    <p:sldId id="286" r:id="rId10"/>
    <p:sldId id="259" r:id="rId11"/>
    <p:sldId id="288" r:id="rId12"/>
    <p:sldId id="289" r:id="rId13"/>
    <p:sldId id="290" r:id="rId14"/>
    <p:sldId id="287" r:id="rId15"/>
    <p:sldId id="275" r:id="rId16"/>
    <p:sldId id="260" r:id="rId17"/>
    <p:sldId id="270" r:id="rId18"/>
    <p:sldId id="276" r:id="rId19"/>
    <p:sldId id="277" r:id="rId20"/>
    <p:sldId id="278" r:id="rId21"/>
  </p:sldIdLst>
  <p:sldSz cx="18288000" cy="10287000"/>
  <p:notesSz cx="6858000" cy="9144000"/>
  <p:embeddedFontLst>
    <p:embeddedFont>
      <p:font typeface="Bricolage Grotesque Bold" panose="020B0604020202020204" charset="0"/>
      <p:regular r:id="rId22"/>
    </p:embeddedFont>
    <p:embeddedFont>
      <p:font typeface="Bricolage Grotesque" panose="020B0604020202020204" charset="0"/>
      <p:regular r:id="rId23"/>
    </p:embeddedFont>
    <p:embeddedFont>
      <p:font typeface="Calibri" panose="020F0502020204030204" pitchFamily="34" charset="0"/>
      <p:regular r:id="rId24"/>
      <p:bold r:id="rId25"/>
      <p:italic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3" autoAdjust="0"/>
    <p:restoredTop sz="94622" autoAdjust="0"/>
  </p:normalViewPr>
  <p:slideViewPr>
    <p:cSldViewPr>
      <p:cViewPr varScale="1">
        <p:scale>
          <a:sx n="75" d="100"/>
          <a:sy n="75" d="100"/>
        </p:scale>
        <p:origin x="5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2026-01-16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sv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27.png"/><Relationship Id="rId5" Type="http://schemas.openxmlformats.org/officeDocument/2006/relationships/image" Target="../media/image30.sv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28.png"/><Relationship Id="rId5" Type="http://schemas.openxmlformats.org/officeDocument/2006/relationships/image" Target="../media/image30.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30.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4" name="Group 4"/>
          <p:cNvGrpSpPr/>
          <p:nvPr/>
        </p:nvGrpSpPr>
        <p:grpSpPr>
          <a:xfrm>
            <a:off x="15677043" y="6462606"/>
            <a:ext cx="3467057" cy="4305236"/>
            <a:chOff x="0" y="0"/>
            <a:chExt cx="4622743" cy="5740315"/>
          </a:xfrm>
        </p:grpSpPr>
        <p:sp>
          <p:nvSpPr>
            <p:cNvPr id="5" name="Freeform 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grpSp>
          <p:nvGrpSpPr>
            <p:cNvPr id="6" name="Group 6"/>
            <p:cNvGrpSpPr/>
            <p:nvPr/>
          </p:nvGrpSpPr>
          <p:grpSpPr>
            <a:xfrm rot="8100000">
              <a:off x="-106337" y="2577879"/>
              <a:ext cx="4835418" cy="1702128"/>
              <a:chOff x="0" y="0"/>
              <a:chExt cx="954623" cy="336039"/>
            </a:xfrm>
          </p:grpSpPr>
          <p:sp>
            <p:nvSpPr>
              <p:cNvPr id="7" name="Freeform 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64748B"/>
              </a:solidFill>
              <a:ln cap="sq">
                <a:noFill/>
                <a:prstDash val="solid"/>
                <a:miter/>
              </a:ln>
            </p:spPr>
          </p:sp>
          <p:sp>
            <p:nvSpPr>
              <p:cNvPr id="8" name="TextBox 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sp>
        <p:nvSpPr>
          <p:cNvPr id="9" name="TextBox 9"/>
          <p:cNvSpPr txBox="1"/>
          <p:nvPr/>
        </p:nvSpPr>
        <p:spPr>
          <a:xfrm>
            <a:off x="1371600" y="2476500"/>
            <a:ext cx="17378364" cy="984885"/>
          </a:xfrm>
          <a:prstGeom prst="rect">
            <a:avLst/>
          </a:prstGeom>
        </p:spPr>
        <p:txBody>
          <a:bodyPr wrap="square" lIns="0" tIns="0" rIns="0" bIns="0" rtlCol="0" anchor="t">
            <a:spAutoFit/>
          </a:bodyPr>
          <a:lstStyle/>
          <a:p>
            <a:r>
              <a:rPr lang="en-US" sz="6400" b="1" dirty="0"/>
              <a:t>BUỔI 4: STYLING NÂNG CAO &amp; RESPONSIVE</a:t>
            </a:r>
            <a:endParaRPr lang="en-US" sz="6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Nội dung buổi học</a:t>
            </a:r>
          </a:p>
        </p:txBody>
      </p:sp>
      <p:sp>
        <p:nvSpPr>
          <p:cNvPr id="3" name="TextBox 3"/>
          <p:cNvSpPr txBox="1"/>
          <p:nvPr/>
        </p:nvSpPr>
        <p:spPr>
          <a:xfrm>
            <a:off x="5029200" y="4229100"/>
            <a:ext cx="9678972" cy="4680769"/>
          </a:xfrm>
          <a:prstGeom prst="rect">
            <a:avLst/>
          </a:prstGeom>
        </p:spPr>
        <p:txBody>
          <a:bodyPr lIns="0" tIns="0" rIns="0" bIns="0" rtlCol="0" anchor="t">
            <a:spAutoFit/>
          </a:bodyPr>
          <a:lstStyle/>
          <a:p>
            <a:pPr marL="755864" lvl="1" indent="-377932">
              <a:lnSpc>
                <a:spcPts val="7282"/>
              </a:lnSpc>
              <a:buFontTx/>
              <a:buAutoNum type="arabicPeriod"/>
            </a:pPr>
            <a:r>
              <a:rPr lang="en-US" sz="3500" b="1" dirty="0" smtClean="0">
                <a:solidFill>
                  <a:srgbClr val="1E293B"/>
                </a:solidFill>
                <a:latin typeface="Bricolage Grotesque Bold"/>
                <a:ea typeface="Bricolage Grotesque Bold"/>
                <a:cs typeface="Bricolage Grotesque Bold"/>
                <a:sym typeface="Bricolage Grotesque Bold"/>
              </a:rPr>
              <a:t>Color &amp; Custom color</a:t>
            </a:r>
          </a:p>
          <a:p>
            <a:pPr marL="755864" lvl="1" indent="-377932">
              <a:lnSpc>
                <a:spcPts val="7282"/>
              </a:lnSpc>
              <a:buFontTx/>
              <a:buAutoNum type="arabicPeriod"/>
            </a:pPr>
            <a:r>
              <a:rPr lang="en-US" sz="3500" b="1" dirty="0">
                <a:solidFill>
                  <a:srgbClr val="1E293B"/>
                </a:solidFill>
                <a:latin typeface="Bricolage Grotesque Bold"/>
                <a:ea typeface="Bricolage Grotesque Bold"/>
                <a:cs typeface="Bricolage Grotesque Bold"/>
                <a:sym typeface="Bricolage Grotesque Bold"/>
              </a:rPr>
              <a:t> </a:t>
            </a:r>
            <a:r>
              <a:rPr lang="en-US" sz="3500" b="1" dirty="0" smtClean="0">
                <a:solidFill>
                  <a:srgbClr val="1E293B"/>
                </a:solidFill>
                <a:latin typeface="Bricolage Grotesque Bold"/>
                <a:ea typeface="Bricolage Grotesque Bold"/>
                <a:cs typeface="Bricolage Grotesque Bold"/>
                <a:sym typeface="Bricolage Grotesque Bold"/>
              </a:rPr>
              <a:t>UX/UI</a:t>
            </a:r>
          </a:p>
          <a:p>
            <a:pPr marL="755864" lvl="1" indent="-377932">
              <a:lnSpc>
                <a:spcPts val="7282"/>
              </a:lnSpc>
              <a:buFontTx/>
              <a:buAutoNum type="arabicPeriod"/>
            </a:pPr>
            <a:r>
              <a:rPr lang="en-US" sz="3500" b="1" dirty="0">
                <a:solidFill>
                  <a:srgbClr val="1E293B"/>
                </a:solidFill>
                <a:latin typeface="Bricolage Grotesque Bold"/>
                <a:ea typeface="Bricolage Grotesque Bold"/>
                <a:cs typeface="Bricolage Grotesque Bold"/>
                <a:sym typeface="Bricolage Grotesque Bold"/>
              </a:rPr>
              <a:t> Flexbox &amp; </a:t>
            </a:r>
            <a:r>
              <a:rPr lang="en-US" sz="3500" b="1" dirty="0" smtClean="0">
                <a:solidFill>
                  <a:srgbClr val="1E293B"/>
                </a:solidFill>
                <a:latin typeface="Bricolage Grotesque Bold"/>
                <a:ea typeface="Bricolage Grotesque Bold"/>
                <a:cs typeface="Bricolage Grotesque Bold"/>
                <a:sym typeface="Bricolage Grotesque Bold"/>
              </a:rPr>
              <a:t>Grid</a:t>
            </a:r>
            <a:endParaRPr lang="en-US" sz="3500" b="1" dirty="0">
              <a:solidFill>
                <a:srgbClr val="1E293B"/>
              </a:solidFill>
              <a:latin typeface="Bricolage Grotesque Bold"/>
              <a:ea typeface="Bricolage Grotesque Bold"/>
              <a:cs typeface="Bricolage Grotesque Bold"/>
              <a:sym typeface="Bricolage Grotesque Bold"/>
            </a:endParaRPr>
          </a:p>
          <a:p>
            <a:pPr marL="755864" lvl="1" indent="-377932">
              <a:lnSpc>
                <a:spcPts val="7282"/>
              </a:lnSpc>
              <a:buFontTx/>
              <a:buAutoNum type="arabicPeriod"/>
            </a:pPr>
            <a:r>
              <a:rPr lang="en-US" sz="3500" b="1" dirty="0" smtClean="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Reponsive</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trong</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smtClean="0">
                <a:solidFill>
                  <a:srgbClr val="1E293B"/>
                </a:solidFill>
                <a:latin typeface="Bricolage Grotesque Bold"/>
                <a:ea typeface="Bricolage Grotesque Bold"/>
                <a:cs typeface="Bricolage Grotesque Bold"/>
                <a:sym typeface="Bricolage Grotesque Bold"/>
              </a:rPr>
              <a:t>TailwindCSS</a:t>
            </a:r>
            <a:r>
              <a:rPr lang="en-US" sz="3500" b="1" dirty="0" smtClean="0">
                <a:solidFill>
                  <a:srgbClr val="1E293B"/>
                </a:solidFill>
                <a:latin typeface="Bricolage Grotesque Bold"/>
                <a:ea typeface="Bricolage Grotesque Bold"/>
                <a:cs typeface="Bricolage Grotesque Bold"/>
                <a:sym typeface="Bricolage Grotesque Bold"/>
              </a:rPr>
              <a:t> </a:t>
            </a:r>
          </a:p>
          <a:p>
            <a:pPr marL="377932" lvl="1">
              <a:lnSpc>
                <a:spcPts val="7282"/>
              </a:lnSpc>
            </a:pPr>
            <a:r>
              <a:rPr lang="en-US" sz="3500" b="1" dirty="0" smtClean="0">
                <a:solidFill>
                  <a:srgbClr val="1E293B"/>
                </a:solidFill>
                <a:latin typeface="Bricolage Grotesque Bold"/>
                <a:ea typeface="Bricolage Grotesque Bold"/>
                <a:cs typeface="Bricolage Grotesque Bold"/>
                <a:sym typeface="Bricolage Grotesque Bold"/>
              </a:rPr>
              <a:t>5</a:t>
            </a:r>
            <a:r>
              <a:rPr lang="en-US" sz="3500" b="1" dirty="0" smtClean="0">
                <a:solidFill>
                  <a:srgbClr val="1E293B"/>
                </a:solidFill>
                <a:latin typeface="Bricolage Grotesque Bold"/>
                <a:ea typeface="Bricolage Grotesque Bold"/>
                <a:cs typeface="Bricolage Grotesque Bold"/>
                <a:sym typeface="Bricolage Grotesque Bold"/>
              </a:rPr>
              <a:t>. </a:t>
            </a:r>
            <a:r>
              <a:rPr lang="en-US" sz="3500" b="1" dirty="0" err="1" smtClean="0">
                <a:solidFill>
                  <a:srgbClr val="1E293B"/>
                </a:solidFill>
                <a:latin typeface="Bricolage Grotesque Bold"/>
                <a:ea typeface="Bricolage Grotesque Bold"/>
                <a:cs typeface="Bricolage Grotesque Bold"/>
                <a:sym typeface="Bricolage Grotesque Bold"/>
              </a:rPr>
              <a:t>Bài</a:t>
            </a:r>
            <a:r>
              <a:rPr lang="en-US" sz="3500" b="1" dirty="0" smtClean="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tập</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thực</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hành</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tại</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lớp</a:t>
            </a:r>
            <a:endParaRPr lang="en-US" sz="3500" b="1" dirty="0" smtClean="0">
              <a:solidFill>
                <a:srgbClr val="1E293B"/>
              </a:solidFill>
              <a:latin typeface="Bricolage Grotesque Bold"/>
              <a:ea typeface="Bricolage Grotesque Bold"/>
              <a:cs typeface="Bricolage Grotesque Bold"/>
              <a:sym typeface="Bricolage Grotesque Bo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Color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TailwindCSS</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4" name="Rectangle 3"/>
          <p:cNvSpPr/>
          <p:nvPr/>
        </p:nvSpPr>
        <p:spPr>
          <a:xfrm>
            <a:off x="838200" y="2552700"/>
            <a:ext cx="5607048" cy="523220"/>
          </a:xfrm>
          <a:prstGeom prst="rect">
            <a:avLst/>
          </a:prstGeom>
        </p:spPr>
        <p:txBody>
          <a:bodyPr wrap="none">
            <a:spAutoFit/>
          </a:bodyPr>
          <a:lstStyle/>
          <a:p>
            <a:r>
              <a:rPr lang="en-US" sz="2800" b="1" dirty="0"/>
              <a:t>https://tailwindcss.com/docs/colors</a:t>
            </a:r>
          </a:p>
        </p:txBody>
      </p:sp>
      <p:pic>
        <p:nvPicPr>
          <p:cNvPr id="5" name="Picture 4"/>
          <p:cNvPicPr>
            <a:picLocks noChangeAspect="1"/>
          </p:cNvPicPr>
          <p:nvPr/>
        </p:nvPicPr>
        <p:blipFill>
          <a:blip r:embed="rId2"/>
          <a:stretch>
            <a:fillRect/>
          </a:stretch>
        </p:blipFill>
        <p:spPr>
          <a:xfrm>
            <a:off x="533400" y="3390900"/>
            <a:ext cx="6172200" cy="5722404"/>
          </a:xfrm>
          <a:prstGeom prst="rect">
            <a:avLst/>
          </a:prstGeom>
        </p:spPr>
      </p:pic>
      <p:pic>
        <p:nvPicPr>
          <p:cNvPr id="6" name="Picture 5"/>
          <p:cNvPicPr>
            <a:picLocks noChangeAspect="1"/>
          </p:cNvPicPr>
          <p:nvPr/>
        </p:nvPicPr>
        <p:blipFill>
          <a:blip r:embed="rId3"/>
          <a:stretch>
            <a:fillRect/>
          </a:stretch>
        </p:blipFill>
        <p:spPr>
          <a:xfrm>
            <a:off x="8763000" y="2933700"/>
            <a:ext cx="8382000" cy="6412522"/>
          </a:xfrm>
          <a:prstGeom prst="rect">
            <a:avLst/>
          </a:prstGeom>
        </p:spPr>
      </p:pic>
    </p:spTree>
    <p:extLst>
      <p:ext uri="{BB962C8B-B14F-4D97-AF65-F5344CB8AC3E}">
        <p14:creationId xmlns:p14="http://schemas.microsoft.com/office/powerpoint/2010/main" val="4637349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Color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TailwindCSS</a:t>
            </a:r>
            <a:endParaRPr lang="en-US" sz="6999" b="1" dirty="0">
              <a:solidFill>
                <a:srgbClr val="1E293B"/>
              </a:solidFill>
              <a:latin typeface="Bricolage Grotesque Bold"/>
              <a:ea typeface="Bricolage Grotesque Bold"/>
              <a:cs typeface="Bricolage Grotesque Bold"/>
              <a:sym typeface="Bricolage Grotesque Bold"/>
            </a:endParaRPr>
          </a:p>
        </p:txBody>
      </p:sp>
      <p:pic>
        <p:nvPicPr>
          <p:cNvPr id="3" name="Picture 2"/>
          <p:cNvPicPr>
            <a:picLocks noChangeAspect="1"/>
          </p:cNvPicPr>
          <p:nvPr/>
        </p:nvPicPr>
        <p:blipFill>
          <a:blip r:embed="rId2"/>
          <a:stretch>
            <a:fillRect/>
          </a:stretch>
        </p:blipFill>
        <p:spPr>
          <a:xfrm>
            <a:off x="914400" y="2781300"/>
            <a:ext cx="6744641" cy="6335009"/>
          </a:xfrm>
          <a:prstGeom prst="rect">
            <a:avLst/>
          </a:prstGeom>
        </p:spPr>
      </p:pic>
      <p:pic>
        <p:nvPicPr>
          <p:cNvPr id="7" name="Picture 6"/>
          <p:cNvPicPr>
            <a:picLocks noChangeAspect="1"/>
          </p:cNvPicPr>
          <p:nvPr/>
        </p:nvPicPr>
        <p:blipFill>
          <a:blip r:embed="rId3"/>
          <a:stretch>
            <a:fillRect/>
          </a:stretch>
        </p:blipFill>
        <p:spPr>
          <a:xfrm>
            <a:off x="9448800" y="2405009"/>
            <a:ext cx="6735115" cy="7087589"/>
          </a:xfrm>
          <a:prstGeom prst="rect">
            <a:avLst/>
          </a:prstGeom>
        </p:spPr>
      </p:pic>
    </p:spTree>
    <p:extLst>
      <p:ext uri="{BB962C8B-B14F-4D97-AF65-F5344CB8AC3E}">
        <p14:creationId xmlns:p14="http://schemas.microsoft.com/office/powerpoint/2010/main" val="3336280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Custom Color</a:t>
            </a:r>
            <a:endParaRPr lang="en-US" sz="6999" b="1" dirty="0">
              <a:solidFill>
                <a:srgbClr val="1E293B"/>
              </a:solidFill>
              <a:latin typeface="Bricolage Grotesque Bold"/>
              <a:ea typeface="Bricolage Grotesque Bold"/>
              <a:cs typeface="Bricolage Grotesque Bold"/>
              <a:sym typeface="Bricolage Grotesque Bold"/>
            </a:endParaRPr>
          </a:p>
        </p:txBody>
      </p:sp>
      <p:pic>
        <p:nvPicPr>
          <p:cNvPr id="4" name="Picture 3"/>
          <p:cNvPicPr>
            <a:picLocks noChangeAspect="1"/>
          </p:cNvPicPr>
          <p:nvPr/>
        </p:nvPicPr>
        <p:blipFill>
          <a:blip r:embed="rId2"/>
          <a:stretch>
            <a:fillRect/>
          </a:stretch>
        </p:blipFill>
        <p:spPr>
          <a:xfrm>
            <a:off x="1295400" y="3238500"/>
            <a:ext cx="6677957" cy="4124901"/>
          </a:xfrm>
          <a:prstGeom prst="rect">
            <a:avLst/>
          </a:prstGeom>
        </p:spPr>
      </p:pic>
      <p:pic>
        <p:nvPicPr>
          <p:cNvPr id="5" name="Picture 4"/>
          <p:cNvPicPr>
            <a:picLocks noChangeAspect="1"/>
          </p:cNvPicPr>
          <p:nvPr/>
        </p:nvPicPr>
        <p:blipFill>
          <a:blip r:embed="rId3"/>
          <a:stretch>
            <a:fillRect/>
          </a:stretch>
        </p:blipFill>
        <p:spPr>
          <a:xfrm>
            <a:off x="10439400" y="2952710"/>
            <a:ext cx="6687483" cy="4696480"/>
          </a:xfrm>
          <a:prstGeom prst="rect">
            <a:avLst/>
          </a:prstGeom>
        </p:spPr>
      </p:pic>
    </p:spTree>
    <p:extLst>
      <p:ext uri="{BB962C8B-B14F-4D97-AF65-F5344CB8AC3E}">
        <p14:creationId xmlns:p14="http://schemas.microsoft.com/office/powerpoint/2010/main" val="305508872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Dark/light Mode</a:t>
            </a:r>
            <a:endParaRPr lang="en-US" sz="6999" b="1" dirty="0">
              <a:solidFill>
                <a:srgbClr val="1E293B"/>
              </a:solidFill>
              <a:latin typeface="Bricolage Grotesque Bold"/>
              <a:ea typeface="Bricolage Grotesque Bold"/>
              <a:cs typeface="Bricolage Grotesque Bold"/>
              <a:sym typeface="Bricolage Grotesque Bold"/>
            </a:endParaRPr>
          </a:p>
        </p:txBody>
      </p:sp>
      <p:pic>
        <p:nvPicPr>
          <p:cNvPr id="3" name="Picture 2"/>
          <p:cNvPicPr>
            <a:picLocks noChangeAspect="1"/>
          </p:cNvPicPr>
          <p:nvPr/>
        </p:nvPicPr>
        <p:blipFill>
          <a:blip r:embed="rId2"/>
          <a:stretch>
            <a:fillRect/>
          </a:stretch>
        </p:blipFill>
        <p:spPr>
          <a:xfrm>
            <a:off x="609600" y="3467100"/>
            <a:ext cx="5874649" cy="5410200"/>
          </a:xfrm>
          <a:prstGeom prst="rect">
            <a:avLst/>
          </a:prstGeom>
        </p:spPr>
      </p:pic>
      <p:pic>
        <p:nvPicPr>
          <p:cNvPr id="7" name="Picture 6"/>
          <p:cNvPicPr>
            <a:picLocks noChangeAspect="1"/>
          </p:cNvPicPr>
          <p:nvPr/>
        </p:nvPicPr>
        <p:blipFill>
          <a:blip r:embed="rId3"/>
          <a:stretch>
            <a:fillRect/>
          </a:stretch>
        </p:blipFill>
        <p:spPr>
          <a:xfrm>
            <a:off x="6781800" y="4657881"/>
            <a:ext cx="10975757" cy="4189670"/>
          </a:xfrm>
          <a:prstGeom prst="rect">
            <a:avLst/>
          </a:prstGeom>
        </p:spPr>
      </p:pic>
    </p:spTree>
    <p:extLst>
      <p:ext uri="{BB962C8B-B14F-4D97-AF65-F5344CB8AC3E}">
        <p14:creationId xmlns:p14="http://schemas.microsoft.com/office/powerpoint/2010/main" val="7397186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UX/UI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TailwindCSS</a:t>
            </a:r>
            <a:endParaRPr lang="en-US" sz="6999" b="1" dirty="0">
              <a:solidFill>
                <a:srgbClr val="1E293B"/>
              </a:solidFill>
              <a:latin typeface="Bricolage Grotesque Bold"/>
              <a:ea typeface="Bricolage Grotesque Bold"/>
              <a:cs typeface="Bricolage Grotesque Bold"/>
              <a:sym typeface="Bricolage Grotesque Bold"/>
            </a:endParaRPr>
          </a:p>
        </p:txBody>
      </p:sp>
      <p:pic>
        <p:nvPicPr>
          <p:cNvPr id="4" name="Picture 3"/>
          <p:cNvPicPr>
            <a:picLocks noChangeAspect="1"/>
          </p:cNvPicPr>
          <p:nvPr/>
        </p:nvPicPr>
        <p:blipFill>
          <a:blip r:embed="rId2"/>
          <a:stretch>
            <a:fillRect/>
          </a:stretch>
        </p:blipFill>
        <p:spPr>
          <a:xfrm>
            <a:off x="775791" y="3543300"/>
            <a:ext cx="16736418" cy="5095565"/>
          </a:xfrm>
          <a:prstGeom prst="rect">
            <a:avLst/>
          </a:prstGeom>
        </p:spPr>
      </p:pic>
      <p:sp>
        <p:nvSpPr>
          <p:cNvPr id="6" name="TextBox 3"/>
          <p:cNvSpPr txBox="1"/>
          <p:nvPr/>
        </p:nvSpPr>
        <p:spPr>
          <a:xfrm>
            <a:off x="1981200" y="2705100"/>
            <a:ext cx="12649200" cy="577081"/>
          </a:xfrm>
          <a:prstGeom prst="rect">
            <a:avLst/>
          </a:prstGeom>
        </p:spPr>
        <p:txBody>
          <a:bodyPr wrap="square" lIns="0" tIns="0" rIns="0" bIns="0" rtlCol="0" anchor="t">
            <a:spAutoFit/>
          </a:bodyPr>
          <a:lstStyle/>
          <a:p>
            <a:pPr marL="323850" lvl="1">
              <a:lnSpc>
                <a:spcPts val="4500"/>
              </a:lnSpc>
            </a:pPr>
            <a:r>
              <a:rPr lang="en-US" sz="3200" dirty="0" err="1" smtClean="0"/>
              <a:t>Tạo</a:t>
            </a:r>
            <a:r>
              <a:rPr lang="en-US" sz="3200" dirty="0" smtClean="0"/>
              <a:t> </a:t>
            </a:r>
            <a:r>
              <a:rPr lang="en-US" sz="3200" dirty="0" err="1" smtClean="0"/>
              <a:t>hiệu</a:t>
            </a:r>
            <a:r>
              <a:rPr lang="en-US" sz="3200" dirty="0" smtClean="0"/>
              <a:t> </a:t>
            </a:r>
            <a:r>
              <a:rPr lang="en-US" sz="3200" dirty="0" err="1" smtClean="0"/>
              <a:t>ứng</a:t>
            </a:r>
            <a:r>
              <a:rPr lang="en-US" sz="3200" dirty="0" smtClean="0"/>
              <a:t> </a:t>
            </a:r>
            <a:r>
              <a:rPr lang="en-US" sz="3200" dirty="0" err="1" smtClean="0"/>
              <a:t>chuyển</a:t>
            </a:r>
            <a:r>
              <a:rPr lang="en-US" sz="3200" dirty="0" smtClean="0"/>
              <a:t> </a:t>
            </a:r>
            <a:r>
              <a:rPr lang="en-US" sz="3200" dirty="0" err="1" smtClean="0"/>
              <a:t>mượt</a:t>
            </a:r>
            <a:r>
              <a:rPr lang="en-US" sz="3200" dirty="0" smtClean="0"/>
              <a:t> </a:t>
            </a:r>
            <a:r>
              <a:rPr lang="en-US" sz="3200" dirty="0" err="1" smtClean="0"/>
              <a:t>mà</a:t>
            </a:r>
            <a:r>
              <a:rPr lang="en-US" sz="3200" dirty="0" smtClean="0"/>
              <a:t> </a:t>
            </a:r>
            <a:r>
              <a:rPr lang="en-US" sz="3200" dirty="0" err="1" smtClean="0"/>
              <a:t>bằng</a:t>
            </a:r>
            <a:r>
              <a:rPr lang="en-US" sz="3200" dirty="0" smtClean="0"/>
              <a:t> transition </a:t>
            </a:r>
            <a:r>
              <a:rPr lang="en-US" sz="3200" dirty="0" err="1" smtClean="0"/>
              <a:t>và</a:t>
            </a:r>
            <a:r>
              <a:rPr lang="en-US" sz="3200" dirty="0" smtClean="0"/>
              <a:t> duration</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spTree>
    <p:extLst>
      <p:ext uri="{BB962C8B-B14F-4D97-AF65-F5344CB8AC3E}">
        <p14:creationId xmlns:p14="http://schemas.microsoft.com/office/powerpoint/2010/main" val="24245803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UX/UI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TailwindCSS</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6" name="TextBox 3"/>
          <p:cNvSpPr txBox="1"/>
          <p:nvPr/>
        </p:nvSpPr>
        <p:spPr>
          <a:xfrm>
            <a:off x="533400" y="3543300"/>
            <a:ext cx="12649200" cy="1731243"/>
          </a:xfrm>
          <a:prstGeom prst="rect">
            <a:avLst/>
          </a:prstGeom>
        </p:spPr>
        <p:txBody>
          <a:bodyPr wrap="square" lIns="0" tIns="0" rIns="0" bIns="0" rtlCol="0" anchor="t">
            <a:spAutoFit/>
          </a:bodyPr>
          <a:lstStyle/>
          <a:p>
            <a:pPr marL="323850" lvl="1">
              <a:lnSpc>
                <a:spcPts val="4500"/>
              </a:lnSpc>
            </a:pPr>
            <a:r>
              <a:rPr lang="en-US" sz="3200" dirty="0" err="1" smtClean="0">
                <a:latin typeface="Arial" panose="020B0604020202020204" pitchFamily="34" charset="0"/>
                <a:cs typeface="Arial" panose="020B0604020202020204" pitchFamily="34" charset="0"/>
              </a:rPr>
              <a:t>Tạo</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hiệu</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ứng</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bật</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nảy</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khi</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bấm</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vào</a:t>
            </a:r>
            <a:r>
              <a:rPr lang="en-US" sz="3200" dirty="0" smtClean="0">
                <a:latin typeface="Arial" panose="020B0604020202020204" pitchFamily="34" charset="0"/>
                <a:cs typeface="Arial" panose="020B0604020202020204" pitchFamily="34" charset="0"/>
              </a:rPr>
              <a:t> </a:t>
            </a:r>
            <a:r>
              <a:rPr lang="en-US" sz="3200" dirty="0" err="1" smtClean="0">
                <a:latin typeface="Arial" panose="020B0604020202020204" pitchFamily="34" charset="0"/>
                <a:cs typeface="Arial" panose="020B0604020202020204" pitchFamily="34" charset="0"/>
              </a:rPr>
              <a:t>nút</a:t>
            </a:r>
            <a:endParaRPr lang="en-US" sz="3200" dirty="0" smtClean="0">
              <a:solidFill>
                <a:srgbClr val="1E293B"/>
              </a:solidFill>
              <a:latin typeface="Arial" panose="020B0604020202020204" pitchFamily="34" charset="0"/>
              <a:cs typeface="Arial" panose="020B0604020202020204" pitchFamily="34" charset="0"/>
              <a:sym typeface="Bricolage Grotesque"/>
            </a:endParaRPr>
          </a:p>
          <a:p>
            <a:pPr marL="323850" lvl="1">
              <a:lnSpc>
                <a:spcPts val="4500"/>
              </a:lnSpc>
            </a:pPr>
            <a:endParaRPr lang="en-US" sz="3200" dirty="0">
              <a:solidFill>
                <a:srgbClr val="1E293B"/>
              </a:solidFill>
              <a:latin typeface="Arial" panose="020B0604020202020204" pitchFamily="34" charset="0"/>
              <a:cs typeface="Arial" panose="020B0604020202020204" pitchFamily="34" charset="0"/>
              <a:sym typeface="Bricolage Grotesque"/>
            </a:endParaRPr>
          </a:p>
          <a:p>
            <a:pPr marL="323850" lvl="1">
              <a:lnSpc>
                <a:spcPts val="4500"/>
              </a:lnSpc>
            </a:pPr>
            <a:r>
              <a:rPr lang="en-US" sz="3200" dirty="0" err="1" smtClean="0">
                <a:solidFill>
                  <a:srgbClr val="1E293B"/>
                </a:solidFill>
                <a:latin typeface="Arial" panose="020B0604020202020204" pitchFamily="34" charset="0"/>
                <a:cs typeface="Arial" panose="020B0604020202020204" pitchFamily="34" charset="0"/>
                <a:sym typeface="Bricolage Grotesque"/>
              </a:rPr>
              <a:t>Sử</a:t>
            </a:r>
            <a:r>
              <a:rPr lang="en-US" sz="3200" dirty="0" smtClean="0">
                <a:solidFill>
                  <a:srgbClr val="1E293B"/>
                </a:solidFill>
                <a:latin typeface="Arial" panose="020B0604020202020204" pitchFamily="34" charset="0"/>
                <a:cs typeface="Arial" panose="020B0604020202020204" pitchFamily="34" charset="0"/>
                <a:sym typeface="Bricolage Grotesque"/>
              </a:rPr>
              <a:t> </a:t>
            </a:r>
            <a:r>
              <a:rPr lang="en-US" sz="3200" dirty="0" err="1" smtClean="0">
                <a:solidFill>
                  <a:srgbClr val="1E293B"/>
                </a:solidFill>
                <a:latin typeface="Arial" panose="020B0604020202020204" pitchFamily="34" charset="0"/>
                <a:cs typeface="Arial" panose="020B0604020202020204" pitchFamily="34" charset="0"/>
                <a:sym typeface="Bricolage Grotesque"/>
              </a:rPr>
              <a:t>dụng</a:t>
            </a:r>
            <a:r>
              <a:rPr lang="en-US" sz="3200" dirty="0" smtClean="0">
                <a:solidFill>
                  <a:srgbClr val="1E293B"/>
                </a:solidFill>
                <a:latin typeface="Arial" panose="020B0604020202020204" pitchFamily="34" charset="0"/>
                <a:cs typeface="Arial" panose="020B0604020202020204" pitchFamily="34" charset="0"/>
                <a:sym typeface="Bricolage Grotesque"/>
              </a:rPr>
              <a:t> active </a:t>
            </a:r>
            <a:r>
              <a:rPr lang="en-US" sz="3200" dirty="0" err="1" smtClean="0">
                <a:solidFill>
                  <a:srgbClr val="1E293B"/>
                </a:solidFill>
                <a:latin typeface="Arial" panose="020B0604020202020204" pitchFamily="34" charset="0"/>
                <a:cs typeface="Arial" panose="020B0604020202020204" pitchFamily="34" charset="0"/>
                <a:sym typeface="Bricolage Grotesque"/>
              </a:rPr>
              <a:t>và</a:t>
            </a:r>
            <a:r>
              <a:rPr lang="en-US" sz="3200" dirty="0" smtClean="0">
                <a:solidFill>
                  <a:srgbClr val="1E293B"/>
                </a:solidFill>
                <a:latin typeface="Arial" panose="020B0604020202020204" pitchFamily="34" charset="0"/>
                <a:cs typeface="Arial" panose="020B0604020202020204" pitchFamily="34" charset="0"/>
                <a:sym typeface="Bricolage Grotesque"/>
              </a:rPr>
              <a:t> hover scale</a:t>
            </a:r>
            <a:endParaRPr lang="en-US" sz="3200" dirty="0" smtClean="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4"/>
          <a:stretch>
            <a:fillRect/>
          </a:stretch>
        </p:blipFill>
        <p:spPr>
          <a:xfrm>
            <a:off x="762000" y="5905500"/>
            <a:ext cx="8915400" cy="3052005"/>
          </a:xfrm>
          <a:prstGeom prst="rect">
            <a:avLst/>
          </a:prstGeom>
        </p:spPr>
      </p:pic>
      <p:pic>
        <p:nvPicPr>
          <p:cNvPr id="5" name="Screen Recording 2026-01-16 09533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439400" y="4305300"/>
            <a:ext cx="6848707" cy="4191000"/>
          </a:xfrm>
          <a:prstGeom prst="rect">
            <a:avLst/>
          </a:prstGeom>
        </p:spPr>
      </p:pic>
    </p:spTree>
    <p:extLst>
      <p:ext uri="{BB962C8B-B14F-4D97-AF65-F5344CB8AC3E}">
        <p14:creationId xmlns:p14="http://schemas.microsoft.com/office/powerpoint/2010/main" val="234603168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UX/UI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TailwindCSS</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6" name="TextBox 3"/>
          <p:cNvSpPr txBox="1"/>
          <p:nvPr/>
        </p:nvSpPr>
        <p:spPr>
          <a:xfrm>
            <a:off x="533400" y="3543300"/>
            <a:ext cx="12649200" cy="1680396"/>
          </a:xfrm>
          <a:prstGeom prst="rect">
            <a:avLst/>
          </a:prstGeom>
        </p:spPr>
        <p:txBody>
          <a:bodyPr wrap="square" lIns="0" tIns="0" rIns="0" bIns="0" rtlCol="0" anchor="t">
            <a:spAutoFit/>
          </a:bodyPr>
          <a:lstStyle/>
          <a:p>
            <a:pPr marL="323850" lvl="1">
              <a:lnSpc>
                <a:spcPts val="4500"/>
              </a:lnSpc>
            </a:pPr>
            <a:r>
              <a:rPr lang="en-US" sz="3200" dirty="0">
                <a:latin typeface="Arial" panose="020B0604020202020204" pitchFamily="34" charset="0"/>
                <a:cs typeface="Arial" panose="020B0604020202020204" pitchFamily="34" charset="0"/>
              </a:rPr>
              <a:t>https://tailwindcss.com/docs/animation</a:t>
            </a:r>
          </a:p>
          <a:p>
            <a:pPr marL="323850" lvl="1">
              <a:lnSpc>
                <a:spcPts val="4500"/>
              </a:lnSpc>
            </a:pPr>
            <a:endParaRPr lang="en-US" sz="3200" dirty="0" smtClean="0">
              <a:latin typeface="Arial" panose="020B0604020202020204" pitchFamily="34" charset="0"/>
              <a:cs typeface="Arial" panose="020B0604020202020204" pitchFamily="34" charset="0"/>
            </a:endParaRPr>
          </a:p>
          <a:p>
            <a:pPr marL="323850" lvl="1">
              <a:lnSpc>
                <a:spcPts val="4500"/>
              </a:lnSpc>
            </a:pPr>
            <a:r>
              <a:rPr lang="en-US" sz="3200" dirty="0" err="1" smtClean="0">
                <a:latin typeface="Arial" panose="020B0604020202020204" pitchFamily="34" charset="0"/>
                <a:cs typeface="Arial" panose="020B0604020202020204" pitchFamily="34" charset="0"/>
              </a:rPr>
              <a:t>Tạo</a:t>
            </a:r>
            <a:r>
              <a:rPr lang="en-US" sz="3200" dirty="0" smtClean="0">
                <a:latin typeface="Arial" panose="020B0604020202020204" pitchFamily="34" charset="0"/>
                <a:cs typeface="Arial" panose="020B0604020202020204" pitchFamily="34" charset="0"/>
              </a:rPr>
              <a:t> loading icon</a:t>
            </a:r>
            <a:endParaRPr lang="en-US" sz="3200" dirty="0" smtClean="0">
              <a:solidFill>
                <a:srgbClr val="1E293B"/>
              </a:solidFill>
              <a:latin typeface="Arial" panose="020B0604020202020204" pitchFamily="34" charset="0"/>
              <a:cs typeface="Arial" panose="020B0604020202020204" pitchFamily="34" charset="0"/>
              <a:sym typeface="Bricolage Grotesque"/>
            </a:endParaRPr>
          </a:p>
        </p:txBody>
      </p:sp>
      <p:pic>
        <p:nvPicPr>
          <p:cNvPr id="3" name="Picture 2"/>
          <p:cNvPicPr>
            <a:picLocks noChangeAspect="1"/>
          </p:cNvPicPr>
          <p:nvPr/>
        </p:nvPicPr>
        <p:blipFill>
          <a:blip r:embed="rId4"/>
          <a:stretch>
            <a:fillRect/>
          </a:stretch>
        </p:blipFill>
        <p:spPr>
          <a:xfrm>
            <a:off x="762000" y="5905500"/>
            <a:ext cx="8915400" cy="3052005"/>
          </a:xfrm>
          <a:prstGeom prst="rect">
            <a:avLst/>
          </a:prstGeom>
        </p:spPr>
      </p:pic>
      <p:pic>
        <p:nvPicPr>
          <p:cNvPr id="4" name="Screen Recording 2026-01-16 100423">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0591800" y="3658601"/>
            <a:ext cx="5607962" cy="4493798"/>
          </a:xfrm>
          <a:prstGeom prst="rect">
            <a:avLst/>
          </a:prstGeom>
        </p:spPr>
      </p:pic>
    </p:spTree>
    <p:extLst>
      <p:ext uri="{BB962C8B-B14F-4D97-AF65-F5344CB8AC3E}">
        <p14:creationId xmlns:p14="http://schemas.microsoft.com/office/powerpoint/2010/main" val="92339090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Flexbox &amp; Grid</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2286000" y="2476500"/>
            <a:ext cx="12649200" cy="543034"/>
          </a:xfrm>
          <a:prstGeom prst="rect">
            <a:avLst/>
          </a:prstGeom>
        </p:spPr>
        <p:txBody>
          <a:bodyPr wrap="square" lIns="0" tIns="0" rIns="0" bIns="0" rtlCol="0" anchor="t">
            <a:spAutoFit/>
          </a:bodyPr>
          <a:lstStyle/>
          <a:p>
            <a:pPr marL="323850" lvl="1">
              <a:lnSpc>
                <a:spcPts val="4500"/>
              </a:lnSpc>
            </a:pPr>
            <a:r>
              <a:rPr lang="en-US" sz="3200" dirty="0"/>
              <a:t>https://tailwindcss.com/docs/flex-basis</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4" name="Picture 3"/>
          <p:cNvPicPr>
            <a:picLocks noChangeAspect="1"/>
          </p:cNvPicPr>
          <p:nvPr/>
        </p:nvPicPr>
        <p:blipFill>
          <a:blip r:embed="rId2"/>
          <a:stretch>
            <a:fillRect/>
          </a:stretch>
        </p:blipFill>
        <p:spPr>
          <a:xfrm>
            <a:off x="762000" y="3695700"/>
            <a:ext cx="7540211" cy="4038600"/>
          </a:xfrm>
          <a:prstGeom prst="rect">
            <a:avLst/>
          </a:prstGeom>
        </p:spPr>
      </p:pic>
      <p:pic>
        <p:nvPicPr>
          <p:cNvPr id="5" name="Picture 4"/>
          <p:cNvPicPr>
            <a:picLocks noChangeAspect="1"/>
          </p:cNvPicPr>
          <p:nvPr/>
        </p:nvPicPr>
        <p:blipFill>
          <a:blip r:embed="rId3"/>
          <a:stretch>
            <a:fillRect/>
          </a:stretch>
        </p:blipFill>
        <p:spPr>
          <a:xfrm>
            <a:off x="8991600" y="3695700"/>
            <a:ext cx="8090795" cy="414559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Flexbox &amp; Grid</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2286000" y="2476500"/>
            <a:ext cx="12649200" cy="543034"/>
          </a:xfrm>
          <a:prstGeom prst="rect">
            <a:avLst/>
          </a:prstGeom>
        </p:spPr>
        <p:txBody>
          <a:bodyPr wrap="square" lIns="0" tIns="0" rIns="0" bIns="0" rtlCol="0" anchor="t">
            <a:spAutoFit/>
          </a:bodyPr>
          <a:lstStyle/>
          <a:p>
            <a:pPr marL="323850" lvl="1">
              <a:lnSpc>
                <a:spcPts val="4500"/>
              </a:lnSpc>
            </a:pPr>
            <a:r>
              <a:rPr lang="en-US" sz="3200" dirty="0"/>
              <a:t>https://tailwindcss.com/docs/flex-basis</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6" name="Picture 5"/>
          <p:cNvPicPr>
            <a:picLocks noChangeAspect="1"/>
          </p:cNvPicPr>
          <p:nvPr/>
        </p:nvPicPr>
        <p:blipFill>
          <a:blip r:embed="rId2"/>
          <a:stretch>
            <a:fillRect/>
          </a:stretch>
        </p:blipFill>
        <p:spPr>
          <a:xfrm>
            <a:off x="762000" y="3949352"/>
            <a:ext cx="6753225" cy="3886200"/>
          </a:xfrm>
          <a:prstGeom prst="rect">
            <a:avLst/>
          </a:prstGeom>
        </p:spPr>
      </p:pic>
      <p:pic>
        <p:nvPicPr>
          <p:cNvPr id="7" name="Picture 6"/>
          <p:cNvPicPr>
            <a:picLocks noChangeAspect="1"/>
          </p:cNvPicPr>
          <p:nvPr/>
        </p:nvPicPr>
        <p:blipFill>
          <a:blip r:embed="rId3"/>
          <a:stretch>
            <a:fillRect/>
          </a:stretch>
        </p:blipFill>
        <p:spPr>
          <a:xfrm>
            <a:off x="9296400" y="3771900"/>
            <a:ext cx="6801799" cy="5534797"/>
          </a:xfrm>
          <a:prstGeom prst="rect">
            <a:avLst/>
          </a:prstGeom>
        </p:spPr>
      </p:pic>
    </p:spTree>
    <p:extLst>
      <p:ext uri="{BB962C8B-B14F-4D97-AF65-F5344CB8AC3E}">
        <p14:creationId xmlns:p14="http://schemas.microsoft.com/office/powerpoint/2010/main" val="1150177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Flexbox &amp; Grid</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2286000" y="2476500"/>
            <a:ext cx="12649200" cy="543034"/>
          </a:xfrm>
          <a:prstGeom prst="rect">
            <a:avLst/>
          </a:prstGeom>
        </p:spPr>
        <p:txBody>
          <a:bodyPr wrap="square" lIns="0" tIns="0" rIns="0" bIns="0" rtlCol="0" anchor="t">
            <a:spAutoFit/>
          </a:bodyPr>
          <a:lstStyle/>
          <a:p>
            <a:pPr marL="323850" lvl="1">
              <a:lnSpc>
                <a:spcPts val="4500"/>
              </a:lnSpc>
            </a:pPr>
            <a:r>
              <a:rPr lang="en-US" sz="3200" dirty="0"/>
              <a:t>https://tailwindcss.com/docs/grid-row</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4" name="Picture 3"/>
          <p:cNvPicPr>
            <a:picLocks noChangeAspect="1"/>
          </p:cNvPicPr>
          <p:nvPr/>
        </p:nvPicPr>
        <p:blipFill>
          <a:blip r:embed="rId2"/>
          <a:stretch>
            <a:fillRect/>
          </a:stretch>
        </p:blipFill>
        <p:spPr>
          <a:xfrm>
            <a:off x="990600" y="3543300"/>
            <a:ext cx="6619875" cy="6334125"/>
          </a:xfrm>
          <a:prstGeom prst="rect">
            <a:avLst/>
          </a:prstGeom>
        </p:spPr>
      </p:pic>
      <p:pic>
        <p:nvPicPr>
          <p:cNvPr id="5" name="Picture 4"/>
          <p:cNvPicPr>
            <a:picLocks noChangeAspect="1"/>
          </p:cNvPicPr>
          <p:nvPr/>
        </p:nvPicPr>
        <p:blipFill>
          <a:blip r:embed="rId3"/>
          <a:stretch>
            <a:fillRect/>
          </a:stretch>
        </p:blipFill>
        <p:spPr>
          <a:xfrm>
            <a:off x="9311014" y="3679955"/>
            <a:ext cx="7467600" cy="6060814"/>
          </a:xfrm>
          <a:prstGeom prst="rect">
            <a:avLst/>
          </a:prstGeom>
        </p:spPr>
      </p:pic>
    </p:spTree>
    <p:extLst>
      <p:ext uri="{BB962C8B-B14F-4D97-AF65-F5344CB8AC3E}">
        <p14:creationId xmlns:p14="http://schemas.microsoft.com/office/powerpoint/2010/main" val="10360202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Flexbox &amp; Grid</a:t>
            </a:r>
            <a:endParaRPr lang="en-US" sz="6999" b="1" dirty="0">
              <a:solidFill>
                <a:srgbClr val="1E293B"/>
              </a:solidFill>
              <a:latin typeface="Bricolage Grotesque Bold"/>
              <a:ea typeface="Bricolage Grotesque Bold"/>
              <a:cs typeface="Bricolage Grotesque Bold"/>
              <a:sym typeface="Bricolage Grotesque Bold"/>
            </a:endParaRPr>
          </a:p>
        </p:txBody>
      </p:sp>
      <p:pic>
        <p:nvPicPr>
          <p:cNvPr id="6" name="Picture 5"/>
          <p:cNvPicPr>
            <a:picLocks noChangeAspect="1"/>
          </p:cNvPicPr>
          <p:nvPr/>
        </p:nvPicPr>
        <p:blipFill>
          <a:blip r:embed="rId2"/>
          <a:stretch>
            <a:fillRect/>
          </a:stretch>
        </p:blipFill>
        <p:spPr>
          <a:xfrm>
            <a:off x="3048000" y="2066550"/>
            <a:ext cx="3505200" cy="7377759"/>
          </a:xfrm>
          <a:prstGeom prst="rect">
            <a:avLst/>
          </a:prstGeom>
        </p:spPr>
      </p:pic>
      <p:pic>
        <p:nvPicPr>
          <p:cNvPr id="8" name="Picture 7"/>
          <p:cNvPicPr>
            <a:picLocks noChangeAspect="1"/>
          </p:cNvPicPr>
          <p:nvPr/>
        </p:nvPicPr>
        <p:blipFill>
          <a:blip r:embed="rId3"/>
          <a:stretch>
            <a:fillRect/>
          </a:stretch>
        </p:blipFill>
        <p:spPr>
          <a:xfrm>
            <a:off x="9067800" y="2628899"/>
            <a:ext cx="4419600" cy="6253060"/>
          </a:xfrm>
          <a:prstGeom prst="rect">
            <a:avLst/>
          </a:prstGeom>
        </p:spPr>
      </p:pic>
    </p:spTree>
    <p:extLst>
      <p:ext uri="{BB962C8B-B14F-4D97-AF65-F5344CB8AC3E}">
        <p14:creationId xmlns:p14="http://schemas.microsoft.com/office/powerpoint/2010/main" val="10341023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err="1" smtClean="0">
                <a:solidFill>
                  <a:srgbClr val="1E293B"/>
                </a:solidFill>
                <a:latin typeface="Bricolage Grotesque Bold"/>
                <a:ea typeface="Bricolage Grotesque Bold"/>
                <a:cs typeface="Bricolage Grotesque Bold"/>
                <a:sym typeface="Bricolage Grotesque Bold"/>
              </a:rPr>
              <a:t>Reponsive</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trong</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TailwindCSS</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3" name="TextBox 3"/>
          <p:cNvSpPr txBox="1"/>
          <p:nvPr/>
        </p:nvSpPr>
        <p:spPr>
          <a:xfrm>
            <a:off x="1905000" y="4229100"/>
            <a:ext cx="12649200" cy="3462486"/>
          </a:xfrm>
          <a:prstGeom prst="rect">
            <a:avLst/>
          </a:prstGeom>
        </p:spPr>
        <p:txBody>
          <a:bodyPr wrap="square" lIns="0" tIns="0" rIns="0" bIns="0" rtlCol="0" anchor="t">
            <a:spAutoFit/>
          </a:bodyPr>
          <a:lstStyle/>
          <a:p>
            <a:pPr marL="323850" lvl="1">
              <a:lnSpc>
                <a:spcPts val="4500"/>
              </a:lnSpc>
            </a:pPr>
            <a:r>
              <a:rPr lang="en-US" sz="3200" dirty="0" smtClean="0"/>
              <a:t>T</a:t>
            </a:r>
            <a:r>
              <a:rPr lang="vi-VN" sz="3200" dirty="0" smtClean="0"/>
              <a:t>ailwind </a:t>
            </a:r>
            <a:r>
              <a:rPr lang="vi-VN" sz="3200" dirty="0"/>
              <a:t>CSS sử dụng breakpoint (điểm ngắt) để áp dụng các class khác nhau dựa trên kích thước màn </a:t>
            </a:r>
            <a:r>
              <a:rPr lang="vi-VN" sz="3200" dirty="0" smtClean="0"/>
              <a:t>hình</a:t>
            </a:r>
            <a:r>
              <a:rPr lang="en-US" sz="3200" dirty="0"/>
              <a:t> </a:t>
            </a:r>
            <a:r>
              <a:rPr lang="en-US" sz="3200" dirty="0" smtClean="0"/>
              <a:t>(Mobile First)</a:t>
            </a:r>
            <a:br>
              <a:rPr lang="en-US" sz="3200" dirty="0" smtClean="0"/>
            </a:br>
            <a:endParaRPr lang="en-US" sz="3200" dirty="0" smtClean="0"/>
          </a:p>
          <a:p>
            <a:pPr marL="323850" lvl="1">
              <a:lnSpc>
                <a:spcPts val="4500"/>
              </a:lnSpc>
            </a:pPr>
            <a:r>
              <a:rPr lang="vi-VN" sz="3200" dirty="0" smtClean="0"/>
              <a:t>Các </a:t>
            </a:r>
            <a:r>
              <a:rPr lang="vi-VN" sz="3200" dirty="0"/>
              <a:t>breakpoint này được định nghĩa trong cấu hình của Tailwind và có thể được sử dụng để thay đổi kiểu dáng của phần tử cho từng kích thước màn hình khác nhau.</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spTree>
    <p:extLst>
      <p:ext uri="{BB962C8B-B14F-4D97-AF65-F5344CB8AC3E}">
        <p14:creationId xmlns:p14="http://schemas.microsoft.com/office/powerpoint/2010/main" val="25172141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219200" y="4914900"/>
            <a:ext cx="15544800" cy="4039567"/>
          </a:xfrm>
          <a:prstGeom prst="rect">
            <a:avLst/>
          </a:prstGeom>
        </p:spPr>
        <p:txBody>
          <a:bodyPr wrap="square" lIns="0" tIns="0" rIns="0" bIns="0" rtlCol="0" anchor="t">
            <a:spAutoFit/>
          </a:bodyPr>
          <a:lstStyle/>
          <a:p>
            <a:pPr marL="323850" lvl="1">
              <a:lnSpc>
                <a:spcPts val="4500"/>
              </a:lnSpc>
            </a:pPr>
            <a:r>
              <a:rPr lang="vi-VN" sz="3200" dirty="0" smtClean="0"/>
              <a:t>Kích </a:t>
            </a:r>
            <a:r>
              <a:rPr lang="vi-VN" sz="3200" dirty="0"/>
              <a:t>thước văn bản sẽ là text-base (16px) trên màn hình nhỏ</a:t>
            </a:r>
            <a:r>
              <a:rPr lang="vi-VN" sz="3200" dirty="0" smtClean="0"/>
              <a:t>.</a:t>
            </a:r>
            <a:endParaRPr lang="en-US" sz="3200" dirty="0" smtClean="0"/>
          </a:p>
          <a:p>
            <a:pPr marL="323850" lvl="1">
              <a:lnSpc>
                <a:spcPts val="4500"/>
              </a:lnSpc>
            </a:pPr>
            <a:endParaRPr lang="vi-VN" sz="3200" dirty="0"/>
          </a:p>
          <a:p>
            <a:pPr marL="323850" lvl="1">
              <a:lnSpc>
                <a:spcPts val="4500"/>
              </a:lnSpc>
            </a:pPr>
            <a:r>
              <a:rPr lang="vi-VN" sz="3200" dirty="0"/>
              <a:t>Trên màn hình từ 640px trở lên, kích thước văn bản sẽ là text-lg (18px</a:t>
            </a:r>
            <a:r>
              <a:rPr lang="vi-VN" sz="3200" dirty="0" smtClean="0"/>
              <a:t>).</a:t>
            </a:r>
            <a:endParaRPr lang="en-US" sz="3200" dirty="0" smtClean="0"/>
          </a:p>
          <a:p>
            <a:pPr marL="323850" lvl="1">
              <a:lnSpc>
                <a:spcPts val="4500"/>
              </a:lnSpc>
            </a:pPr>
            <a:endParaRPr lang="vi-VN" sz="3200" dirty="0"/>
          </a:p>
          <a:p>
            <a:pPr marL="323850" lvl="1">
              <a:lnSpc>
                <a:spcPts val="4500"/>
              </a:lnSpc>
            </a:pPr>
            <a:r>
              <a:rPr lang="vi-VN" sz="3200" dirty="0"/>
              <a:t>Trên màn hình từ 768px trở lên, kích thước văn bản sẽ là text-xl (20px</a:t>
            </a:r>
            <a:r>
              <a:rPr lang="vi-VN" sz="3200" dirty="0" smtClean="0"/>
              <a:t>).</a:t>
            </a:r>
            <a:endParaRPr lang="en-US" sz="3200" dirty="0" smtClean="0"/>
          </a:p>
          <a:p>
            <a:pPr marL="323850" lvl="1">
              <a:lnSpc>
                <a:spcPts val="4500"/>
              </a:lnSpc>
            </a:pPr>
            <a:endParaRPr lang="vi-VN" sz="3200" dirty="0"/>
          </a:p>
          <a:p>
            <a:pPr marL="323850" lvl="1">
              <a:lnSpc>
                <a:spcPts val="4500"/>
              </a:lnSpc>
            </a:pPr>
            <a:r>
              <a:rPr lang="vi-VN" sz="3200" dirty="0"/>
              <a:t>Trên màn hình từ 1024px trở lên, kích thước văn bản sẽ là text-2xl (24px</a:t>
            </a:r>
            <a:r>
              <a:rPr lang="vi-VN" sz="3200" dirty="0" smtClean="0"/>
              <a:t>).</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7" name="Picture 6"/>
          <p:cNvPicPr>
            <a:picLocks noChangeAspect="1"/>
          </p:cNvPicPr>
          <p:nvPr/>
        </p:nvPicPr>
        <p:blipFill>
          <a:blip r:embed="rId2"/>
          <a:stretch>
            <a:fillRect/>
          </a:stretch>
        </p:blipFill>
        <p:spPr>
          <a:xfrm>
            <a:off x="2924174" y="647700"/>
            <a:ext cx="11630025" cy="3337534"/>
          </a:xfrm>
          <a:prstGeom prst="rect">
            <a:avLst/>
          </a:prstGeom>
        </p:spPr>
      </p:pic>
    </p:spTree>
    <p:extLst>
      <p:ext uri="{BB962C8B-B14F-4D97-AF65-F5344CB8AC3E}">
        <p14:creationId xmlns:p14="http://schemas.microsoft.com/office/powerpoint/2010/main" val="22536278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8" name="TextBox 3"/>
          <p:cNvSpPr txBox="1"/>
          <p:nvPr/>
        </p:nvSpPr>
        <p:spPr>
          <a:xfrm>
            <a:off x="2209800" y="1790700"/>
            <a:ext cx="4495800" cy="577081"/>
          </a:xfrm>
          <a:prstGeom prst="rect">
            <a:avLst/>
          </a:prstGeom>
        </p:spPr>
        <p:txBody>
          <a:bodyPr wrap="square" lIns="0" tIns="0" rIns="0" bIns="0" rtlCol="0" anchor="t">
            <a:spAutoFit/>
          </a:bodyPr>
          <a:lstStyle/>
          <a:p>
            <a:pPr marL="323850" lvl="1">
              <a:lnSpc>
                <a:spcPts val="4500"/>
              </a:lnSpc>
            </a:pPr>
            <a:r>
              <a:rPr lang="en-US" sz="3200" dirty="0" err="1" smtClean="0"/>
              <a:t>Các</a:t>
            </a:r>
            <a:r>
              <a:rPr lang="en-US" sz="3200" dirty="0" smtClean="0"/>
              <a:t> Prefix Responsive</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sp>
        <p:nvSpPr>
          <p:cNvPr id="9" name="TextBox 3"/>
          <p:cNvSpPr txBox="1"/>
          <p:nvPr/>
        </p:nvSpPr>
        <p:spPr>
          <a:xfrm>
            <a:off x="9906000" y="1181099"/>
            <a:ext cx="7010400" cy="577081"/>
          </a:xfrm>
          <a:prstGeom prst="rect">
            <a:avLst/>
          </a:prstGeom>
        </p:spPr>
        <p:txBody>
          <a:bodyPr wrap="square" lIns="0" tIns="0" rIns="0" bIns="0" rtlCol="0" anchor="t">
            <a:spAutoFit/>
          </a:bodyPr>
          <a:lstStyle/>
          <a:p>
            <a:pPr marL="323850" lvl="1">
              <a:lnSpc>
                <a:spcPts val="4500"/>
              </a:lnSpc>
            </a:pPr>
            <a:r>
              <a:rPr lang="en-US" sz="3200" dirty="0" err="1" smtClean="0">
                <a:solidFill>
                  <a:srgbClr val="1E293B"/>
                </a:solidFill>
                <a:latin typeface="+mj-lt"/>
                <a:ea typeface="Bricolage Grotesque"/>
                <a:cs typeface="Bricolage Grotesque"/>
                <a:sym typeface="Bricolage Grotesque"/>
              </a:rPr>
              <a:t>Hoặc</a:t>
            </a:r>
            <a:r>
              <a:rPr lang="en-US" sz="3200" dirty="0" smtClean="0">
                <a:solidFill>
                  <a:srgbClr val="1E293B"/>
                </a:solidFill>
                <a:latin typeface="+mj-lt"/>
                <a:ea typeface="Bricolage Grotesque"/>
                <a:cs typeface="Bricolage Grotesque"/>
                <a:sym typeface="Bricolage Grotesque"/>
              </a:rPr>
              <a:t> </a:t>
            </a:r>
            <a:r>
              <a:rPr lang="en-US" sz="3200" dirty="0" err="1" smtClean="0">
                <a:solidFill>
                  <a:srgbClr val="1E293B"/>
                </a:solidFill>
                <a:latin typeface="+mj-lt"/>
                <a:ea typeface="Bricolage Grotesque"/>
                <a:cs typeface="Bricolage Grotesque"/>
                <a:sym typeface="Bricolage Grotesque"/>
              </a:rPr>
              <a:t>tự</a:t>
            </a:r>
            <a:r>
              <a:rPr lang="en-US" sz="3200" dirty="0" smtClean="0">
                <a:solidFill>
                  <a:srgbClr val="1E293B"/>
                </a:solidFill>
                <a:latin typeface="+mj-lt"/>
                <a:ea typeface="Bricolage Grotesque"/>
                <a:cs typeface="Bricolage Grotesque"/>
                <a:sym typeface="Bricolage Grotesque"/>
              </a:rPr>
              <a:t> custom</a:t>
            </a:r>
            <a:endParaRPr lang="en-US" sz="3200" dirty="0">
              <a:solidFill>
                <a:srgbClr val="1E293B"/>
              </a:solidFill>
              <a:latin typeface="+mj-lt"/>
              <a:ea typeface="Bricolage Grotesque"/>
              <a:cs typeface="Bricolage Grotesque"/>
              <a:sym typeface="Bricolage Grotesque"/>
            </a:endParaRPr>
          </a:p>
        </p:txBody>
      </p:sp>
      <p:pic>
        <p:nvPicPr>
          <p:cNvPr id="2" name="Picture 1"/>
          <p:cNvPicPr>
            <a:picLocks noChangeAspect="1"/>
          </p:cNvPicPr>
          <p:nvPr/>
        </p:nvPicPr>
        <p:blipFill>
          <a:blip r:embed="rId2"/>
          <a:stretch>
            <a:fillRect/>
          </a:stretch>
        </p:blipFill>
        <p:spPr>
          <a:xfrm>
            <a:off x="609600" y="2781300"/>
            <a:ext cx="8186602" cy="2982023"/>
          </a:xfrm>
          <a:prstGeom prst="rect">
            <a:avLst/>
          </a:prstGeom>
        </p:spPr>
      </p:pic>
      <p:pic>
        <p:nvPicPr>
          <p:cNvPr id="3" name="Picture 2"/>
          <p:cNvPicPr>
            <a:picLocks noChangeAspect="1"/>
          </p:cNvPicPr>
          <p:nvPr/>
        </p:nvPicPr>
        <p:blipFill>
          <a:blip r:embed="rId3"/>
          <a:stretch>
            <a:fillRect/>
          </a:stretch>
        </p:blipFill>
        <p:spPr>
          <a:xfrm>
            <a:off x="9601200" y="2171700"/>
            <a:ext cx="7467600" cy="3233832"/>
          </a:xfrm>
          <a:prstGeom prst="rect">
            <a:avLst/>
          </a:prstGeom>
        </p:spPr>
      </p:pic>
      <p:pic>
        <p:nvPicPr>
          <p:cNvPr id="4" name="Picture 3"/>
          <p:cNvPicPr>
            <a:picLocks noChangeAspect="1"/>
          </p:cNvPicPr>
          <p:nvPr/>
        </p:nvPicPr>
        <p:blipFill>
          <a:blip r:embed="rId4"/>
          <a:stretch>
            <a:fillRect/>
          </a:stretch>
        </p:blipFill>
        <p:spPr>
          <a:xfrm>
            <a:off x="9850034" y="5440500"/>
            <a:ext cx="7122331" cy="35814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7" name="TextBox 7"/>
          <p:cNvSpPr txBox="1"/>
          <p:nvPr/>
        </p:nvSpPr>
        <p:spPr>
          <a:xfrm>
            <a:off x="13487400" y="2095500"/>
            <a:ext cx="4343400" cy="276998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tập</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thực</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hành</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tại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lớp</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2" name="Picture 1"/>
          <p:cNvPicPr>
            <a:picLocks noChangeAspect="1"/>
          </p:cNvPicPr>
          <p:nvPr/>
        </p:nvPicPr>
        <p:blipFill>
          <a:blip r:embed="rId5"/>
          <a:stretch>
            <a:fillRect/>
          </a:stretch>
        </p:blipFill>
        <p:spPr>
          <a:xfrm>
            <a:off x="685800" y="876300"/>
            <a:ext cx="11715382" cy="8382000"/>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3487400" y="2095500"/>
            <a:ext cx="2819400" cy="184665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Ví</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dụ</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1</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2" name="PixPin_2026-01-02_15-06-1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57200" y="723900"/>
            <a:ext cx="12674227" cy="8564332"/>
          </a:xfrm>
          <a:prstGeom prst="rect">
            <a:avLst/>
          </a:prstGeom>
        </p:spPr>
      </p:pic>
    </p:spTree>
    <p:extLst>
      <p:ext uri="{BB962C8B-B14F-4D97-AF65-F5344CB8AC3E}">
        <p14:creationId xmlns:p14="http://schemas.microsoft.com/office/powerpoint/2010/main" val="247597691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5087600" y="2400300"/>
            <a:ext cx="2819400" cy="184665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Ví</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dụ</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2</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4">
                <a:extLst>
                  <a:ext uri="{96DAC541-7B7A-43D3-8B79-37D633B846F1}">
                    <asvg:svgBlip xmlns="" xmlns:asvg="http://schemas.microsoft.com/office/drawing/2016/SVG/main" r:embed="rId5"/>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3" name="PixPin_2026-01-02_15-10-0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09600" y="551637"/>
            <a:ext cx="13106400" cy="9010650"/>
          </a:xfrm>
          <a:prstGeom prst="rect">
            <a:avLst/>
          </a:prstGeom>
        </p:spPr>
      </p:pic>
    </p:spTree>
    <p:extLst>
      <p:ext uri="{BB962C8B-B14F-4D97-AF65-F5344CB8AC3E}">
        <p14:creationId xmlns:p14="http://schemas.microsoft.com/office/powerpoint/2010/main" val="330470647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3"/>
                                        </p:tgtEl>
                                      </p:cBhvr>
                                    </p:cmd>
                                  </p:childTnLst>
                                </p:cTn>
                              </p:par>
                            </p:childTnLst>
                          </p:cTn>
                        </p:par>
                      </p:childTnLst>
                    </p:cTn>
                  </p:par>
                </p:childTnLst>
              </p:cTn>
              <p:nextCondLst>
                <p:cond evt="onClick" delay="0">
                  <p:tgtEl>
                    <p:spTgt spid="3"/>
                  </p:tgtEl>
                </p:cond>
              </p:nextCondLst>
            </p:seq>
            <p:video>
              <p:cMediaNode vol="80000">
                <p:cTn id="7" fill="hold" display="0">
                  <p:stCondLst>
                    <p:cond delay="indefinite"/>
                  </p:stCondLst>
                </p:cTn>
                <p:tgtEl>
                  <p:spTgt spid="3"/>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15087600" y="2400300"/>
            <a:ext cx="2819400" cy="1846659"/>
          </a:xfrm>
          <a:prstGeom prst="rect">
            <a:avLst/>
          </a:prstGeom>
        </p:spPr>
        <p:txBody>
          <a:bodyPr wrap="square" lIns="0" tIns="0" rIns="0" bIns="0" rtlCol="0" anchor="t">
            <a:spAutoFit/>
          </a:bodyPr>
          <a:lstStyle/>
          <a:p>
            <a:pPr marL="0" lvl="0" indent="0" algn="l">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Ví</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dụ</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dirty="0">
                <a:solidFill>
                  <a:srgbClr val="1E293B"/>
                </a:solidFill>
                <a:latin typeface="Bricolage Grotesque Bold"/>
                <a:ea typeface="Bricolage Grotesque Bold"/>
                <a:cs typeface="Bricolage Grotesque Bold"/>
                <a:sym typeface="Bricolage Grotesque Bold"/>
              </a:rPr>
              <a:t>3</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 xmlns:asvg="http://schemas.microsoft.com/office/drawing/2016/SVG/main" r:embed="rId4"/>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4" name="Picture 3"/>
          <p:cNvPicPr>
            <a:picLocks noChangeAspect="1"/>
          </p:cNvPicPr>
          <p:nvPr/>
        </p:nvPicPr>
        <p:blipFill>
          <a:blip r:embed="rId5"/>
          <a:stretch>
            <a:fillRect/>
          </a:stretch>
        </p:blipFill>
        <p:spPr>
          <a:xfrm>
            <a:off x="1143000" y="2095500"/>
            <a:ext cx="12680672" cy="6667522"/>
          </a:xfrm>
          <a:prstGeom prst="rect">
            <a:avLst/>
          </a:prstGeom>
        </p:spPr>
      </p:pic>
    </p:spTree>
    <p:extLst>
      <p:ext uri="{BB962C8B-B14F-4D97-AF65-F5344CB8AC3E}">
        <p14:creationId xmlns:p14="http://schemas.microsoft.com/office/powerpoint/2010/main" val="31341318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470</TotalTime>
  <Words>266</Words>
  <Application>Microsoft Office PowerPoint</Application>
  <PresentationFormat>Custom</PresentationFormat>
  <Paragraphs>45</Paragraphs>
  <Slides>20</Slides>
  <Notes>0</Notes>
  <HiddenSlides>0</HiddenSlides>
  <MMClips>4</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Bricolage Grotesque Bold</vt:lpstr>
      <vt:lpstr>Bricolage Grotesque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 BUỔI 1: TỪ RAZOR VIEW SANG JSX</dc:title>
  <dc:creator>AN NGUYEN/Staff/VT IT</dc:creator>
  <dc:description>Bài thuyết trình - BUỔI 1: TỪ RAZOR VIEW SANG JSX</dc:description>
  <cp:lastModifiedBy>vtrust</cp:lastModifiedBy>
  <cp:revision>24</cp:revision>
  <dcterms:created xsi:type="dcterms:W3CDTF">2006-08-16T00:00:00Z</dcterms:created>
  <dcterms:modified xsi:type="dcterms:W3CDTF">2026-01-16T03:38:02Z</dcterms:modified>
  <dc:identifier>DAG8Mi2FD9A</dc:identifier>
</cp:coreProperties>
</file>