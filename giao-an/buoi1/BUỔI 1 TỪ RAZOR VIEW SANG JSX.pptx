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Lst>
  <p:sldSz cx="18288000" cy="10287000"/>
  <p:notesSz cx="6858000" cy="9144000"/>
  <p:embeddedFontLst>
    <p:embeddedFont>
      <p:font typeface="Bricolage Grotesque Semi-Bold" panose="020B0604020202020204" charset="0"/>
      <p:regular r:id="rId19"/>
    </p:embeddedFont>
    <p:embeddedFont>
      <p:font typeface="HK Grotesk" panose="020B0604020202020204" charset="0"/>
      <p:regular r:id="rId20"/>
    </p:embeddedFont>
    <p:embeddedFont>
      <p:font typeface="Calibri" panose="020F0502020204030204" pitchFamily="34" charset="0"/>
      <p:regular r:id="rId21"/>
      <p:bold r:id="rId22"/>
      <p:italic r:id="rId23"/>
      <p:boldItalic r:id="rId24"/>
    </p:embeddedFont>
    <p:embeddedFont>
      <p:font typeface="Canva Sans Bold" panose="020B0604020202020204" charset="0"/>
      <p:regular r:id="rId25"/>
    </p:embeddedFont>
    <p:embeddedFont>
      <p:font typeface="Bricolage Grotesque Bold" panose="020B0604020202020204" charset="0"/>
      <p:regular r:id="rId26"/>
    </p:embeddedFont>
    <p:embeddedFont>
      <p:font typeface="Bricolage Grotesque"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1" d="100"/>
          <a:sy n="71" d="100"/>
        </p:scale>
        <p:origin x="714"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2026-01-02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2026-01-02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2026-01-02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2026-01-02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2026-01-02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2026-01-02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2026-01-02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2026-01-02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2026-01-02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2026-01-02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2026-01-02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2026-01-02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3.svg"/></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grpSp>
        <p:nvGrpSpPr>
          <p:cNvPr id="2" name="Group 2"/>
          <p:cNvGrpSpPr/>
          <p:nvPr/>
        </p:nvGrpSpPr>
        <p:grpSpPr>
          <a:xfrm>
            <a:off x="8271423" y="666750"/>
            <a:ext cx="10223040" cy="8953500"/>
            <a:chOff x="0" y="0"/>
            <a:chExt cx="1583816" cy="1387131"/>
          </a:xfrm>
        </p:grpSpPr>
        <p:sp>
          <p:nvSpPr>
            <p:cNvPr id="3" name="Freeform 3"/>
            <p:cNvSpPr/>
            <p:nvPr/>
          </p:nvSpPr>
          <p:spPr>
            <a:xfrm>
              <a:off x="0" y="0"/>
              <a:ext cx="1583816" cy="1387131"/>
            </a:xfrm>
            <a:custGeom>
              <a:avLst/>
              <a:gdLst/>
              <a:ahLst/>
              <a:cxnLst/>
              <a:rect l="l" t="t" r="r" b="b"/>
              <a:pathLst>
                <a:path w="1583816" h="1387131">
                  <a:moveTo>
                    <a:pt x="15146" y="0"/>
                  </a:moveTo>
                  <a:lnTo>
                    <a:pt x="1568670" y="0"/>
                  </a:lnTo>
                  <a:cubicBezTo>
                    <a:pt x="1572687" y="0"/>
                    <a:pt x="1576540" y="1596"/>
                    <a:pt x="1579380" y="4436"/>
                  </a:cubicBezTo>
                  <a:cubicBezTo>
                    <a:pt x="1582221" y="7277"/>
                    <a:pt x="1583816" y="11129"/>
                    <a:pt x="1583816" y="15146"/>
                  </a:cubicBezTo>
                  <a:lnTo>
                    <a:pt x="1583816" y="1371985"/>
                  </a:lnTo>
                  <a:cubicBezTo>
                    <a:pt x="1583816" y="1376002"/>
                    <a:pt x="1582221" y="1379855"/>
                    <a:pt x="1579380" y="1382695"/>
                  </a:cubicBezTo>
                  <a:cubicBezTo>
                    <a:pt x="1576540" y="1385536"/>
                    <a:pt x="1572687" y="1387131"/>
                    <a:pt x="1568670" y="1387131"/>
                  </a:cubicBezTo>
                  <a:lnTo>
                    <a:pt x="15146" y="1387131"/>
                  </a:lnTo>
                  <a:cubicBezTo>
                    <a:pt x="6781" y="1387131"/>
                    <a:pt x="0" y="1380350"/>
                    <a:pt x="0" y="1371985"/>
                  </a:cubicBezTo>
                  <a:lnTo>
                    <a:pt x="0" y="15146"/>
                  </a:lnTo>
                  <a:cubicBezTo>
                    <a:pt x="0" y="6781"/>
                    <a:pt x="6781" y="0"/>
                    <a:pt x="15146" y="0"/>
                  </a:cubicBezTo>
                  <a:close/>
                </a:path>
              </a:pathLst>
            </a:custGeom>
            <a:blipFill>
              <a:blip r:embed="rId2"/>
              <a:stretch>
                <a:fillRect l="-29430" r="-28373"/>
              </a:stretch>
            </a:blipFill>
            <a:ln w="19050" cap="sq">
              <a:solidFill>
                <a:srgbClr val="FFFFFF"/>
              </a:solidFill>
              <a:prstDash val="solid"/>
              <a:miter/>
            </a:ln>
          </p:spPr>
        </p:sp>
      </p:grpSp>
      <p:grpSp>
        <p:nvGrpSpPr>
          <p:cNvPr id="4" name="Group 4"/>
          <p:cNvGrpSpPr/>
          <p:nvPr/>
        </p:nvGrpSpPr>
        <p:grpSpPr>
          <a:xfrm>
            <a:off x="15677043" y="6462606"/>
            <a:ext cx="3467057" cy="4305236"/>
            <a:chOff x="0" y="0"/>
            <a:chExt cx="4622743" cy="5740315"/>
          </a:xfrm>
        </p:grpSpPr>
        <p:sp>
          <p:nvSpPr>
            <p:cNvPr id="5" name="Freeform 5"/>
            <p:cNvSpPr/>
            <p:nvPr/>
          </p:nvSpPr>
          <p:spPr>
            <a:xfrm rot="-2700000">
              <a:off x="-124706" y="1478676"/>
              <a:ext cx="4872155" cy="1665391"/>
            </a:xfrm>
            <a:custGeom>
              <a:avLst/>
              <a:gdLst/>
              <a:ahLst/>
              <a:cxnLst/>
              <a:rect l="l" t="t" r="r" b="b"/>
              <a:pathLst>
                <a:path w="4872155" h="1665391">
                  <a:moveTo>
                    <a:pt x="0" y="0"/>
                  </a:moveTo>
                  <a:lnTo>
                    <a:pt x="4872155" y="0"/>
                  </a:lnTo>
                  <a:lnTo>
                    <a:pt x="4872155" y="1665391"/>
                  </a:lnTo>
                  <a:lnTo>
                    <a:pt x="0" y="1665391"/>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grpSp>
          <p:nvGrpSpPr>
            <p:cNvPr id="6" name="Group 6"/>
            <p:cNvGrpSpPr/>
            <p:nvPr/>
          </p:nvGrpSpPr>
          <p:grpSpPr>
            <a:xfrm rot="8100000">
              <a:off x="-106337" y="2577879"/>
              <a:ext cx="4835418" cy="1702128"/>
              <a:chOff x="0" y="0"/>
              <a:chExt cx="954623" cy="336039"/>
            </a:xfrm>
          </p:grpSpPr>
          <p:sp>
            <p:nvSpPr>
              <p:cNvPr id="7" name="Freeform 7"/>
              <p:cNvSpPr/>
              <p:nvPr/>
            </p:nvSpPr>
            <p:spPr>
              <a:xfrm>
                <a:off x="0" y="0"/>
                <a:ext cx="954623" cy="336039"/>
              </a:xfrm>
              <a:custGeom>
                <a:avLst/>
                <a:gdLst/>
                <a:ahLst/>
                <a:cxnLst/>
                <a:rect l="l" t="t" r="r" b="b"/>
                <a:pathLst>
                  <a:path w="954623" h="336039">
                    <a:moveTo>
                      <a:pt x="751423" y="0"/>
                    </a:moveTo>
                    <a:cubicBezTo>
                      <a:pt x="863647" y="0"/>
                      <a:pt x="954623" y="75225"/>
                      <a:pt x="954623" y="168020"/>
                    </a:cubicBezTo>
                    <a:cubicBezTo>
                      <a:pt x="954623" y="260814"/>
                      <a:pt x="863647" y="336039"/>
                      <a:pt x="751423" y="336039"/>
                    </a:cubicBezTo>
                    <a:lnTo>
                      <a:pt x="203200" y="336039"/>
                    </a:lnTo>
                    <a:cubicBezTo>
                      <a:pt x="90976" y="336039"/>
                      <a:pt x="0" y="260814"/>
                      <a:pt x="0" y="168020"/>
                    </a:cubicBezTo>
                    <a:cubicBezTo>
                      <a:pt x="0" y="75225"/>
                      <a:pt x="90976" y="0"/>
                      <a:pt x="203200" y="0"/>
                    </a:cubicBezTo>
                    <a:close/>
                  </a:path>
                </a:pathLst>
              </a:custGeom>
              <a:solidFill>
                <a:srgbClr val="64748B"/>
              </a:solidFill>
              <a:ln cap="sq">
                <a:noFill/>
                <a:prstDash val="solid"/>
                <a:miter/>
              </a:ln>
            </p:spPr>
          </p:sp>
          <p:sp>
            <p:nvSpPr>
              <p:cNvPr id="8" name="TextBox 8"/>
              <p:cNvSpPr txBox="1"/>
              <p:nvPr/>
            </p:nvSpPr>
            <p:spPr>
              <a:xfrm>
                <a:off x="0" y="-19050"/>
                <a:ext cx="954623" cy="355089"/>
              </a:xfrm>
              <a:prstGeom prst="rect">
                <a:avLst/>
              </a:prstGeom>
            </p:spPr>
            <p:txBody>
              <a:bodyPr lIns="18752" tIns="18752" rIns="18752" bIns="18752" rtlCol="0" anchor="ctr"/>
              <a:lstStyle/>
              <a:p>
                <a:pPr marL="0" lvl="0" indent="0" algn="ctr">
                  <a:lnSpc>
                    <a:spcPts val="755"/>
                  </a:lnSpc>
                  <a:spcBef>
                    <a:spcPct val="0"/>
                  </a:spcBef>
                </a:pPr>
                <a:endParaRPr/>
              </a:p>
            </p:txBody>
          </p:sp>
        </p:grpSp>
      </p:grpSp>
      <p:sp>
        <p:nvSpPr>
          <p:cNvPr id="9" name="TextBox 9"/>
          <p:cNvSpPr txBox="1"/>
          <p:nvPr/>
        </p:nvSpPr>
        <p:spPr>
          <a:xfrm>
            <a:off x="452436" y="4302125"/>
            <a:ext cx="7619981" cy="1816100"/>
          </a:xfrm>
          <a:prstGeom prst="rect">
            <a:avLst/>
          </a:prstGeom>
        </p:spPr>
        <p:txBody>
          <a:bodyPr lIns="0" tIns="0" rIns="0" bIns="0" rtlCol="0" anchor="t">
            <a:spAutoFit/>
          </a:bodyPr>
          <a:lstStyle/>
          <a:p>
            <a:pPr marL="0" lvl="0" indent="0" algn="l">
              <a:lnSpc>
                <a:spcPts val="6999"/>
              </a:lnSpc>
              <a:spcBef>
                <a:spcPct val="0"/>
              </a:spcBef>
            </a:pPr>
            <a:r>
              <a:rPr lang="en-US" sz="6999" b="1" u="none" strike="noStrike" spc="-419">
                <a:solidFill>
                  <a:srgbClr val="1E293B"/>
                </a:solidFill>
                <a:latin typeface="Canva Sans Bold"/>
                <a:ea typeface="Canva Sans Bold"/>
                <a:cs typeface="Canva Sans Bold"/>
                <a:sym typeface="Canva Sans Bold"/>
              </a:rPr>
              <a:t>BUỔI 1: TỪ RAZOR VIEW SANG JSX</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TextBox 2"/>
          <p:cNvSpPr txBox="1"/>
          <p:nvPr/>
        </p:nvSpPr>
        <p:spPr>
          <a:xfrm>
            <a:off x="0" y="1162050"/>
            <a:ext cx="18288000" cy="930275"/>
          </a:xfrm>
          <a:prstGeom prst="rect">
            <a:avLst/>
          </a:prstGeom>
        </p:spPr>
        <p:txBody>
          <a:bodyPr lIns="0" tIns="0" rIns="0" bIns="0" rtlCol="0" anchor="t">
            <a:spAutoFit/>
          </a:bodyPr>
          <a:lstStyle/>
          <a:p>
            <a:pPr marL="0" lvl="0" indent="0" algn="ctr">
              <a:lnSpc>
                <a:spcPts val="6999"/>
              </a:lnSpc>
              <a:spcBef>
                <a:spcPct val="0"/>
              </a:spcBef>
            </a:pPr>
            <a:r>
              <a:rPr lang="en-US" sz="6999" b="1">
                <a:solidFill>
                  <a:srgbClr val="1E293B"/>
                </a:solidFill>
                <a:latin typeface="Bricolage Grotesque Bold"/>
                <a:ea typeface="Bricolage Grotesque Bold"/>
                <a:cs typeface="Bricolage Grotesque Bold"/>
                <a:sym typeface="Bricolage Grotesque Bold"/>
              </a:rPr>
              <a:t>Nội dung buổi học</a:t>
            </a:r>
          </a:p>
        </p:txBody>
      </p:sp>
      <p:sp>
        <p:nvSpPr>
          <p:cNvPr id="3" name="TextBox 3"/>
          <p:cNvSpPr txBox="1"/>
          <p:nvPr/>
        </p:nvSpPr>
        <p:spPr>
          <a:xfrm>
            <a:off x="1549043" y="3208601"/>
            <a:ext cx="9678972" cy="4523629"/>
          </a:xfrm>
          <a:prstGeom prst="rect">
            <a:avLst/>
          </a:prstGeom>
        </p:spPr>
        <p:txBody>
          <a:bodyPr lIns="0" tIns="0" rIns="0" bIns="0" rtlCol="0" anchor="t">
            <a:spAutoFit/>
          </a:bodyPr>
          <a:lstStyle/>
          <a:p>
            <a:pPr marL="755864" lvl="1" indent="-377932" algn="l">
              <a:lnSpc>
                <a:spcPts val="7282"/>
              </a:lnSpc>
              <a:buAutoNum type="arabicPeriod"/>
            </a:pPr>
            <a:r>
              <a:rPr lang="en-US" sz="3500" b="1">
                <a:solidFill>
                  <a:srgbClr val="1E293B"/>
                </a:solidFill>
                <a:latin typeface="Bricolage Grotesque Bold"/>
                <a:ea typeface="Bricolage Grotesque Bold"/>
                <a:cs typeface="Bricolage Grotesque Bold"/>
                <a:sym typeface="Bricolage Grotesque Bold"/>
              </a:rPr>
              <a:t>React vs Razor View</a:t>
            </a:r>
          </a:p>
          <a:p>
            <a:pPr marL="755864" lvl="1" indent="-377932" algn="l">
              <a:lnSpc>
                <a:spcPts val="7282"/>
              </a:lnSpc>
              <a:buAutoNum type="arabicPeriod"/>
            </a:pPr>
            <a:r>
              <a:rPr lang="en-US" sz="3500" b="1">
                <a:solidFill>
                  <a:srgbClr val="1E293B"/>
                </a:solidFill>
                <a:latin typeface="Bricolage Grotesque Bold"/>
                <a:ea typeface="Bricolage Grotesque Bold"/>
                <a:cs typeface="Bricolage Grotesque Bold"/>
                <a:sym typeface="Bricolage Grotesque Bold"/>
              </a:rPr>
              <a:t>Setup Project ViteJS &amp; Tailwind</a:t>
            </a:r>
          </a:p>
          <a:p>
            <a:pPr marL="755864" lvl="1" indent="-377932" algn="l">
              <a:lnSpc>
                <a:spcPts val="7282"/>
              </a:lnSpc>
              <a:buAutoNum type="arabicPeriod"/>
            </a:pPr>
            <a:r>
              <a:rPr lang="en-US" sz="3500" b="1">
                <a:solidFill>
                  <a:srgbClr val="1E293B"/>
                </a:solidFill>
                <a:latin typeface="Bricolage Grotesque Bold"/>
                <a:ea typeface="Bricolage Grotesque Bold"/>
                <a:cs typeface="Bricolage Grotesque Bold"/>
                <a:sym typeface="Bricolage Grotesque Bold"/>
              </a:rPr>
              <a:t>Component trong React</a:t>
            </a:r>
          </a:p>
          <a:p>
            <a:pPr marL="755864" lvl="1" indent="-377932" algn="l">
              <a:lnSpc>
                <a:spcPts val="7282"/>
              </a:lnSpc>
              <a:buAutoNum type="arabicPeriod"/>
            </a:pPr>
            <a:r>
              <a:rPr lang="en-US" sz="3500" b="1">
                <a:solidFill>
                  <a:srgbClr val="1E293B"/>
                </a:solidFill>
                <a:latin typeface="Bricolage Grotesque Bold"/>
                <a:ea typeface="Bricolage Grotesque Bold"/>
                <a:cs typeface="Bricolage Grotesque Bold"/>
                <a:sym typeface="Bricolage Grotesque Bold"/>
              </a:rPr>
              <a:t>CSS vs Tailwind</a:t>
            </a:r>
          </a:p>
          <a:p>
            <a:pPr marL="755864" lvl="1" indent="-377932" algn="l">
              <a:lnSpc>
                <a:spcPts val="7282"/>
              </a:lnSpc>
              <a:buAutoNum type="arabicPeriod"/>
            </a:pPr>
            <a:r>
              <a:rPr lang="en-US" sz="3500" b="1">
                <a:solidFill>
                  <a:srgbClr val="1E293B"/>
                </a:solidFill>
                <a:latin typeface="Bricolage Grotesque Bold"/>
                <a:ea typeface="Bricolage Grotesque Bold"/>
                <a:cs typeface="Bricolage Grotesque Bold"/>
                <a:sym typeface="Bricolage Grotesque Bold"/>
              </a:rPr>
              <a:t>Thực hành</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1028700" y="1690000"/>
          <a:ext cx="16230600" cy="7568300"/>
        </p:xfrm>
        <a:graphic>
          <a:graphicData uri="http://schemas.openxmlformats.org/drawingml/2006/table">
            <a:tbl>
              <a:tblPr/>
              <a:tblGrid>
                <a:gridCol w="8115300">
                  <a:extLst>
                    <a:ext uri="{9D8B030D-6E8A-4147-A177-3AD203B41FA5}">
                      <a16:colId xmlns:a16="http://schemas.microsoft.com/office/drawing/2014/main" val="20000"/>
                    </a:ext>
                  </a:extLst>
                </a:gridCol>
                <a:gridCol w="8115300">
                  <a:extLst>
                    <a:ext uri="{9D8B030D-6E8A-4147-A177-3AD203B41FA5}">
                      <a16:colId xmlns:a16="http://schemas.microsoft.com/office/drawing/2014/main" val="20001"/>
                    </a:ext>
                  </a:extLst>
                </a:gridCol>
              </a:tblGrid>
              <a:tr h="1100917">
                <a:tc>
                  <a:txBody>
                    <a:bodyPr/>
                    <a:lstStyle/>
                    <a:p>
                      <a:pPr algn="ctr">
                        <a:lnSpc>
                          <a:spcPts val="4200"/>
                        </a:lnSpc>
                        <a:defRPr/>
                      </a:pPr>
                      <a:r>
                        <a:rPr lang="en-US" sz="3000" b="1">
                          <a:solidFill>
                            <a:srgbClr val="000000"/>
                          </a:solidFill>
                          <a:latin typeface="Bricolage Grotesque Bold"/>
                          <a:ea typeface="Bricolage Grotesque Bold"/>
                          <a:cs typeface="Bricolage Grotesque Bold"/>
                          <a:sym typeface="Bricolage Grotesque Bold"/>
                        </a:rPr>
                        <a:t>React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200"/>
                        </a:lnSpc>
                        <a:defRPr/>
                      </a:pPr>
                      <a:r>
                        <a:rPr lang="en-US" sz="3000" b="1">
                          <a:solidFill>
                            <a:srgbClr val="000000"/>
                          </a:solidFill>
                          <a:latin typeface="Bricolage Grotesque Bold"/>
                          <a:ea typeface="Bricolage Grotesque Bold"/>
                          <a:cs typeface="Bricolage Grotesque Bold"/>
                          <a:sym typeface="Bricolage Grotesque Bold"/>
                        </a:rPr>
                        <a:t>Razor View (ASP.NET MVC)</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6467383">
                <a:tc>
                  <a:txBody>
                    <a:bodyPr/>
                    <a:lstStyle/>
                    <a:p>
                      <a:pPr marL="539746" lvl="1" indent="-269873" algn="l">
                        <a:lnSpc>
                          <a:spcPts val="3749"/>
                        </a:lnSpc>
                        <a:buFont typeface="Arial"/>
                        <a:buChar char="•"/>
                        <a:defRPr/>
                      </a:pPr>
                      <a:r>
                        <a:rPr lang="en-US" sz="2499">
                          <a:solidFill>
                            <a:srgbClr val="000000"/>
                          </a:solidFill>
                          <a:latin typeface="Bricolage Grotesque"/>
                          <a:ea typeface="Bricolage Grotesque"/>
                          <a:cs typeface="Bricolage Grotesque"/>
                          <a:sym typeface="Bricolage Grotesque"/>
                        </a:rPr>
                        <a:t>Là một thư viện JavaScript để xây dựng giao diện người dùng, phát triển bởi Facebook.</a:t>
                      </a:r>
                      <a:endParaRPr lang="en-US" sz="1100"/>
                    </a:p>
                    <a:p>
                      <a:pPr algn="l">
                        <a:lnSpc>
                          <a:spcPts val="3749"/>
                        </a:lnSpc>
                      </a:pPr>
                      <a:endParaRPr lang="en-US" sz="1100"/>
                    </a:p>
                    <a:p>
                      <a:pPr marL="539746" lvl="1" indent="-269873" algn="l">
                        <a:lnSpc>
                          <a:spcPts val="3749"/>
                        </a:lnSpc>
                        <a:buFont typeface="Arial"/>
                        <a:buChar char="•"/>
                      </a:pPr>
                      <a:r>
                        <a:rPr lang="en-US" sz="2499">
                          <a:solidFill>
                            <a:srgbClr val="000000"/>
                          </a:solidFill>
                          <a:latin typeface="Bricolage Grotesque"/>
                          <a:ea typeface="Bricolage Grotesque"/>
                          <a:cs typeface="Bricolage Grotesque"/>
                          <a:sym typeface="Bricolage Grotesque"/>
                        </a:rPr>
                        <a:t>Sử dụng thành phần (component) để tái sử dụng mã và tổ chức giao diện.</a:t>
                      </a:r>
                    </a:p>
                    <a:p>
                      <a:pPr algn="l">
                        <a:lnSpc>
                          <a:spcPts val="3749"/>
                        </a:lnSpc>
                      </a:pPr>
                      <a:endParaRPr lang="en-US" sz="2499">
                        <a:solidFill>
                          <a:srgbClr val="000000"/>
                        </a:solidFill>
                        <a:latin typeface="Bricolage Grotesque"/>
                        <a:ea typeface="Bricolage Grotesque"/>
                        <a:cs typeface="Bricolage Grotesque"/>
                        <a:sym typeface="Bricolage Grotesque"/>
                      </a:endParaRPr>
                    </a:p>
                    <a:p>
                      <a:pPr marL="539746" lvl="1" indent="-269873" algn="l">
                        <a:lnSpc>
                          <a:spcPts val="3749"/>
                        </a:lnSpc>
                        <a:buFont typeface="Arial"/>
                        <a:buChar char="•"/>
                      </a:pPr>
                      <a:r>
                        <a:rPr lang="en-US" sz="2499">
                          <a:solidFill>
                            <a:srgbClr val="000000"/>
                          </a:solidFill>
                          <a:latin typeface="Bricolage Grotesque"/>
                          <a:ea typeface="Bricolage Grotesque"/>
                          <a:cs typeface="Bricolage Grotesque"/>
                          <a:sym typeface="Bricolage Grotesque"/>
                        </a:rPr>
                        <a:t>Hỗ trợ lập trình một chiều (one-way data binding).</a:t>
                      </a:r>
                    </a:p>
                    <a:p>
                      <a:pPr algn="l">
                        <a:lnSpc>
                          <a:spcPts val="3749"/>
                        </a:lnSpc>
                      </a:pPr>
                      <a:endParaRPr lang="en-US" sz="2499">
                        <a:solidFill>
                          <a:srgbClr val="000000"/>
                        </a:solidFill>
                        <a:latin typeface="Bricolage Grotesque"/>
                        <a:ea typeface="Bricolage Grotesque"/>
                        <a:cs typeface="Bricolage Grotesque"/>
                        <a:sym typeface="Bricolage Grotesque"/>
                      </a:endParaRPr>
                    </a:p>
                    <a:p>
                      <a:pPr marL="539746" lvl="1" indent="-269873" algn="l">
                        <a:lnSpc>
                          <a:spcPts val="3749"/>
                        </a:lnSpc>
                        <a:buFont typeface="Arial"/>
                        <a:buChar char="•"/>
                      </a:pPr>
                      <a:r>
                        <a:rPr lang="en-US" sz="2499">
                          <a:solidFill>
                            <a:srgbClr val="000000"/>
                          </a:solidFill>
                          <a:latin typeface="Bricolage Grotesque"/>
                          <a:ea typeface="Bricolage Grotesque"/>
                          <a:cs typeface="Bricolage Grotesque"/>
                          <a:sym typeface="Bricolage Grotesque"/>
                        </a:rPr>
                        <a:t>Thường sử dụng với REST API hoặc GraphQL để lấy dữ liệu.</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539746" lvl="1" indent="-269873" algn="l">
                        <a:lnSpc>
                          <a:spcPts val="3749"/>
                        </a:lnSpc>
                        <a:buFont typeface="Arial"/>
                        <a:buChar char="•"/>
                        <a:defRPr/>
                      </a:pPr>
                      <a:r>
                        <a:rPr lang="en-US" sz="2499">
                          <a:solidFill>
                            <a:srgbClr val="000000"/>
                          </a:solidFill>
                          <a:latin typeface="Bricolage Grotesque"/>
                          <a:ea typeface="Bricolage Grotesque"/>
                          <a:cs typeface="Bricolage Grotesque"/>
                          <a:sym typeface="Bricolage Grotesque"/>
                        </a:rPr>
                        <a:t>Là một phần của framework ASP.NET MVC, sử dụng cú pháp Razor để xây dựng giao diện.</a:t>
                      </a:r>
                      <a:endParaRPr lang="en-US" sz="1100"/>
                    </a:p>
                    <a:p>
                      <a:pPr algn="l">
                        <a:lnSpc>
                          <a:spcPts val="3749"/>
                        </a:lnSpc>
                      </a:pPr>
                      <a:endParaRPr lang="en-US" sz="1100"/>
                    </a:p>
                    <a:p>
                      <a:pPr marL="539746" lvl="1" indent="-269873" algn="l">
                        <a:lnSpc>
                          <a:spcPts val="3749"/>
                        </a:lnSpc>
                        <a:buFont typeface="Arial"/>
                        <a:buChar char="•"/>
                      </a:pPr>
                      <a:r>
                        <a:rPr lang="en-US" sz="2499">
                          <a:solidFill>
                            <a:srgbClr val="000000"/>
                          </a:solidFill>
                          <a:latin typeface="Bricolage Grotesque"/>
                          <a:ea typeface="Bricolage Grotesque"/>
                          <a:cs typeface="Bricolage Grotesque"/>
                          <a:sym typeface="Bricolage Grotesque"/>
                        </a:rPr>
                        <a:t>Kết hợp giữa HTML và C# để tạo ra nội dung động.</a:t>
                      </a:r>
                    </a:p>
                    <a:p>
                      <a:pPr algn="l">
                        <a:lnSpc>
                          <a:spcPts val="3749"/>
                        </a:lnSpc>
                      </a:pPr>
                      <a:endParaRPr lang="en-US" sz="2499">
                        <a:solidFill>
                          <a:srgbClr val="000000"/>
                        </a:solidFill>
                        <a:latin typeface="Bricolage Grotesque"/>
                        <a:ea typeface="Bricolage Grotesque"/>
                        <a:cs typeface="Bricolage Grotesque"/>
                        <a:sym typeface="Bricolage Grotesque"/>
                      </a:endParaRPr>
                    </a:p>
                    <a:p>
                      <a:pPr marL="539746" lvl="1" indent="-269873" algn="l">
                        <a:lnSpc>
                          <a:spcPts val="3749"/>
                        </a:lnSpc>
                        <a:buFont typeface="Arial"/>
                        <a:buChar char="•"/>
                      </a:pPr>
                      <a:r>
                        <a:rPr lang="en-US" sz="2499">
                          <a:solidFill>
                            <a:srgbClr val="000000"/>
                          </a:solidFill>
                          <a:latin typeface="Bricolage Grotesque"/>
                          <a:ea typeface="Bricolage Grotesque"/>
                          <a:cs typeface="Bricolage Grotesque"/>
                          <a:sym typeface="Bricolage Grotesque"/>
                        </a:rPr>
                        <a:t>Hỗ trợ lập trình hai chiều (two-way data binding) thông qua model binding.</a:t>
                      </a:r>
                    </a:p>
                    <a:p>
                      <a:pPr algn="l">
                        <a:lnSpc>
                          <a:spcPts val="3749"/>
                        </a:lnSpc>
                      </a:pPr>
                      <a:endParaRPr lang="en-US" sz="2499">
                        <a:solidFill>
                          <a:srgbClr val="000000"/>
                        </a:solidFill>
                        <a:latin typeface="Bricolage Grotesque"/>
                        <a:ea typeface="Bricolage Grotesque"/>
                        <a:cs typeface="Bricolage Grotesque"/>
                        <a:sym typeface="Bricolage Grotesque"/>
                      </a:endParaRPr>
                    </a:p>
                    <a:p>
                      <a:pPr marL="539746" lvl="1" indent="-269873" algn="l">
                        <a:lnSpc>
                          <a:spcPts val="3749"/>
                        </a:lnSpc>
                        <a:buFont typeface="Arial"/>
                        <a:buChar char="•"/>
                      </a:pPr>
                      <a:r>
                        <a:rPr lang="en-US" sz="2499">
                          <a:solidFill>
                            <a:srgbClr val="000000"/>
                          </a:solidFill>
                          <a:latin typeface="Bricolage Grotesque"/>
                          <a:ea typeface="Bricolage Grotesque"/>
                          <a:cs typeface="Bricolage Grotesque"/>
                          <a:sym typeface="Bricolage Grotesque"/>
                        </a:rPr>
                        <a:t>Thường sử dụng với các controller để xử lý logic và trả về view.</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Box 3"/>
          <p:cNvSpPr txBox="1"/>
          <p:nvPr/>
        </p:nvSpPr>
        <p:spPr>
          <a:xfrm>
            <a:off x="0" y="323789"/>
            <a:ext cx="18288000" cy="812068"/>
          </a:xfrm>
          <a:prstGeom prst="rect">
            <a:avLst/>
          </a:prstGeom>
        </p:spPr>
        <p:txBody>
          <a:bodyPr lIns="0" tIns="0" rIns="0" bIns="0" rtlCol="0" anchor="t">
            <a:spAutoFit/>
          </a:bodyPr>
          <a:lstStyle/>
          <a:p>
            <a:pPr algn="ctr">
              <a:lnSpc>
                <a:spcPts val="6626"/>
              </a:lnSpc>
            </a:pPr>
            <a:r>
              <a:rPr lang="en-US" sz="4733" b="1">
                <a:solidFill>
                  <a:srgbClr val="000000"/>
                </a:solidFill>
                <a:latin typeface="Bricolage Grotesque Bold"/>
                <a:ea typeface="Bricolage Grotesque Bold"/>
                <a:cs typeface="Bricolage Grotesque Bold"/>
                <a:sym typeface="Bricolage Grotesque Bold"/>
              </a:rPr>
              <a:t>Lí thuyết: React vs Razor View</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TextBox 2"/>
          <p:cNvSpPr txBox="1"/>
          <p:nvPr/>
        </p:nvSpPr>
        <p:spPr>
          <a:xfrm>
            <a:off x="0" y="324074"/>
            <a:ext cx="18288000" cy="930275"/>
          </a:xfrm>
          <a:prstGeom prst="rect">
            <a:avLst/>
          </a:prstGeom>
        </p:spPr>
        <p:txBody>
          <a:bodyPr lIns="0" tIns="0" rIns="0" bIns="0" rtlCol="0" anchor="t">
            <a:spAutoFit/>
          </a:bodyPr>
          <a:lstStyle/>
          <a:p>
            <a:pPr marL="0" lvl="0" indent="0" algn="ctr">
              <a:lnSpc>
                <a:spcPts val="6999"/>
              </a:lnSpc>
              <a:spcBef>
                <a:spcPct val="0"/>
              </a:spcBef>
            </a:pPr>
            <a:r>
              <a:rPr lang="en-US" sz="6999" b="1">
                <a:solidFill>
                  <a:srgbClr val="1E293B"/>
                </a:solidFill>
                <a:latin typeface="Bricolage Grotesque Bold"/>
                <a:ea typeface="Bricolage Grotesque Bold"/>
                <a:cs typeface="Bricolage Grotesque Bold"/>
                <a:sym typeface="Bricolage Grotesque Bold"/>
              </a:rPr>
              <a:t>JSX là gì?</a:t>
            </a:r>
          </a:p>
        </p:txBody>
      </p:sp>
      <p:sp>
        <p:nvSpPr>
          <p:cNvPr id="3" name="TextBox 3"/>
          <p:cNvSpPr txBox="1"/>
          <p:nvPr/>
        </p:nvSpPr>
        <p:spPr>
          <a:xfrm>
            <a:off x="1224654" y="1962150"/>
            <a:ext cx="15838693" cy="6267450"/>
          </a:xfrm>
          <a:prstGeom prst="rect">
            <a:avLst/>
          </a:prstGeom>
        </p:spPr>
        <p:txBody>
          <a:bodyPr lIns="0" tIns="0" rIns="0" bIns="0" rtlCol="0" anchor="t">
            <a:spAutoFit/>
          </a:bodyPr>
          <a:lstStyle/>
          <a:p>
            <a:pPr marL="647700" lvl="1" indent="-323850" algn="l">
              <a:lnSpc>
                <a:spcPts val="4500"/>
              </a:lnSpc>
              <a:buFont typeface="Arial"/>
              <a:buChar char="•"/>
            </a:pPr>
            <a:r>
              <a:rPr lang="en-US" sz="3000" b="1">
                <a:solidFill>
                  <a:srgbClr val="1E293B"/>
                </a:solidFill>
                <a:latin typeface="Bricolage Grotesque Bold"/>
                <a:ea typeface="Bricolage Grotesque Bold"/>
                <a:cs typeface="Bricolage Grotesque Bold"/>
                <a:sym typeface="Bricolage Grotesque Bold"/>
              </a:rPr>
              <a:t>Cú pháp giống HTML:</a:t>
            </a:r>
            <a:r>
              <a:rPr lang="en-US" sz="3000">
                <a:solidFill>
                  <a:srgbClr val="1E293B"/>
                </a:solidFill>
                <a:latin typeface="Bricolage Grotesque"/>
                <a:ea typeface="Bricolage Grotesque"/>
                <a:cs typeface="Bricolage Grotesque"/>
                <a:sym typeface="Bricolage Grotesque"/>
              </a:rPr>
              <a:t> JSX cho phép bạn viết mã giống như HTML bên trong JavaScript</a:t>
            </a:r>
          </a:p>
          <a:p>
            <a:pPr algn="l">
              <a:lnSpc>
                <a:spcPts val="4500"/>
              </a:lnSpc>
            </a:pPr>
            <a:endParaRPr lang="en-US" sz="3000">
              <a:solidFill>
                <a:srgbClr val="1E293B"/>
              </a:solidFill>
              <a:latin typeface="Bricolage Grotesque"/>
              <a:ea typeface="Bricolage Grotesque"/>
              <a:cs typeface="Bricolage Grotesque"/>
              <a:sym typeface="Bricolage Grotesque"/>
            </a:endParaRPr>
          </a:p>
          <a:p>
            <a:pPr marL="647700" lvl="1" indent="-323850" algn="l">
              <a:lnSpc>
                <a:spcPts val="4500"/>
              </a:lnSpc>
              <a:buFont typeface="Arial"/>
              <a:buChar char="•"/>
            </a:pPr>
            <a:r>
              <a:rPr lang="en-US" sz="3000" b="1">
                <a:solidFill>
                  <a:srgbClr val="1E293B"/>
                </a:solidFill>
                <a:latin typeface="Bricolage Grotesque Bold"/>
                <a:ea typeface="Bricolage Grotesque Bold"/>
                <a:cs typeface="Bricolage Grotesque Bold"/>
                <a:sym typeface="Bricolage Grotesque Bold"/>
              </a:rPr>
              <a:t>Kết hợp JavaScript và HTML: </a:t>
            </a:r>
            <a:r>
              <a:rPr lang="en-US" sz="3000">
                <a:solidFill>
                  <a:srgbClr val="1E293B"/>
                </a:solidFill>
                <a:latin typeface="Bricolage Grotesque"/>
                <a:ea typeface="Bricolage Grotesque"/>
                <a:cs typeface="Bricolage Grotesque"/>
                <a:sym typeface="Bricolage Grotesque"/>
              </a:rPr>
              <a:t>Bạn có thể nhúng các biểu thức JavaScript vào trong JSX bằng cách sử dụng dấu ngoặc nhọn {}.</a:t>
            </a:r>
          </a:p>
          <a:p>
            <a:pPr algn="l">
              <a:lnSpc>
                <a:spcPts val="4500"/>
              </a:lnSpc>
            </a:pPr>
            <a:endParaRPr lang="en-US" sz="3000">
              <a:solidFill>
                <a:srgbClr val="1E293B"/>
              </a:solidFill>
              <a:latin typeface="Bricolage Grotesque"/>
              <a:ea typeface="Bricolage Grotesque"/>
              <a:cs typeface="Bricolage Grotesque"/>
              <a:sym typeface="Bricolage Grotesque"/>
            </a:endParaRPr>
          </a:p>
          <a:p>
            <a:pPr marL="647700" lvl="1" indent="-323850" algn="l">
              <a:lnSpc>
                <a:spcPts val="4500"/>
              </a:lnSpc>
              <a:buFont typeface="Arial"/>
              <a:buChar char="•"/>
            </a:pPr>
            <a:r>
              <a:rPr lang="en-US" sz="3000" b="1">
                <a:solidFill>
                  <a:srgbClr val="1E293B"/>
                </a:solidFill>
                <a:latin typeface="Bricolage Grotesque Bold"/>
                <a:ea typeface="Bricolage Grotesque Bold"/>
                <a:cs typeface="Bricolage Grotesque Bold"/>
                <a:sym typeface="Bricolage Grotesque Bold"/>
              </a:rPr>
              <a:t>Phải được biên dịch: </a:t>
            </a:r>
            <a:r>
              <a:rPr lang="en-US" sz="3000">
                <a:solidFill>
                  <a:srgbClr val="1E293B"/>
                </a:solidFill>
                <a:latin typeface="Bricolage Grotesque"/>
                <a:ea typeface="Bricolage Grotesque"/>
                <a:cs typeface="Bricolage Grotesque"/>
                <a:sym typeface="Bricolage Grotesque"/>
              </a:rPr>
              <a:t>Trình duyệt không hiểu JSX trực tiếp. Do đó, trước khi chạy, JSX cần phải được biên dịch thành JavaScript thông thường. Thường thì bạn sẽ sử dụng Babel hoặc một trình biên dịch khác để thực hiện điều này.</a:t>
            </a:r>
          </a:p>
          <a:p>
            <a:pPr algn="l">
              <a:lnSpc>
                <a:spcPts val="4500"/>
              </a:lnSpc>
            </a:pPr>
            <a:endParaRPr lang="en-US" sz="3000">
              <a:solidFill>
                <a:srgbClr val="1E293B"/>
              </a:solidFill>
              <a:latin typeface="Bricolage Grotesque"/>
              <a:ea typeface="Bricolage Grotesque"/>
              <a:cs typeface="Bricolage Grotesque"/>
              <a:sym typeface="Bricolage Grotesque"/>
            </a:endParaRPr>
          </a:p>
          <a:p>
            <a:pPr marL="647700" lvl="1" indent="-323850" algn="l">
              <a:lnSpc>
                <a:spcPts val="4500"/>
              </a:lnSpc>
              <a:buFont typeface="Arial"/>
              <a:buChar char="•"/>
            </a:pPr>
            <a:r>
              <a:rPr lang="en-US" sz="3000" b="1">
                <a:solidFill>
                  <a:srgbClr val="1E293B"/>
                </a:solidFill>
                <a:latin typeface="Bricolage Grotesque Bold"/>
                <a:ea typeface="Bricolage Grotesque Bold"/>
                <a:cs typeface="Bricolage Grotesque Bold"/>
                <a:sym typeface="Bricolage Grotesque Bold"/>
              </a:rPr>
              <a:t>Các thành phần React:</a:t>
            </a:r>
            <a:r>
              <a:rPr lang="en-US" sz="3000">
                <a:solidFill>
                  <a:srgbClr val="1E293B"/>
                </a:solidFill>
                <a:latin typeface="Bricolage Grotesque"/>
                <a:ea typeface="Bricolage Grotesque"/>
                <a:cs typeface="Bricolage Grotesque"/>
                <a:sym typeface="Bricolage Grotesque"/>
              </a:rPr>
              <a:t> JSX thường được sử dụng để tạo ra các thành phần (components) trong React, cho phép bạn dễ dàng tái sử dụng và tổ chức mã.</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Freeform 2"/>
          <p:cNvSpPr/>
          <p:nvPr/>
        </p:nvSpPr>
        <p:spPr>
          <a:xfrm>
            <a:off x="9144000" y="2517979"/>
            <a:ext cx="8794537" cy="6200148"/>
          </a:xfrm>
          <a:custGeom>
            <a:avLst/>
            <a:gdLst/>
            <a:ahLst/>
            <a:cxnLst/>
            <a:rect l="l" t="t" r="r" b="b"/>
            <a:pathLst>
              <a:path w="8794537" h="6200148">
                <a:moveTo>
                  <a:pt x="0" y="0"/>
                </a:moveTo>
                <a:lnTo>
                  <a:pt x="8794537" y="0"/>
                </a:lnTo>
                <a:lnTo>
                  <a:pt x="8794537" y="6200148"/>
                </a:lnTo>
                <a:lnTo>
                  <a:pt x="0" y="6200148"/>
                </a:lnTo>
                <a:lnTo>
                  <a:pt x="0" y="0"/>
                </a:lnTo>
                <a:close/>
              </a:path>
            </a:pathLst>
          </a:custGeom>
          <a:blipFill>
            <a:blip r:embed="rId2"/>
            <a:stretch>
              <a:fillRect/>
            </a:stretch>
          </a:blipFill>
        </p:spPr>
      </p:sp>
      <p:sp>
        <p:nvSpPr>
          <p:cNvPr id="3" name="TextBox 3"/>
          <p:cNvSpPr txBox="1"/>
          <p:nvPr/>
        </p:nvSpPr>
        <p:spPr>
          <a:xfrm>
            <a:off x="0" y="630238"/>
            <a:ext cx="18288000" cy="930275"/>
          </a:xfrm>
          <a:prstGeom prst="rect">
            <a:avLst/>
          </a:prstGeom>
        </p:spPr>
        <p:txBody>
          <a:bodyPr lIns="0" tIns="0" rIns="0" bIns="0" rtlCol="0" anchor="t">
            <a:spAutoFit/>
          </a:bodyPr>
          <a:lstStyle/>
          <a:p>
            <a:pPr marL="0" lvl="0" indent="0" algn="ctr">
              <a:lnSpc>
                <a:spcPts val="6999"/>
              </a:lnSpc>
              <a:spcBef>
                <a:spcPct val="0"/>
              </a:spcBef>
            </a:pPr>
            <a:r>
              <a:rPr lang="en-US" sz="6999" b="1">
                <a:solidFill>
                  <a:srgbClr val="1E293B"/>
                </a:solidFill>
                <a:latin typeface="Bricolage Grotesque Bold"/>
                <a:ea typeface="Bricolage Grotesque Bold"/>
                <a:cs typeface="Bricolage Grotesque Bold"/>
                <a:sym typeface="Bricolage Grotesque Bold"/>
              </a:rPr>
              <a:t>Quy tắc</a:t>
            </a:r>
          </a:p>
        </p:txBody>
      </p:sp>
      <p:sp>
        <p:nvSpPr>
          <p:cNvPr id="4" name="TextBox 4"/>
          <p:cNvSpPr txBox="1"/>
          <p:nvPr/>
        </p:nvSpPr>
        <p:spPr>
          <a:xfrm>
            <a:off x="512716" y="3293953"/>
            <a:ext cx="8126115" cy="4552950"/>
          </a:xfrm>
          <a:prstGeom prst="rect">
            <a:avLst/>
          </a:prstGeom>
        </p:spPr>
        <p:txBody>
          <a:bodyPr lIns="0" tIns="0" rIns="0" bIns="0" rtlCol="0" anchor="t">
            <a:spAutoFit/>
          </a:bodyPr>
          <a:lstStyle/>
          <a:p>
            <a:pPr marL="647700" lvl="1" indent="-323850" algn="l">
              <a:lnSpc>
                <a:spcPts val="4500"/>
              </a:lnSpc>
              <a:buFont typeface="Arial"/>
              <a:buChar char="•"/>
            </a:pPr>
            <a:r>
              <a:rPr lang="en-US" sz="3000" b="1">
                <a:solidFill>
                  <a:srgbClr val="1E293B"/>
                </a:solidFill>
                <a:latin typeface="Bricolage Grotesque Bold"/>
                <a:ea typeface="Bricolage Grotesque Bold"/>
                <a:cs typeface="Bricolage Grotesque Bold"/>
                <a:sym typeface="Bricolage Grotesque Bold"/>
              </a:rPr>
              <a:t>class -&gt; className.</a:t>
            </a:r>
          </a:p>
          <a:p>
            <a:pPr algn="l">
              <a:lnSpc>
                <a:spcPts val="4500"/>
              </a:lnSpc>
            </a:pPr>
            <a:endParaRPr lang="en-US" sz="3000" b="1">
              <a:solidFill>
                <a:srgbClr val="1E293B"/>
              </a:solidFill>
              <a:latin typeface="Bricolage Grotesque Bold"/>
              <a:ea typeface="Bricolage Grotesque Bold"/>
              <a:cs typeface="Bricolage Grotesque Bold"/>
              <a:sym typeface="Bricolage Grotesque Bold"/>
            </a:endParaRPr>
          </a:p>
          <a:p>
            <a:pPr marL="647700" lvl="1" indent="-323850" algn="l">
              <a:lnSpc>
                <a:spcPts val="4500"/>
              </a:lnSpc>
              <a:buFont typeface="Arial"/>
              <a:buChar char="•"/>
            </a:pPr>
            <a:r>
              <a:rPr lang="en-US" sz="3000" b="1">
                <a:solidFill>
                  <a:srgbClr val="1E293B"/>
                </a:solidFill>
                <a:latin typeface="Bricolage Grotesque Bold"/>
                <a:ea typeface="Bricolage Grotesque Bold"/>
                <a:cs typeface="Bricolage Grotesque Bold"/>
                <a:sym typeface="Bricolage Grotesque Bold"/>
              </a:rPr>
              <a:t>for -&gt; htmlFor.</a:t>
            </a:r>
          </a:p>
          <a:p>
            <a:pPr algn="l">
              <a:lnSpc>
                <a:spcPts val="4500"/>
              </a:lnSpc>
            </a:pPr>
            <a:endParaRPr lang="en-US" sz="3000" b="1">
              <a:solidFill>
                <a:srgbClr val="1E293B"/>
              </a:solidFill>
              <a:latin typeface="Bricolage Grotesque Bold"/>
              <a:ea typeface="Bricolage Grotesque Bold"/>
              <a:cs typeface="Bricolage Grotesque Bold"/>
              <a:sym typeface="Bricolage Grotesque Bold"/>
            </a:endParaRPr>
          </a:p>
          <a:p>
            <a:pPr marL="647700" lvl="1" indent="-323850" algn="l">
              <a:lnSpc>
                <a:spcPts val="4500"/>
              </a:lnSpc>
              <a:buFont typeface="Arial"/>
              <a:buChar char="•"/>
            </a:pPr>
            <a:r>
              <a:rPr lang="en-US" sz="3000" b="1">
                <a:solidFill>
                  <a:srgbClr val="1E293B"/>
                </a:solidFill>
                <a:latin typeface="Bricolage Grotesque Bold"/>
                <a:ea typeface="Bricolage Grotesque Bold"/>
                <a:cs typeface="Bricolage Grotesque Bold"/>
                <a:sym typeface="Bricolage Grotesque Bold"/>
              </a:rPr>
              <a:t>Các thẻ phải đóng kín (&lt;img /&gt;, &lt;br /&gt;).</a:t>
            </a:r>
          </a:p>
          <a:p>
            <a:pPr algn="l">
              <a:lnSpc>
                <a:spcPts val="4500"/>
              </a:lnSpc>
            </a:pPr>
            <a:endParaRPr lang="en-US" sz="3000" b="1">
              <a:solidFill>
                <a:srgbClr val="1E293B"/>
              </a:solidFill>
              <a:latin typeface="Bricolage Grotesque Bold"/>
              <a:ea typeface="Bricolage Grotesque Bold"/>
              <a:cs typeface="Bricolage Grotesque Bold"/>
              <a:sym typeface="Bricolage Grotesque Bold"/>
            </a:endParaRPr>
          </a:p>
          <a:p>
            <a:pPr marL="647700" lvl="1" indent="-323850" algn="l">
              <a:lnSpc>
                <a:spcPts val="4500"/>
              </a:lnSpc>
              <a:buFont typeface="Arial"/>
              <a:buChar char="•"/>
            </a:pPr>
            <a:r>
              <a:rPr lang="en-US" sz="3000" b="1">
                <a:solidFill>
                  <a:srgbClr val="1E293B"/>
                </a:solidFill>
                <a:latin typeface="Bricolage Grotesque Bold"/>
                <a:ea typeface="Bricolage Grotesque Bold"/>
                <a:cs typeface="Bricolage Grotesque Bold"/>
                <a:sym typeface="Bricolage Grotesque Bold"/>
              </a:rPr>
              <a:t>Bao bọc bởi 1 thẻ cha (hoặc Fragment &lt;&gt;...&lt;/&gt;).</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Freeform 2"/>
          <p:cNvSpPr/>
          <p:nvPr/>
        </p:nvSpPr>
        <p:spPr>
          <a:xfrm>
            <a:off x="563390" y="1737604"/>
            <a:ext cx="17161220" cy="8065773"/>
          </a:xfrm>
          <a:custGeom>
            <a:avLst/>
            <a:gdLst/>
            <a:ahLst/>
            <a:cxnLst/>
            <a:rect l="l" t="t" r="r" b="b"/>
            <a:pathLst>
              <a:path w="17161220" h="8065773">
                <a:moveTo>
                  <a:pt x="0" y="0"/>
                </a:moveTo>
                <a:lnTo>
                  <a:pt x="17161220" y="0"/>
                </a:lnTo>
                <a:lnTo>
                  <a:pt x="17161220" y="8065773"/>
                </a:lnTo>
                <a:lnTo>
                  <a:pt x="0" y="8065773"/>
                </a:lnTo>
                <a:lnTo>
                  <a:pt x="0" y="0"/>
                </a:lnTo>
                <a:close/>
              </a:path>
            </a:pathLst>
          </a:custGeom>
          <a:blipFill>
            <a:blip r:embed="rId2"/>
            <a:stretch>
              <a:fillRect/>
            </a:stretch>
          </a:blipFill>
        </p:spPr>
      </p:sp>
      <p:sp>
        <p:nvSpPr>
          <p:cNvPr id="3" name="TextBox 3"/>
          <p:cNvSpPr txBox="1"/>
          <p:nvPr/>
        </p:nvSpPr>
        <p:spPr>
          <a:xfrm>
            <a:off x="0" y="630238"/>
            <a:ext cx="18288000" cy="930275"/>
          </a:xfrm>
          <a:prstGeom prst="rect">
            <a:avLst/>
          </a:prstGeom>
        </p:spPr>
        <p:txBody>
          <a:bodyPr lIns="0" tIns="0" rIns="0" bIns="0" rtlCol="0" anchor="t">
            <a:spAutoFit/>
          </a:bodyPr>
          <a:lstStyle/>
          <a:p>
            <a:pPr marL="0" lvl="0" indent="0" algn="ctr">
              <a:lnSpc>
                <a:spcPts val="6999"/>
              </a:lnSpc>
              <a:spcBef>
                <a:spcPct val="0"/>
              </a:spcBef>
            </a:pPr>
            <a:r>
              <a:rPr lang="en-US" sz="6999" b="1">
                <a:solidFill>
                  <a:srgbClr val="1E293B"/>
                </a:solidFill>
                <a:latin typeface="Bricolage Grotesque Bold"/>
                <a:ea typeface="Bricolage Grotesque Bold"/>
                <a:cs typeface="Bricolage Grotesque Bold"/>
                <a:sym typeface="Bricolage Grotesque Bold"/>
              </a:rPr>
              <a:t>Syntax React</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Freeform 2"/>
          <p:cNvSpPr/>
          <p:nvPr/>
        </p:nvSpPr>
        <p:spPr>
          <a:xfrm>
            <a:off x="2067958" y="1859380"/>
            <a:ext cx="14152085" cy="8084378"/>
          </a:xfrm>
          <a:custGeom>
            <a:avLst/>
            <a:gdLst/>
            <a:ahLst/>
            <a:cxnLst/>
            <a:rect l="l" t="t" r="r" b="b"/>
            <a:pathLst>
              <a:path w="14152085" h="8084378">
                <a:moveTo>
                  <a:pt x="0" y="0"/>
                </a:moveTo>
                <a:lnTo>
                  <a:pt x="14152084" y="0"/>
                </a:lnTo>
                <a:lnTo>
                  <a:pt x="14152084" y="8084378"/>
                </a:lnTo>
                <a:lnTo>
                  <a:pt x="0" y="8084378"/>
                </a:lnTo>
                <a:lnTo>
                  <a:pt x="0" y="0"/>
                </a:lnTo>
                <a:close/>
              </a:path>
            </a:pathLst>
          </a:custGeom>
          <a:blipFill>
            <a:blip r:embed="rId2"/>
            <a:stretch>
              <a:fillRect/>
            </a:stretch>
          </a:blipFill>
        </p:spPr>
      </p:sp>
      <p:sp>
        <p:nvSpPr>
          <p:cNvPr id="3" name="TextBox 3"/>
          <p:cNvSpPr txBox="1"/>
          <p:nvPr/>
        </p:nvSpPr>
        <p:spPr>
          <a:xfrm>
            <a:off x="0" y="630238"/>
            <a:ext cx="18288000" cy="930275"/>
          </a:xfrm>
          <a:prstGeom prst="rect">
            <a:avLst/>
          </a:prstGeom>
        </p:spPr>
        <p:txBody>
          <a:bodyPr lIns="0" tIns="0" rIns="0" bIns="0" rtlCol="0" anchor="t">
            <a:spAutoFit/>
          </a:bodyPr>
          <a:lstStyle/>
          <a:p>
            <a:pPr marL="0" lvl="0" indent="0" algn="ctr">
              <a:lnSpc>
                <a:spcPts val="6999"/>
              </a:lnSpc>
              <a:spcBef>
                <a:spcPct val="0"/>
              </a:spcBef>
            </a:pPr>
            <a:r>
              <a:rPr lang="en-US" sz="6999" b="1">
                <a:solidFill>
                  <a:srgbClr val="1E293B"/>
                </a:solidFill>
                <a:latin typeface="Bricolage Grotesque Bold"/>
                <a:ea typeface="Bricolage Grotesque Bold"/>
                <a:cs typeface="Bricolage Grotesque Bold"/>
                <a:sym typeface="Bricolage Grotesque Bold"/>
              </a:rPr>
              <a:t>Syntax Razor View</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TextBox 2"/>
          <p:cNvSpPr txBox="1"/>
          <p:nvPr/>
        </p:nvSpPr>
        <p:spPr>
          <a:xfrm>
            <a:off x="2924470" y="953182"/>
            <a:ext cx="12439060" cy="930275"/>
          </a:xfrm>
          <a:prstGeom prst="rect">
            <a:avLst/>
          </a:prstGeom>
        </p:spPr>
        <p:txBody>
          <a:bodyPr lIns="0" tIns="0" rIns="0" bIns="0" rtlCol="0" anchor="t">
            <a:spAutoFit/>
          </a:bodyPr>
          <a:lstStyle/>
          <a:p>
            <a:pPr marL="0" lvl="0" indent="0" algn="l">
              <a:lnSpc>
                <a:spcPts val="6999"/>
              </a:lnSpc>
              <a:spcBef>
                <a:spcPct val="0"/>
              </a:spcBef>
            </a:pPr>
            <a:r>
              <a:rPr lang="en-US" sz="6999" b="1" u="none" strike="noStrike">
                <a:solidFill>
                  <a:srgbClr val="1E293B"/>
                </a:solidFill>
                <a:latin typeface="Bricolage Grotesque Bold"/>
                <a:ea typeface="Bricolage Grotesque Bold"/>
                <a:cs typeface="Bricolage Grotesque Bold"/>
                <a:sym typeface="Bricolage Grotesque Bold"/>
              </a:rPr>
              <a:t>Tạo project React với Vite</a:t>
            </a:r>
          </a:p>
        </p:txBody>
      </p:sp>
      <p:grpSp>
        <p:nvGrpSpPr>
          <p:cNvPr id="3" name="Group 3"/>
          <p:cNvGrpSpPr/>
          <p:nvPr/>
        </p:nvGrpSpPr>
        <p:grpSpPr>
          <a:xfrm>
            <a:off x="15493924" y="6934200"/>
            <a:ext cx="3467057" cy="4305236"/>
            <a:chOff x="0" y="0"/>
            <a:chExt cx="4622743" cy="5740315"/>
          </a:xfrm>
        </p:grpSpPr>
        <p:sp>
          <p:nvSpPr>
            <p:cNvPr id="4" name="Freeform 4"/>
            <p:cNvSpPr/>
            <p:nvPr/>
          </p:nvSpPr>
          <p:spPr>
            <a:xfrm rot="-2700000">
              <a:off x="-124706" y="1478676"/>
              <a:ext cx="4872155" cy="1665391"/>
            </a:xfrm>
            <a:custGeom>
              <a:avLst/>
              <a:gdLst/>
              <a:ahLst/>
              <a:cxnLst/>
              <a:rect l="l" t="t" r="r" b="b"/>
              <a:pathLst>
                <a:path w="4872155" h="1665391">
                  <a:moveTo>
                    <a:pt x="0" y="0"/>
                  </a:moveTo>
                  <a:lnTo>
                    <a:pt x="4872155" y="0"/>
                  </a:lnTo>
                  <a:lnTo>
                    <a:pt x="4872155" y="1665391"/>
                  </a:lnTo>
                  <a:lnTo>
                    <a:pt x="0" y="1665391"/>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5" name="Group 5"/>
            <p:cNvGrpSpPr/>
            <p:nvPr/>
          </p:nvGrpSpPr>
          <p:grpSpPr>
            <a:xfrm rot="8100000">
              <a:off x="-106337" y="2577879"/>
              <a:ext cx="4835418" cy="1702128"/>
              <a:chOff x="0" y="0"/>
              <a:chExt cx="954623" cy="336039"/>
            </a:xfrm>
          </p:grpSpPr>
          <p:sp>
            <p:nvSpPr>
              <p:cNvPr id="6" name="Freeform 6"/>
              <p:cNvSpPr/>
              <p:nvPr/>
            </p:nvSpPr>
            <p:spPr>
              <a:xfrm>
                <a:off x="0" y="0"/>
                <a:ext cx="954623" cy="336039"/>
              </a:xfrm>
              <a:custGeom>
                <a:avLst/>
                <a:gdLst/>
                <a:ahLst/>
                <a:cxnLst/>
                <a:rect l="l" t="t" r="r" b="b"/>
                <a:pathLst>
                  <a:path w="954623" h="336039">
                    <a:moveTo>
                      <a:pt x="751423" y="0"/>
                    </a:moveTo>
                    <a:cubicBezTo>
                      <a:pt x="863647" y="0"/>
                      <a:pt x="954623" y="75225"/>
                      <a:pt x="954623" y="168020"/>
                    </a:cubicBezTo>
                    <a:cubicBezTo>
                      <a:pt x="954623" y="260814"/>
                      <a:pt x="863647" y="336039"/>
                      <a:pt x="751423" y="336039"/>
                    </a:cubicBezTo>
                    <a:lnTo>
                      <a:pt x="203200" y="336039"/>
                    </a:lnTo>
                    <a:cubicBezTo>
                      <a:pt x="90976" y="336039"/>
                      <a:pt x="0" y="260814"/>
                      <a:pt x="0" y="168020"/>
                    </a:cubicBezTo>
                    <a:cubicBezTo>
                      <a:pt x="0" y="75225"/>
                      <a:pt x="90976" y="0"/>
                      <a:pt x="203200" y="0"/>
                    </a:cubicBezTo>
                    <a:close/>
                  </a:path>
                </a:pathLst>
              </a:custGeom>
              <a:solidFill>
                <a:srgbClr val="1E293B"/>
              </a:solidFill>
              <a:ln cap="sq">
                <a:noFill/>
                <a:prstDash val="solid"/>
                <a:miter/>
              </a:ln>
            </p:spPr>
          </p:sp>
          <p:sp>
            <p:nvSpPr>
              <p:cNvPr id="7" name="TextBox 7"/>
              <p:cNvSpPr txBox="1"/>
              <p:nvPr/>
            </p:nvSpPr>
            <p:spPr>
              <a:xfrm>
                <a:off x="0" y="-19050"/>
                <a:ext cx="954623" cy="355089"/>
              </a:xfrm>
              <a:prstGeom prst="rect">
                <a:avLst/>
              </a:prstGeom>
            </p:spPr>
            <p:txBody>
              <a:bodyPr lIns="18752" tIns="18752" rIns="18752" bIns="18752" rtlCol="0" anchor="ctr"/>
              <a:lstStyle/>
              <a:p>
                <a:pPr marL="0" lvl="0" indent="0" algn="ctr">
                  <a:lnSpc>
                    <a:spcPts val="755"/>
                  </a:lnSpc>
                  <a:spcBef>
                    <a:spcPct val="0"/>
                  </a:spcBef>
                </a:pPr>
                <a:endParaRPr/>
              </a:p>
            </p:txBody>
          </p:sp>
        </p:grpSp>
      </p:grpSp>
      <p:sp>
        <p:nvSpPr>
          <p:cNvPr id="8" name="TextBox 8"/>
          <p:cNvSpPr txBox="1"/>
          <p:nvPr/>
        </p:nvSpPr>
        <p:spPr>
          <a:xfrm>
            <a:off x="2924470" y="4648200"/>
            <a:ext cx="11020474" cy="495300"/>
          </a:xfrm>
          <a:prstGeom prst="rect">
            <a:avLst/>
          </a:prstGeom>
        </p:spPr>
        <p:txBody>
          <a:bodyPr lIns="0" tIns="0" rIns="0" bIns="0" rtlCol="0" anchor="t">
            <a:spAutoFit/>
          </a:bodyPr>
          <a:lstStyle/>
          <a:p>
            <a:pPr marL="0" lvl="0" indent="0" algn="ctr">
              <a:lnSpc>
                <a:spcPts val="3839"/>
              </a:lnSpc>
              <a:spcBef>
                <a:spcPct val="0"/>
              </a:spcBef>
            </a:pPr>
            <a:r>
              <a:rPr lang="en-US" sz="3199" b="1" u="none" strike="noStrike">
                <a:solidFill>
                  <a:srgbClr val="1E293B"/>
                </a:solidFill>
                <a:latin typeface="Bricolage Grotesque Bold"/>
                <a:ea typeface="Bricolage Grotesque Bold"/>
                <a:cs typeface="Bricolage Grotesque Bold"/>
                <a:sym typeface="Bricolage Grotesque Bold"/>
              </a:rPr>
              <a:t>Truy cập tài liệu của Vite hoặc TailwindCSS</a:t>
            </a:r>
          </a:p>
        </p:txBody>
      </p:sp>
      <p:sp>
        <p:nvSpPr>
          <p:cNvPr id="9" name="TextBox 9"/>
          <p:cNvSpPr txBox="1"/>
          <p:nvPr/>
        </p:nvSpPr>
        <p:spPr>
          <a:xfrm>
            <a:off x="2924470" y="7812549"/>
            <a:ext cx="11158247" cy="466725"/>
          </a:xfrm>
          <a:prstGeom prst="rect">
            <a:avLst/>
          </a:prstGeom>
        </p:spPr>
        <p:txBody>
          <a:bodyPr lIns="0" tIns="0" rIns="0" bIns="0" rtlCol="0" anchor="t">
            <a:spAutoFit/>
          </a:bodyPr>
          <a:lstStyle/>
          <a:p>
            <a:pPr marL="0" lvl="0" indent="0" algn="l">
              <a:lnSpc>
                <a:spcPts val="3600"/>
              </a:lnSpc>
              <a:spcBef>
                <a:spcPct val="0"/>
              </a:spcBef>
            </a:pPr>
            <a:r>
              <a:rPr lang="en-US" sz="3000" b="1">
                <a:solidFill>
                  <a:srgbClr val="1E293B"/>
                </a:solidFill>
                <a:latin typeface="Bricolage Grotesque Bold"/>
                <a:ea typeface="Bricolage Grotesque Bold"/>
                <a:cs typeface="Bricolage Grotesque Bold"/>
                <a:sym typeface="Bricolage Grotesque Bold"/>
              </a:rPr>
              <a:t>https://tailwindcss.com/docs/installation/using-vite</a:t>
            </a:r>
          </a:p>
        </p:txBody>
      </p:sp>
      <p:sp>
        <p:nvSpPr>
          <p:cNvPr id="10" name="TextBox 10"/>
          <p:cNvSpPr txBox="1"/>
          <p:nvPr/>
        </p:nvSpPr>
        <p:spPr>
          <a:xfrm>
            <a:off x="2924470" y="7061767"/>
            <a:ext cx="11158247" cy="466725"/>
          </a:xfrm>
          <a:prstGeom prst="rect">
            <a:avLst/>
          </a:prstGeom>
        </p:spPr>
        <p:txBody>
          <a:bodyPr lIns="0" tIns="0" rIns="0" bIns="0" rtlCol="0" anchor="t">
            <a:spAutoFit/>
          </a:bodyPr>
          <a:lstStyle/>
          <a:p>
            <a:pPr marL="0" lvl="0" indent="0" algn="l">
              <a:lnSpc>
                <a:spcPts val="3600"/>
              </a:lnSpc>
              <a:spcBef>
                <a:spcPct val="0"/>
              </a:spcBef>
            </a:pPr>
            <a:r>
              <a:rPr lang="en-US" sz="3000" b="1">
                <a:solidFill>
                  <a:srgbClr val="1E293B"/>
                </a:solidFill>
                <a:latin typeface="Bricolage Grotesque Bold"/>
                <a:ea typeface="Bricolage Grotesque Bold"/>
                <a:cs typeface="Bricolage Grotesque Bold"/>
                <a:sym typeface="Bricolage Grotesque Bold"/>
              </a:rPr>
              <a:t>https://vite.dev/guide/</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1028700" y="1690000"/>
          <a:ext cx="16230600" cy="7568300"/>
        </p:xfrm>
        <a:graphic>
          <a:graphicData uri="http://schemas.openxmlformats.org/drawingml/2006/table">
            <a:tbl>
              <a:tblPr/>
              <a:tblGrid>
                <a:gridCol w="8115300">
                  <a:extLst>
                    <a:ext uri="{9D8B030D-6E8A-4147-A177-3AD203B41FA5}">
                      <a16:colId xmlns:a16="http://schemas.microsoft.com/office/drawing/2014/main" val="20000"/>
                    </a:ext>
                  </a:extLst>
                </a:gridCol>
                <a:gridCol w="8115300">
                  <a:extLst>
                    <a:ext uri="{9D8B030D-6E8A-4147-A177-3AD203B41FA5}">
                      <a16:colId xmlns:a16="http://schemas.microsoft.com/office/drawing/2014/main" val="20001"/>
                    </a:ext>
                  </a:extLst>
                </a:gridCol>
              </a:tblGrid>
              <a:tr h="1100917">
                <a:tc>
                  <a:txBody>
                    <a:bodyPr/>
                    <a:lstStyle/>
                    <a:p>
                      <a:pPr algn="ctr">
                        <a:lnSpc>
                          <a:spcPts val="4200"/>
                        </a:lnSpc>
                        <a:defRPr/>
                      </a:pPr>
                      <a:r>
                        <a:rPr lang="en-US" sz="3000" b="1">
                          <a:solidFill>
                            <a:srgbClr val="000000"/>
                          </a:solidFill>
                          <a:latin typeface="Bricolage Grotesque Bold"/>
                          <a:ea typeface="Bricolage Grotesque Bold"/>
                          <a:cs typeface="Bricolage Grotesque Bold"/>
                          <a:sym typeface="Bricolage Grotesque Bold"/>
                        </a:rPr>
                        <a:t>NPM (Node Package Manager)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200"/>
                        </a:lnSpc>
                        <a:defRPr/>
                      </a:pPr>
                      <a:r>
                        <a:rPr lang="en-US" sz="3000" b="1">
                          <a:solidFill>
                            <a:srgbClr val="000000"/>
                          </a:solidFill>
                          <a:latin typeface="Bricolage Grotesque Bold"/>
                          <a:ea typeface="Bricolage Grotesque Bold"/>
                          <a:cs typeface="Bricolage Grotesque Bold"/>
                          <a:sym typeface="Bricolage Grotesque Bold"/>
                        </a:rPr>
                        <a:t>NuGet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6467383">
                <a:tc>
                  <a:txBody>
                    <a:bodyPr/>
                    <a:lstStyle/>
                    <a:p>
                      <a:pPr marL="539746" lvl="1" indent="-269873" algn="l">
                        <a:lnSpc>
                          <a:spcPts val="3749"/>
                        </a:lnSpc>
                        <a:buFont typeface="Arial"/>
                        <a:buChar char="•"/>
                        <a:defRPr/>
                      </a:pPr>
                      <a:r>
                        <a:rPr lang="en-US" sz="2499">
                          <a:solidFill>
                            <a:srgbClr val="000000"/>
                          </a:solidFill>
                          <a:latin typeface="Bricolage Grotesque"/>
                          <a:ea typeface="Bricolage Grotesque"/>
                          <a:cs typeface="Bricolage Grotesque"/>
                          <a:sym typeface="Bricolage Grotesque"/>
                        </a:rPr>
                        <a:t>Là công cụ quản lý gói cho Node.js và JavaScript.</a:t>
                      </a:r>
                      <a:endParaRPr lang="en-US" sz="1100"/>
                    </a:p>
                    <a:p>
                      <a:pPr algn="l">
                        <a:lnSpc>
                          <a:spcPts val="3749"/>
                        </a:lnSpc>
                      </a:pPr>
                      <a:endParaRPr lang="en-US" sz="1100"/>
                    </a:p>
                    <a:p>
                      <a:pPr marL="539746" lvl="1" indent="-269873" algn="l">
                        <a:lnSpc>
                          <a:spcPts val="3749"/>
                        </a:lnSpc>
                        <a:buFont typeface="Arial"/>
                        <a:buChar char="•"/>
                      </a:pPr>
                      <a:r>
                        <a:rPr lang="en-US" sz="2499">
                          <a:solidFill>
                            <a:srgbClr val="000000"/>
                          </a:solidFill>
                          <a:latin typeface="Bricolage Grotesque"/>
                          <a:ea typeface="Bricolage Grotesque"/>
                          <a:cs typeface="Bricolage Grotesque"/>
                          <a:sym typeface="Bricolage Grotesque"/>
                        </a:rPr>
                        <a:t>Được sử dụng để cài đặt và quản lý các thư viện JavaScript và các công cụ phát triển liên quan.</a:t>
                      </a:r>
                    </a:p>
                    <a:p>
                      <a:pPr algn="l">
                        <a:lnSpc>
                          <a:spcPts val="3749"/>
                        </a:lnSpc>
                      </a:pPr>
                      <a:endParaRPr lang="en-US" sz="2499">
                        <a:solidFill>
                          <a:srgbClr val="000000"/>
                        </a:solidFill>
                        <a:latin typeface="Bricolage Grotesque"/>
                        <a:ea typeface="Bricolage Grotesque"/>
                        <a:cs typeface="Bricolage Grotesque"/>
                        <a:sym typeface="Bricolage Grotesque"/>
                      </a:endParaRPr>
                    </a:p>
                    <a:p>
                      <a:pPr marL="539746" lvl="1" indent="-269873" algn="l">
                        <a:lnSpc>
                          <a:spcPts val="3749"/>
                        </a:lnSpc>
                        <a:buFont typeface="Arial"/>
                        <a:buChar char="•"/>
                      </a:pPr>
                      <a:r>
                        <a:rPr lang="en-US" sz="2499">
                          <a:solidFill>
                            <a:srgbClr val="000000"/>
                          </a:solidFill>
                          <a:latin typeface="Bricolage Grotesque"/>
                          <a:ea typeface="Bricolage Grotesque"/>
                          <a:cs typeface="Bricolage Grotesque"/>
                          <a:sym typeface="Bricolage Grotesque"/>
                        </a:rPr>
                        <a:t>Các gói được cài đặt từ kho lưu trữ trực tuyến (npm registry).</a:t>
                      </a:r>
                    </a:p>
                    <a:p>
                      <a:pPr algn="l">
                        <a:lnSpc>
                          <a:spcPts val="3749"/>
                        </a:lnSpc>
                      </a:pPr>
                      <a:endParaRPr lang="en-US" sz="2499">
                        <a:solidFill>
                          <a:srgbClr val="000000"/>
                        </a:solidFill>
                        <a:latin typeface="Bricolage Grotesque"/>
                        <a:ea typeface="Bricolage Grotesque"/>
                        <a:cs typeface="Bricolage Grotesque"/>
                        <a:sym typeface="Bricolage Grotesque"/>
                      </a:endParaRPr>
                    </a:p>
                    <a:p>
                      <a:pPr marL="539746" lvl="1" indent="-269873" algn="l">
                        <a:lnSpc>
                          <a:spcPts val="3749"/>
                        </a:lnSpc>
                        <a:buFont typeface="Arial"/>
                        <a:buChar char="•"/>
                      </a:pPr>
                      <a:r>
                        <a:rPr lang="en-US" sz="2499">
                          <a:solidFill>
                            <a:srgbClr val="000000"/>
                          </a:solidFill>
                          <a:latin typeface="Bricolage Grotesque"/>
                          <a:ea typeface="Bricolage Grotesque"/>
                          <a:cs typeface="Bricolage Grotesque"/>
                          <a:sym typeface="Bricolage Grotesque"/>
                        </a:rPr>
                        <a:t>Hỗ trợ các tệp cấu hình như package.json để quản lý các gói và thông tin dự án.</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539746" lvl="1" indent="-269873" algn="l">
                        <a:lnSpc>
                          <a:spcPts val="3749"/>
                        </a:lnSpc>
                        <a:buFont typeface="Arial"/>
                        <a:buChar char="•"/>
                        <a:defRPr/>
                      </a:pPr>
                      <a:r>
                        <a:rPr lang="en-US" sz="2499">
                          <a:solidFill>
                            <a:srgbClr val="000000"/>
                          </a:solidFill>
                          <a:latin typeface="Bricolage Grotesque"/>
                          <a:ea typeface="Bricolage Grotesque"/>
                          <a:cs typeface="Bricolage Grotesque"/>
                          <a:sym typeface="Bricolage Grotesque"/>
                        </a:rPr>
                        <a:t>Là công cụ quản lý gói cho .NET và các ứng dụng dựa trên .NET.</a:t>
                      </a:r>
                      <a:endParaRPr lang="en-US" sz="1100"/>
                    </a:p>
                    <a:p>
                      <a:pPr algn="l">
                        <a:lnSpc>
                          <a:spcPts val="3749"/>
                        </a:lnSpc>
                      </a:pPr>
                      <a:endParaRPr lang="en-US" sz="1100"/>
                    </a:p>
                    <a:p>
                      <a:pPr marL="539746" lvl="1" indent="-269873" algn="l">
                        <a:lnSpc>
                          <a:spcPts val="3749"/>
                        </a:lnSpc>
                        <a:buFont typeface="Arial"/>
                        <a:buChar char="•"/>
                      </a:pPr>
                      <a:r>
                        <a:rPr lang="en-US" sz="2499">
                          <a:solidFill>
                            <a:srgbClr val="000000"/>
                          </a:solidFill>
                          <a:latin typeface="Bricolage Grotesque"/>
                          <a:ea typeface="Bricolage Grotesque"/>
                          <a:cs typeface="Bricolage Grotesque"/>
                          <a:sym typeface="Bricolage Grotesque"/>
                        </a:rPr>
                        <a:t>Được sử dụng để cài đặt và quản lý các thư viện .NET, bao gồm cả thư viện cho ASP.NET, WinForms, WPF và các loại dự án khác.</a:t>
                      </a:r>
                    </a:p>
                    <a:p>
                      <a:pPr algn="l">
                        <a:lnSpc>
                          <a:spcPts val="3749"/>
                        </a:lnSpc>
                      </a:pPr>
                      <a:endParaRPr lang="en-US" sz="2499">
                        <a:solidFill>
                          <a:srgbClr val="000000"/>
                        </a:solidFill>
                        <a:latin typeface="Bricolage Grotesque"/>
                        <a:ea typeface="Bricolage Grotesque"/>
                        <a:cs typeface="Bricolage Grotesque"/>
                        <a:sym typeface="Bricolage Grotesque"/>
                      </a:endParaRPr>
                    </a:p>
                    <a:p>
                      <a:pPr marL="539746" lvl="1" indent="-269873" algn="l">
                        <a:lnSpc>
                          <a:spcPts val="3749"/>
                        </a:lnSpc>
                        <a:buFont typeface="Arial"/>
                        <a:buChar char="•"/>
                      </a:pPr>
                      <a:r>
                        <a:rPr lang="en-US" sz="2499">
                          <a:solidFill>
                            <a:srgbClr val="000000"/>
                          </a:solidFill>
                          <a:latin typeface="Bricolage Grotesque"/>
                          <a:ea typeface="Bricolage Grotesque"/>
                          <a:cs typeface="Bricolage Grotesque"/>
                          <a:sym typeface="Bricolage Grotesque"/>
                        </a:rPr>
                        <a:t>Các gói được cài đặt từ kho lưu trữ NuGet (nuget.org).</a:t>
                      </a:r>
                    </a:p>
                    <a:p>
                      <a:pPr algn="l">
                        <a:lnSpc>
                          <a:spcPts val="3749"/>
                        </a:lnSpc>
                      </a:pPr>
                      <a:endParaRPr lang="en-US" sz="2499">
                        <a:solidFill>
                          <a:srgbClr val="000000"/>
                        </a:solidFill>
                        <a:latin typeface="Bricolage Grotesque"/>
                        <a:ea typeface="Bricolage Grotesque"/>
                        <a:cs typeface="Bricolage Grotesque"/>
                        <a:sym typeface="Bricolage Grotesque"/>
                      </a:endParaRPr>
                    </a:p>
                    <a:p>
                      <a:pPr marL="539746" lvl="1" indent="-269873" algn="l">
                        <a:lnSpc>
                          <a:spcPts val="3749"/>
                        </a:lnSpc>
                        <a:buFont typeface="Arial"/>
                        <a:buChar char="•"/>
                      </a:pPr>
                      <a:r>
                        <a:rPr lang="en-US" sz="2499">
                          <a:solidFill>
                            <a:srgbClr val="000000"/>
                          </a:solidFill>
                          <a:latin typeface="Bricolage Grotesque"/>
                          <a:ea typeface="Bricolage Grotesque"/>
                          <a:cs typeface="Bricolage Grotesque"/>
                          <a:sym typeface="Bricolage Grotesque"/>
                        </a:rPr>
                        <a:t>Sử dụng tệp cấu hình như packages.config hoặc .csproj để quản lý các gói và thông tin dự án.</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Box 3"/>
          <p:cNvSpPr txBox="1"/>
          <p:nvPr/>
        </p:nvSpPr>
        <p:spPr>
          <a:xfrm>
            <a:off x="0" y="323789"/>
            <a:ext cx="18288000" cy="812068"/>
          </a:xfrm>
          <a:prstGeom prst="rect">
            <a:avLst/>
          </a:prstGeom>
        </p:spPr>
        <p:txBody>
          <a:bodyPr lIns="0" tIns="0" rIns="0" bIns="0" rtlCol="0" anchor="t">
            <a:spAutoFit/>
          </a:bodyPr>
          <a:lstStyle/>
          <a:p>
            <a:pPr algn="ctr">
              <a:lnSpc>
                <a:spcPts val="6626"/>
              </a:lnSpc>
            </a:pPr>
            <a:r>
              <a:rPr lang="en-US" sz="4733" b="1">
                <a:solidFill>
                  <a:srgbClr val="000000"/>
                </a:solidFill>
                <a:latin typeface="Bricolage Grotesque Bold"/>
                <a:ea typeface="Bricolage Grotesque Bold"/>
                <a:cs typeface="Bricolage Grotesque Bold"/>
                <a:sym typeface="Bricolage Grotesque Bold"/>
              </a:rPr>
              <a:t>NPM khác gì NuGet</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Freeform 2"/>
          <p:cNvSpPr/>
          <p:nvPr/>
        </p:nvSpPr>
        <p:spPr>
          <a:xfrm>
            <a:off x="1139234" y="2338244"/>
            <a:ext cx="15591942" cy="6670237"/>
          </a:xfrm>
          <a:custGeom>
            <a:avLst/>
            <a:gdLst/>
            <a:ahLst/>
            <a:cxnLst/>
            <a:rect l="l" t="t" r="r" b="b"/>
            <a:pathLst>
              <a:path w="15591942" h="6670237">
                <a:moveTo>
                  <a:pt x="0" y="0"/>
                </a:moveTo>
                <a:lnTo>
                  <a:pt x="15591942" y="0"/>
                </a:lnTo>
                <a:lnTo>
                  <a:pt x="15591942" y="6670237"/>
                </a:lnTo>
                <a:lnTo>
                  <a:pt x="0" y="6670237"/>
                </a:lnTo>
                <a:lnTo>
                  <a:pt x="0" y="0"/>
                </a:lnTo>
                <a:close/>
              </a:path>
            </a:pathLst>
          </a:custGeom>
          <a:blipFill>
            <a:blip r:embed="rId2"/>
            <a:stretch>
              <a:fillRect/>
            </a:stretch>
          </a:blipFill>
        </p:spPr>
      </p:sp>
      <p:sp>
        <p:nvSpPr>
          <p:cNvPr id="3" name="TextBox 3"/>
          <p:cNvSpPr txBox="1"/>
          <p:nvPr/>
        </p:nvSpPr>
        <p:spPr>
          <a:xfrm>
            <a:off x="666750" y="800100"/>
            <a:ext cx="16954500" cy="930275"/>
          </a:xfrm>
          <a:prstGeom prst="rect">
            <a:avLst/>
          </a:prstGeom>
        </p:spPr>
        <p:txBody>
          <a:bodyPr lIns="0" tIns="0" rIns="0" bIns="0" rtlCol="0" anchor="t">
            <a:spAutoFit/>
          </a:bodyPr>
          <a:lstStyle/>
          <a:p>
            <a:pPr marL="0" lvl="0" indent="0" algn="l">
              <a:lnSpc>
                <a:spcPts val="6999"/>
              </a:lnSpc>
              <a:spcBef>
                <a:spcPct val="0"/>
              </a:spcBef>
            </a:pPr>
            <a:r>
              <a:rPr lang="en-US" sz="6999" b="1" u="none" strike="noStrike" spc="-209">
                <a:solidFill>
                  <a:srgbClr val="1E293B"/>
                </a:solidFill>
                <a:latin typeface="Bricolage Grotesque Semi-Bold"/>
                <a:ea typeface="Bricolage Grotesque Semi-Bold"/>
                <a:cs typeface="Bricolage Grotesque Semi-Bold"/>
                <a:sym typeface="Bricolage Grotesque Semi-Bold"/>
              </a:rPr>
              <a:t>Tailwind vs CSS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grpSp>
        <p:nvGrpSpPr>
          <p:cNvPr id="2" name="Group 2"/>
          <p:cNvGrpSpPr/>
          <p:nvPr/>
        </p:nvGrpSpPr>
        <p:grpSpPr>
          <a:xfrm>
            <a:off x="12649200" y="4381500"/>
            <a:ext cx="4800600" cy="2362200"/>
            <a:chOff x="0" y="0"/>
            <a:chExt cx="5346700" cy="1828800"/>
          </a:xfrm>
        </p:grpSpPr>
        <p:sp>
          <p:nvSpPr>
            <p:cNvPr id="3" name="TextBox 3"/>
            <p:cNvSpPr txBox="1"/>
            <p:nvPr/>
          </p:nvSpPr>
          <p:spPr>
            <a:xfrm>
              <a:off x="0" y="-9525"/>
              <a:ext cx="5346700" cy="619125"/>
            </a:xfrm>
            <a:prstGeom prst="rect">
              <a:avLst/>
            </a:prstGeom>
          </p:spPr>
          <p:txBody>
            <a:bodyPr lIns="0" tIns="0" rIns="0" bIns="0" rtlCol="0" anchor="t">
              <a:spAutoFit/>
            </a:bodyPr>
            <a:lstStyle/>
            <a:p>
              <a:pPr marL="0" lvl="0" indent="0" algn="ctr">
                <a:lnSpc>
                  <a:spcPts val="3600"/>
                </a:lnSpc>
                <a:spcBef>
                  <a:spcPct val="0"/>
                </a:spcBef>
              </a:pPr>
              <a:r>
                <a:rPr lang="en-US" sz="3000" b="1">
                  <a:solidFill>
                    <a:srgbClr val="1E293B"/>
                  </a:solidFill>
                  <a:latin typeface="Bricolage Grotesque Bold"/>
                  <a:ea typeface="Bricolage Grotesque Bold"/>
                  <a:cs typeface="Bricolage Grotesque Bold"/>
                  <a:sym typeface="Bricolage Grotesque Bold"/>
                </a:rPr>
                <a:t>Responsive</a:t>
              </a:r>
            </a:p>
          </p:txBody>
        </p:sp>
        <p:sp>
          <p:nvSpPr>
            <p:cNvPr id="4" name="TextBox 4"/>
            <p:cNvSpPr txBox="1"/>
            <p:nvPr/>
          </p:nvSpPr>
          <p:spPr>
            <a:xfrm>
              <a:off x="0" y="863600"/>
              <a:ext cx="5346700" cy="965200"/>
            </a:xfrm>
            <a:prstGeom prst="rect">
              <a:avLst/>
            </a:prstGeom>
          </p:spPr>
          <p:txBody>
            <a:bodyPr lIns="0" tIns="0" rIns="0" bIns="0" rtlCol="0" anchor="t">
              <a:spAutoFit/>
            </a:bodyPr>
            <a:lstStyle/>
            <a:p>
              <a:pPr marL="0" lvl="0" indent="0" algn="ctr">
                <a:lnSpc>
                  <a:spcPts val="2879"/>
                </a:lnSpc>
                <a:spcBef>
                  <a:spcPct val="0"/>
                </a:spcBef>
              </a:pPr>
              <a:r>
                <a:rPr lang="en-US" sz="2400" dirty="0">
                  <a:solidFill>
                    <a:srgbClr val="1E293B"/>
                  </a:solidFill>
                  <a:latin typeface="HK Grotesk"/>
                  <a:ea typeface="HK Grotesk"/>
                  <a:cs typeface="HK Grotesk"/>
                  <a:sym typeface="HK Grotesk"/>
                </a:rPr>
                <a:t>Tailwind </a:t>
              </a:r>
              <a:r>
                <a:rPr lang="en-US" sz="2400" dirty="0" err="1">
                  <a:solidFill>
                    <a:srgbClr val="1E293B"/>
                  </a:solidFill>
                  <a:latin typeface="HK Grotesk"/>
                  <a:ea typeface="HK Grotesk"/>
                  <a:cs typeface="HK Grotesk"/>
                  <a:sym typeface="HK Grotesk"/>
                </a:rPr>
                <a:t>hỗ</a:t>
              </a:r>
              <a:r>
                <a:rPr lang="en-US" sz="2400" dirty="0">
                  <a:solidFill>
                    <a:srgbClr val="1E293B"/>
                  </a:solidFill>
                  <a:latin typeface="HK Grotesk"/>
                  <a:ea typeface="HK Grotesk"/>
                  <a:cs typeface="HK Grotesk"/>
                  <a:sym typeface="HK Grotesk"/>
                </a:rPr>
                <a:t> </a:t>
              </a:r>
              <a:r>
                <a:rPr lang="en-US" sz="2400" dirty="0" err="1">
                  <a:solidFill>
                    <a:srgbClr val="1E293B"/>
                  </a:solidFill>
                  <a:latin typeface="HK Grotesk"/>
                  <a:ea typeface="HK Grotesk"/>
                  <a:cs typeface="HK Grotesk"/>
                  <a:sym typeface="HK Grotesk"/>
                </a:rPr>
                <a:t>trợ</a:t>
              </a:r>
              <a:r>
                <a:rPr lang="en-US" sz="2400" dirty="0">
                  <a:solidFill>
                    <a:srgbClr val="1E293B"/>
                  </a:solidFill>
                  <a:latin typeface="HK Grotesk"/>
                  <a:ea typeface="HK Grotesk"/>
                  <a:cs typeface="HK Grotesk"/>
                  <a:sym typeface="HK Grotesk"/>
                </a:rPr>
                <a:t> responsive design </a:t>
              </a:r>
              <a:r>
                <a:rPr lang="en-US" sz="2400" dirty="0" err="1">
                  <a:solidFill>
                    <a:srgbClr val="1E293B"/>
                  </a:solidFill>
                  <a:latin typeface="HK Grotesk"/>
                  <a:ea typeface="HK Grotesk"/>
                  <a:cs typeface="HK Grotesk"/>
                  <a:sym typeface="HK Grotesk"/>
                </a:rPr>
                <a:t>một</a:t>
              </a:r>
              <a:r>
                <a:rPr lang="en-US" sz="2400" dirty="0">
                  <a:solidFill>
                    <a:srgbClr val="1E293B"/>
                  </a:solidFill>
                  <a:latin typeface="HK Grotesk"/>
                  <a:ea typeface="HK Grotesk"/>
                  <a:cs typeface="HK Grotesk"/>
                  <a:sym typeface="HK Grotesk"/>
                </a:rPr>
                <a:t> </a:t>
              </a:r>
              <a:r>
                <a:rPr lang="en-US" sz="2400" dirty="0" err="1">
                  <a:solidFill>
                    <a:srgbClr val="1E293B"/>
                  </a:solidFill>
                  <a:latin typeface="HK Grotesk"/>
                  <a:ea typeface="HK Grotesk"/>
                  <a:cs typeface="HK Grotesk"/>
                  <a:sym typeface="HK Grotesk"/>
                </a:rPr>
                <a:t>cách</a:t>
              </a:r>
              <a:r>
                <a:rPr lang="en-US" sz="2400" dirty="0">
                  <a:solidFill>
                    <a:srgbClr val="1E293B"/>
                  </a:solidFill>
                  <a:latin typeface="HK Grotesk"/>
                  <a:ea typeface="HK Grotesk"/>
                  <a:cs typeface="HK Grotesk"/>
                  <a:sym typeface="HK Grotesk"/>
                </a:rPr>
                <a:t> </a:t>
              </a:r>
              <a:r>
                <a:rPr lang="en-US" sz="2400" dirty="0" err="1">
                  <a:solidFill>
                    <a:srgbClr val="1E293B"/>
                  </a:solidFill>
                  <a:latin typeface="HK Grotesk"/>
                  <a:ea typeface="HK Grotesk"/>
                  <a:cs typeface="HK Grotesk"/>
                  <a:sym typeface="HK Grotesk"/>
                </a:rPr>
                <a:t>hiệu</a:t>
              </a:r>
              <a:r>
                <a:rPr lang="en-US" sz="2400" dirty="0">
                  <a:solidFill>
                    <a:srgbClr val="1E293B"/>
                  </a:solidFill>
                  <a:latin typeface="HK Grotesk"/>
                  <a:ea typeface="HK Grotesk"/>
                  <a:cs typeface="HK Grotesk"/>
                  <a:sym typeface="HK Grotesk"/>
                </a:rPr>
                <a:t> </a:t>
              </a:r>
              <a:r>
                <a:rPr lang="en-US" sz="2400" dirty="0" err="1">
                  <a:solidFill>
                    <a:srgbClr val="1E293B"/>
                  </a:solidFill>
                  <a:latin typeface="HK Grotesk"/>
                  <a:ea typeface="HK Grotesk"/>
                  <a:cs typeface="HK Grotesk"/>
                  <a:sym typeface="HK Grotesk"/>
                </a:rPr>
                <a:t>quả</a:t>
              </a:r>
              <a:r>
                <a:rPr lang="en-US" sz="2400" dirty="0">
                  <a:solidFill>
                    <a:srgbClr val="1E293B"/>
                  </a:solidFill>
                  <a:latin typeface="HK Grotesk"/>
                  <a:ea typeface="HK Grotesk"/>
                  <a:cs typeface="HK Grotesk"/>
                  <a:sym typeface="HK Grotesk"/>
                </a:rPr>
                <a:t>.</a:t>
              </a:r>
            </a:p>
          </p:txBody>
        </p:sp>
      </p:grpSp>
      <p:grpSp>
        <p:nvGrpSpPr>
          <p:cNvPr id="5" name="Group 5"/>
          <p:cNvGrpSpPr/>
          <p:nvPr/>
        </p:nvGrpSpPr>
        <p:grpSpPr>
          <a:xfrm>
            <a:off x="6896100" y="4376142"/>
            <a:ext cx="4800600" cy="2362200"/>
            <a:chOff x="0" y="0"/>
            <a:chExt cx="5346700" cy="1828800"/>
          </a:xfrm>
        </p:grpSpPr>
        <p:sp>
          <p:nvSpPr>
            <p:cNvPr id="6" name="TextBox 6"/>
            <p:cNvSpPr txBox="1"/>
            <p:nvPr/>
          </p:nvSpPr>
          <p:spPr>
            <a:xfrm>
              <a:off x="0" y="-9525"/>
              <a:ext cx="5346700" cy="619125"/>
            </a:xfrm>
            <a:prstGeom prst="rect">
              <a:avLst/>
            </a:prstGeom>
          </p:spPr>
          <p:txBody>
            <a:bodyPr lIns="0" tIns="0" rIns="0" bIns="0" rtlCol="0" anchor="t">
              <a:spAutoFit/>
            </a:bodyPr>
            <a:lstStyle/>
            <a:p>
              <a:pPr marL="0" lvl="0" indent="0" algn="ctr">
                <a:lnSpc>
                  <a:spcPts val="3600"/>
                </a:lnSpc>
                <a:spcBef>
                  <a:spcPct val="0"/>
                </a:spcBef>
              </a:pPr>
              <a:r>
                <a:rPr lang="en-US" sz="3000" b="1" dirty="0" err="1">
                  <a:solidFill>
                    <a:srgbClr val="1E293B"/>
                  </a:solidFill>
                  <a:latin typeface="Bricolage Grotesque Bold"/>
                  <a:ea typeface="Bricolage Grotesque Bold"/>
                  <a:cs typeface="Bricolage Grotesque Bold"/>
                  <a:sym typeface="Bricolage Grotesque Bold"/>
                </a:rPr>
                <a:t>Đơn</a:t>
              </a:r>
              <a:r>
                <a:rPr lang="en-US" sz="3000" b="1" dirty="0">
                  <a:solidFill>
                    <a:srgbClr val="1E293B"/>
                  </a:solidFill>
                  <a:latin typeface="Bricolage Grotesque Bold"/>
                  <a:ea typeface="Bricolage Grotesque Bold"/>
                  <a:cs typeface="Bricolage Grotesque Bold"/>
                  <a:sym typeface="Bricolage Grotesque Bold"/>
                </a:rPr>
                <a:t> </a:t>
              </a:r>
              <a:r>
                <a:rPr lang="en-US" sz="3000" b="1" dirty="0" err="1">
                  <a:solidFill>
                    <a:srgbClr val="1E293B"/>
                  </a:solidFill>
                  <a:latin typeface="Bricolage Grotesque Bold"/>
                  <a:ea typeface="Bricolage Grotesque Bold"/>
                  <a:cs typeface="Bricolage Grotesque Bold"/>
                  <a:sym typeface="Bricolage Grotesque Bold"/>
                </a:rPr>
                <a:t>giản</a:t>
              </a:r>
              <a:endParaRPr lang="en-US" sz="3000" b="1" dirty="0">
                <a:solidFill>
                  <a:srgbClr val="1E293B"/>
                </a:solidFill>
                <a:latin typeface="Bricolage Grotesque Bold"/>
                <a:ea typeface="Bricolage Grotesque Bold"/>
                <a:cs typeface="Bricolage Grotesque Bold"/>
                <a:sym typeface="Bricolage Grotesque Bold"/>
              </a:endParaRPr>
            </a:p>
          </p:txBody>
        </p:sp>
        <p:sp>
          <p:nvSpPr>
            <p:cNvPr id="7" name="TextBox 7"/>
            <p:cNvSpPr txBox="1"/>
            <p:nvPr/>
          </p:nvSpPr>
          <p:spPr>
            <a:xfrm>
              <a:off x="0" y="863600"/>
              <a:ext cx="5346700" cy="965200"/>
            </a:xfrm>
            <a:prstGeom prst="rect">
              <a:avLst/>
            </a:prstGeom>
          </p:spPr>
          <p:txBody>
            <a:bodyPr lIns="0" tIns="0" rIns="0" bIns="0" rtlCol="0" anchor="t">
              <a:spAutoFit/>
            </a:bodyPr>
            <a:lstStyle/>
            <a:p>
              <a:pPr marL="0" lvl="0" indent="0" algn="ctr">
                <a:lnSpc>
                  <a:spcPts val="2879"/>
                </a:lnSpc>
                <a:spcBef>
                  <a:spcPct val="0"/>
                </a:spcBef>
              </a:pPr>
              <a:r>
                <a:rPr lang="en-US" sz="2400" dirty="0" err="1">
                  <a:solidFill>
                    <a:srgbClr val="1E293B"/>
                  </a:solidFill>
                  <a:latin typeface="HK Grotesk"/>
                  <a:ea typeface="HK Grotesk"/>
                  <a:cs typeface="HK Grotesk"/>
                  <a:sym typeface="HK Grotesk"/>
                </a:rPr>
                <a:t>Không</a:t>
              </a:r>
              <a:r>
                <a:rPr lang="en-US" sz="2400" dirty="0">
                  <a:solidFill>
                    <a:srgbClr val="1E293B"/>
                  </a:solidFill>
                  <a:latin typeface="HK Grotesk"/>
                  <a:ea typeface="HK Grotesk"/>
                  <a:cs typeface="HK Grotesk"/>
                  <a:sym typeface="HK Grotesk"/>
                </a:rPr>
                <a:t> </a:t>
              </a:r>
              <a:r>
                <a:rPr lang="en-US" sz="2400" dirty="0" err="1">
                  <a:solidFill>
                    <a:srgbClr val="1E293B"/>
                  </a:solidFill>
                  <a:latin typeface="HK Grotesk"/>
                  <a:ea typeface="HK Grotesk"/>
                  <a:cs typeface="HK Grotesk"/>
                  <a:sym typeface="HK Grotesk"/>
                </a:rPr>
                <a:t>cần</a:t>
              </a:r>
              <a:r>
                <a:rPr lang="en-US" sz="2400" dirty="0">
                  <a:solidFill>
                    <a:srgbClr val="1E293B"/>
                  </a:solidFill>
                  <a:latin typeface="HK Grotesk"/>
                  <a:ea typeface="HK Grotesk"/>
                  <a:cs typeface="HK Grotesk"/>
                  <a:sym typeface="HK Grotesk"/>
                </a:rPr>
                <a:t> </a:t>
              </a:r>
              <a:r>
                <a:rPr lang="en-US" sz="2400" dirty="0" err="1">
                  <a:solidFill>
                    <a:srgbClr val="1E293B"/>
                  </a:solidFill>
                  <a:latin typeface="HK Grotesk"/>
                  <a:ea typeface="HK Grotesk"/>
                  <a:cs typeface="HK Grotesk"/>
                  <a:sym typeface="HK Grotesk"/>
                </a:rPr>
                <a:t>tên</a:t>
              </a:r>
              <a:r>
                <a:rPr lang="en-US" sz="2400" dirty="0">
                  <a:solidFill>
                    <a:srgbClr val="1E293B"/>
                  </a:solidFill>
                  <a:latin typeface="HK Grotesk"/>
                  <a:ea typeface="HK Grotesk"/>
                  <a:cs typeface="HK Grotesk"/>
                  <a:sym typeface="HK Grotesk"/>
                </a:rPr>
                <a:t> class, </a:t>
              </a:r>
              <a:r>
                <a:rPr lang="en-US" sz="2400" dirty="0" err="1">
                  <a:solidFill>
                    <a:srgbClr val="1E293B"/>
                  </a:solidFill>
                  <a:latin typeface="HK Grotesk"/>
                  <a:ea typeface="HK Grotesk"/>
                  <a:cs typeface="HK Grotesk"/>
                  <a:sym typeface="HK Grotesk"/>
                </a:rPr>
                <a:t>dễ</a:t>
              </a:r>
              <a:r>
                <a:rPr lang="en-US" sz="2400" dirty="0">
                  <a:solidFill>
                    <a:srgbClr val="1E293B"/>
                  </a:solidFill>
                  <a:latin typeface="HK Grotesk"/>
                  <a:ea typeface="HK Grotesk"/>
                  <a:cs typeface="HK Grotesk"/>
                  <a:sym typeface="HK Grotesk"/>
                </a:rPr>
                <a:t> </a:t>
              </a:r>
              <a:r>
                <a:rPr lang="en-US" sz="2400" dirty="0" err="1">
                  <a:solidFill>
                    <a:srgbClr val="1E293B"/>
                  </a:solidFill>
                  <a:latin typeface="HK Grotesk"/>
                  <a:ea typeface="HK Grotesk"/>
                  <a:cs typeface="HK Grotesk"/>
                  <a:sym typeface="HK Grotesk"/>
                </a:rPr>
                <a:t>chỉnh</a:t>
              </a:r>
              <a:r>
                <a:rPr lang="en-US" sz="2400" dirty="0">
                  <a:solidFill>
                    <a:srgbClr val="1E293B"/>
                  </a:solidFill>
                  <a:latin typeface="HK Grotesk"/>
                  <a:ea typeface="HK Grotesk"/>
                  <a:cs typeface="HK Grotesk"/>
                  <a:sym typeface="HK Grotesk"/>
                </a:rPr>
                <a:t> </a:t>
              </a:r>
              <a:r>
                <a:rPr lang="en-US" sz="2400" dirty="0" err="1">
                  <a:solidFill>
                    <a:srgbClr val="1E293B"/>
                  </a:solidFill>
                  <a:latin typeface="HK Grotesk"/>
                  <a:ea typeface="HK Grotesk"/>
                  <a:cs typeface="HK Grotesk"/>
                  <a:sym typeface="HK Grotesk"/>
                </a:rPr>
                <a:t>sửa</a:t>
              </a:r>
              <a:r>
                <a:rPr lang="en-US" sz="2400" dirty="0">
                  <a:solidFill>
                    <a:srgbClr val="1E293B"/>
                  </a:solidFill>
                  <a:latin typeface="HK Grotesk"/>
                  <a:ea typeface="HK Grotesk"/>
                  <a:cs typeface="HK Grotesk"/>
                  <a:sym typeface="HK Grotesk"/>
                </a:rPr>
                <a:t> </a:t>
              </a:r>
              <a:r>
                <a:rPr lang="en-US" sz="2400" dirty="0" err="1">
                  <a:solidFill>
                    <a:srgbClr val="1E293B"/>
                  </a:solidFill>
                  <a:latin typeface="HK Grotesk"/>
                  <a:ea typeface="HK Grotesk"/>
                  <a:cs typeface="HK Grotesk"/>
                  <a:sym typeface="HK Grotesk"/>
                </a:rPr>
                <a:t>nhanh</a:t>
              </a:r>
              <a:r>
                <a:rPr lang="en-US" sz="2400" dirty="0">
                  <a:solidFill>
                    <a:srgbClr val="1E293B"/>
                  </a:solidFill>
                  <a:latin typeface="HK Grotesk"/>
                  <a:ea typeface="HK Grotesk"/>
                  <a:cs typeface="HK Grotesk"/>
                  <a:sym typeface="HK Grotesk"/>
                </a:rPr>
                <a:t>.</a:t>
              </a:r>
            </a:p>
          </p:txBody>
        </p:sp>
      </p:grpSp>
      <p:grpSp>
        <p:nvGrpSpPr>
          <p:cNvPr id="8" name="Group 8"/>
          <p:cNvGrpSpPr/>
          <p:nvPr/>
        </p:nvGrpSpPr>
        <p:grpSpPr>
          <a:xfrm>
            <a:off x="1295400" y="4381500"/>
            <a:ext cx="4800600" cy="2362200"/>
            <a:chOff x="0" y="0"/>
            <a:chExt cx="5346700" cy="1828800"/>
          </a:xfrm>
        </p:grpSpPr>
        <p:sp>
          <p:nvSpPr>
            <p:cNvPr id="9" name="TextBox 9"/>
            <p:cNvSpPr txBox="1"/>
            <p:nvPr/>
          </p:nvSpPr>
          <p:spPr>
            <a:xfrm>
              <a:off x="0" y="-9525"/>
              <a:ext cx="5346700" cy="619125"/>
            </a:xfrm>
            <a:prstGeom prst="rect">
              <a:avLst/>
            </a:prstGeom>
          </p:spPr>
          <p:txBody>
            <a:bodyPr lIns="0" tIns="0" rIns="0" bIns="0" rtlCol="0" anchor="t">
              <a:spAutoFit/>
            </a:bodyPr>
            <a:lstStyle/>
            <a:p>
              <a:pPr marL="0" lvl="0" indent="0" algn="ctr">
                <a:lnSpc>
                  <a:spcPts val="3600"/>
                </a:lnSpc>
                <a:spcBef>
                  <a:spcPct val="0"/>
                </a:spcBef>
              </a:pPr>
              <a:r>
                <a:rPr lang="en-US" sz="3000" b="1">
                  <a:solidFill>
                    <a:srgbClr val="1E293B"/>
                  </a:solidFill>
                  <a:latin typeface="Bricolage Grotesque Bold"/>
                  <a:ea typeface="Bricolage Grotesque Bold"/>
                  <a:cs typeface="Bricolage Grotesque Bold"/>
                  <a:sym typeface="Bricolage Grotesque Bold"/>
                </a:rPr>
                <a:t>Hiệu quả</a:t>
              </a:r>
            </a:p>
          </p:txBody>
        </p:sp>
        <p:sp>
          <p:nvSpPr>
            <p:cNvPr id="10" name="TextBox 10"/>
            <p:cNvSpPr txBox="1"/>
            <p:nvPr/>
          </p:nvSpPr>
          <p:spPr>
            <a:xfrm>
              <a:off x="0" y="863600"/>
              <a:ext cx="5346700" cy="965200"/>
            </a:xfrm>
            <a:prstGeom prst="rect">
              <a:avLst/>
            </a:prstGeom>
          </p:spPr>
          <p:txBody>
            <a:bodyPr lIns="0" tIns="0" rIns="0" bIns="0" rtlCol="0" anchor="t">
              <a:spAutoFit/>
            </a:bodyPr>
            <a:lstStyle/>
            <a:p>
              <a:pPr marL="0" lvl="0" indent="0" algn="ctr">
                <a:lnSpc>
                  <a:spcPts val="2879"/>
                </a:lnSpc>
                <a:spcBef>
                  <a:spcPct val="0"/>
                </a:spcBef>
              </a:pPr>
              <a:r>
                <a:rPr lang="en-US" sz="2400">
                  <a:solidFill>
                    <a:srgbClr val="1E293B"/>
                  </a:solidFill>
                  <a:latin typeface="HK Grotesk"/>
                  <a:ea typeface="HK Grotesk"/>
                  <a:cs typeface="HK Grotesk"/>
                  <a:sym typeface="HK Grotesk"/>
                </a:rPr>
                <a:t>Tailwind giúp giảm thời gian viết CSS.</a:t>
              </a:r>
            </a:p>
          </p:txBody>
        </p:sp>
      </p:grpSp>
      <p:sp>
        <p:nvSpPr>
          <p:cNvPr id="11" name="TextBox 11"/>
          <p:cNvSpPr txBox="1"/>
          <p:nvPr/>
        </p:nvSpPr>
        <p:spPr>
          <a:xfrm>
            <a:off x="666750" y="800100"/>
            <a:ext cx="16954500" cy="930275"/>
          </a:xfrm>
          <a:prstGeom prst="rect">
            <a:avLst/>
          </a:prstGeom>
        </p:spPr>
        <p:txBody>
          <a:bodyPr lIns="0" tIns="0" rIns="0" bIns="0" rtlCol="0" anchor="t">
            <a:spAutoFit/>
          </a:bodyPr>
          <a:lstStyle/>
          <a:p>
            <a:pPr marL="0" lvl="0" indent="0" algn="ctr">
              <a:lnSpc>
                <a:spcPts val="6999"/>
              </a:lnSpc>
              <a:spcBef>
                <a:spcPct val="0"/>
              </a:spcBef>
            </a:pPr>
            <a:r>
              <a:rPr lang="en-US" sz="6999" b="1" u="none" strike="noStrike" spc="-209" dirty="0" err="1">
                <a:solidFill>
                  <a:srgbClr val="1E293B"/>
                </a:solidFill>
                <a:latin typeface="Bricolage Grotesque Semi-Bold"/>
                <a:ea typeface="Bricolage Grotesque Semi-Bold"/>
                <a:cs typeface="Bricolage Grotesque Semi-Bold"/>
                <a:sym typeface="Bricolage Grotesque Semi-Bold"/>
              </a:rPr>
              <a:t>Tư</a:t>
            </a:r>
            <a:r>
              <a:rPr lang="en-US" sz="6999" b="1" u="none" strike="noStrike" spc="-209" dirty="0">
                <a:solidFill>
                  <a:srgbClr val="1E293B"/>
                </a:solidFill>
                <a:latin typeface="Bricolage Grotesque Semi-Bold"/>
                <a:ea typeface="Bricolage Grotesque Semi-Bold"/>
                <a:cs typeface="Bricolage Grotesque Semi-Bold"/>
                <a:sym typeface="Bricolage Grotesque Semi-Bold"/>
              </a:rPr>
              <a:t> </a:t>
            </a:r>
            <a:r>
              <a:rPr lang="en-US" sz="6999" b="1" u="none" strike="noStrike" spc="-209" dirty="0" err="1">
                <a:solidFill>
                  <a:srgbClr val="1E293B"/>
                </a:solidFill>
                <a:latin typeface="Bricolage Grotesque Semi-Bold"/>
                <a:ea typeface="Bricolage Grotesque Semi-Bold"/>
                <a:cs typeface="Bricolage Grotesque Semi-Bold"/>
                <a:sym typeface="Bricolage Grotesque Semi-Bold"/>
              </a:rPr>
              <a:t>duy</a:t>
            </a:r>
            <a:r>
              <a:rPr lang="en-US" sz="6999" b="1" u="none" strike="noStrike" spc="-209" dirty="0">
                <a:solidFill>
                  <a:srgbClr val="1E293B"/>
                </a:solidFill>
                <a:latin typeface="Bricolage Grotesque Semi-Bold"/>
                <a:ea typeface="Bricolage Grotesque Semi-Bold"/>
                <a:cs typeface="Bricolage Grotesque Semi-Bold"/>
                <a:sym typeface="Bricolage Grotesque Semi-Bold"/>
              </a:rPr>
              <a:t> Utility-first CSS qua Tailwind</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Freeform 2"/>
          <p:cNvSpPr/>
          <p:nvPr/>
        </p:nvSpPr>
        <p:spPr>
          <a:xfrm>
            <a:off x="1028700" y="3853998"/>
            <a:ext cx="16230600" cy="5009099"/>
          </a:xfrm>
          <a:custGeom>
            <a:avLst/>
            <a:gdLst/>
            <a:ahLst/>
            <a:cxnLst/>
            <a:rect l="l" t="t" r="r" b="b"/>
            <a:pathLst>
              <a:path w="16230600" h="5009099">
                <a:moveTo>
                  <a:pt x="0" y="0"/>
                </a:moveTo>
                <a:lnTo>
                  <a:pt x="16230600" y="0"/>
                </a:lnTo>
                <a:lnTo>
                  <a:pt x="16230600" y="5009099"/>
                </a:lnTo>
                <a:lnTo>
                  <a:pt x="0" y="5009099"/>
                </a:lnTo>
                <a:lnTo>
                  <a:pt x="0" y="0"/>
                </a:lnTo>
                <a:close/>
              </a:path>
            </a:pathLst>
          </a:custGeom>
          <a:blipFill>
            <a:blip r:embed="rId2"/>
            <a:stretch>
              <a:fillRect/>
            </a:stretch>
          </a:blipFill>
        </p:spPr>
      </p:sp>
      <p:sp>
        <p:nvSpPr>
          <p:cNvPr id="3" name="TextBox 3"/>
          <p:cNvSpPr txBox="1"/>
          <p:nvPr/>
        </p:nvSpPr>
        <p:spPr>
          <a:xfrm>
            <a:off x="0" y="1468010"/>
            <a:ext cx="18288000" cy="930275"/>
          </a:xfrm>
          <a:prstGeom prst="rect">
            <a:avLst/>
          </a:prstGeom>
        </p:spPr>
        <p:txBody>
          <a:bodyPr lIns="0" tIns="0" rIns="0" bIns="0" rtlCol="0" anchor="t">
            <a:spAutoFit/>
          </a:bodyPr>
          <a:lstStyle/>
          <a:p>
            <a:pPr marL="0" lvl="0" indent="0" algn="ctr">
              <a:lnSpc>
                <a:spcPts val="6999"/>
              </a:lnSpc>
              <a:spcBef>
                <a:spcPct val="0"/>
              </a:spcBef>
            </a:pPr>
            <a:r>
              <a:rPr lang="en-US" sz="6999" b="1" u="none" strike="noStrike" spc="-209">
                <a:solidFill>
                  <a:srgbClr val="1E293B"/>
                </a:solidFill>
                <a:latin typeface="Bricolage Grotesque Semi-Bold"/>
                <a:ea typeface="Bricolage Grotesque Semi-Bold"/>
                <a:cs typeface="Bricolage Grotesque Semi-Bold"/>
                <a:sym typeface="Bricolage Grotesque Semi-Bold"/>
              </a:rPr>
              <a:t>Các className phổ biến trong Tailwind</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Freeform 2"/>
          <p:cNvSpPr/>
          <p:nvPr/>
        </p:nvSpPr>
        <p:spPr>
          <a:xfrm>
            <a:off x="1491934" y="6841892"/>
            <a:ext cx="6482553" cy="1475777"/>
          </a:xfrm>
          <a:custGeom>
            <a:avLst/>
            <a:gdLst/>
            <a:ahLst/>
            <a:cxnLst/>
            <a:rect l="l" t="t" r="r" b="b"/>
            <a:pathLst>
              <a:path w="6482553" h="1475777">
                <a:moveTo>
                  <a:pt x="0" y="0"/>
                </a:moveTo>
                <a:lnTo>
                  <a:pt x="6482553" y="0"/>
                </a:lnTo>
                <a:lnTo>
                  <a:pt x="6482553" y="1475777"/>
                </a:lnTo>
                <a:lnTo>
                  <a:pt x="0" y="1475777"/>
                </a:lnTo>
                <a:lnTo>
                  <a:pt x="0" y="0"/>
                </a:lnTo>
                <a:close/>
              </a:path>
            </a:pathLst>
          </a:custGeom>
          <a:blipFill>
            <a:blip r:embed="rId2"/>
            <a:stretch>
              <a:fillRect/>
            </a:stretch>
          </a:blipFill>
        </p:spPr>
      </p:sp>
      <p:sp>
        <p:nvSpPr>
          <p:cNvPr id="3" name="Freeform 3"/>
          <p:cNvSpPr/>
          <p:nvPr/>
        </p:nvSpPr>
        <p:spPr>
          <a:xfrm>
            <a:off x="10192312" y="1805026"/>
            <a:ext cx="6643613" cy="1195850"/>
          </a:xfrm>
          <a:custGeom>
            <a:avLst/>
            <a:gdLst/>
            <a:ahLst/>
            <a:cxnLst/>
            <a:rect l="l" t="t" r="r" b="b"/>
            <a:pathLst>
              <a:path w="6643613" h="1195850">
                <a:moveTo>
                  <a:pt x="0" y="0"/>
                </a:moveTo>
                <a:lnTo>
                  <a:pt x="6643612" y="0"/>
                </a:lnTo>
                <a:lnTo>
                  <a:pt x="6643612" y="1195850"/>
                </a:lnTo>
                <a:lnTo>
                  <a:pt x="0" y="1195850"/>
                </a:lnTo>
                <a:lnTo>
                  <a:pt x="0" y="0"/>
                </a:lnTo>
                <a:close/>
              </a:path>
            </a:pathLst>
          </a:custGeom>
          <a:blipFill>
            <a:blip r:embed="rId3"/>
            <a:stretch>
              <a:fillRect/>
            </a:stretch>
          </a:blipFill>
        </p:spPr>
      </p:sp>
      <p:sp>
        <p:nvSpPr>
          <p:cNvPr id="4" name="Freeform 4"/>
          <p:cNvSpPr/>
          <p:nvPr/>
        </p:nvSpPr>
        <p:spPr>
          <a:xfrm>
            <a:off x="1411404" y="2407338"/>
            <a:ext cx="6643613" cy="1386854"/>
          </a:xfrm>
          <a:custGeom>
            <a:avLst/>
            <a:gdLst/>
            <a:ahLst/>
            <a:cxnLst/>
            <a:rect l="l" t="t" r="r" b="b"/>
            <a:pathLst>
              <a:path w="6643613" h="1386854">
                <a:moveTo>
                  <a:pt x="0" y="0"/>
                </a:moveTo>
                <a:lnTo>
                  <a:pt x="6643613" y="0"/>
                </a:lnTo>
                <a:lnTo>
                  <a:pt x="6643613" y="1386854"/>
                </a:lnTo>
                <a:lnTo>
                  <a:pt x="0" y="1386854"/>
                </a:lnTo>
                <a:lnTo>
                  <a:pt x="0" y="0"/>
                </a:lnTo>
                <a:close/>
              </a:path>
            </a:pathLst>
          </a:custGeom>
          <a:blipFill>
            <a:blip r:embed="rId4"/>
            <a:stretch>
              <a:fillRect/>
            </a:stretch>
          </a:blipFill>
        </p:spPr>
      </p:sp>
      <p:sp>
        <p:nvSpPr>
          <p:cNvPr id="5" name="Freeform 5"/>
          <p:cNvSpPr/>
          <p:nvPr/>
        </p:nvSpPr>
        <p:spPr>
          <a:xfrm>
            <a:off x="10192312" y="8016009"/>
            <a:ext cx="6643613" cy="1411768"/>
          </a:xfrm>
          <a:custGeom>
            <a:avLst/>
            <a:gdLst/>
            <a:ahLst/>
            <a:cxnLst/>
            <a:rect l="l" t="t" r="r" b="b"/>
            <a:pathLst>
              <a:path w="6643613" h="1411768">
                <a:moveTo>
                  <a:pt x="0" y="0"/>
                </a:moveTo>
                <a:lnTo>
                  <a:pt x="6643612" y="0"/>
                </a:lnTo>
                <a:lnTo>
                  <a:pt x="6643612" y="1411767"/>
                </a:lnTo>
                <a:lnTo>
                  <a:pt x="0" y="1411767"/>
                </a:lnTo>
                <a:lnTo>
                  <a:pt x="0" y="0"/>
                </a:lnTo>
                <a:close/>
              </a:path>
            </a:pathLst>
          </a:custGeom>
          <a:blipFill>
            <a:blip r:embed="rId5"/>
            <a:stretch>
              <a:fillRect/>
            </a:stretch>
          </a:blipFill>
        </p:spPr>
      </p:sp>
      <p:sp>
        <p:nvSpPr>
          <p:cNvPr id="6" name="Freeform 6"/>
          <p:cNvSpPr/>
          <p:nvPr/>
        </p:nvSpPr>
        <p:spPr>
          <a:xfrm>
            <a:off x="10192312" y="5897627"/>
            <a:ext cx="6643613" cy="1353636"/>
          </a:xfrm>
          <a:custGeom>
            <a:avLst/>
            <a:gdLst/>
            <a:ahLst/>
            <a:cxnLst/>
            <a:rect l="l" t="t" r="r" b="b"/>
            <a:pathLst>
              <a:path w="6643613" h="1353636">
                <a:moveTo>
                  <a:pt x="0" y="0"/>
                </a:moveTo>
                <a:lnTo>
                  <a:pt x="6643612" y="0"/>
                </a:lnTo>
                <a:lnTo>
                  <a:pt x="6643612" y="1353636"/>
                </a:lnTo>
                <a:lnTo>
                  <a:pt x="0" y="1353636"/>
                </a:lnTo>
                <a:lnTo>
                  <a:pt x="0" y="0"/>
                </a:lnTo>
                <a:close/>
              </a:path>
            </a:pathLst>
          </a:custGeom>
          <a:blipFill>
            <a:blip r:embed="rId6"/>
            <a:stretch>
              <a:fillRect/>
            </a:stretch>
          </a:blipFill>
        </p:spPr>
      </p:sp>
      <p:sp>
        <p:nvSpPr>
          <p:cNvPr id="7" name="Freeform 7"/>
          <p:cNvSpPr/>
          <p:nvPr/>
        </p:nvSpPr>
        <p:spPr>
          <a:xfrm>
            <a:off x="10196015" y="3765622"/>
            <a:ext cx="6636206" cy="1367258"/>
          </a:xfrm>
          <a:custGeom>
            <a:avLst/>
            <a:gdLst/>
            <a:ahLst/>
            <a:cxnLst/>
            <a:rect l="l" t="t" r="r" b="b"/>
            <a:pathLst>
              <a:path w="6636206" h="1367258">
                <a:moveTo>
                  <a:pt x="0" y="0"/>
                </a:moveTo>
                <a:lnTo>
                  <a:pt x="6636206" y="0"/>
                </a:lnTo>
                <a:lnTo>
                  <a:pt x="6636206" y="1367259"/>
                </a:lnTo>
                <a:lnTo>
                  <a:pt x="0" y="1367259"/>
                </a:lnTo>
                <a:lnTo>
                  <a:pt x="0" y="0"/>
                </a:lnTo>
                <a:close/>
              </a:path>
            </a:pathLst>
          </a:custGeom>
          <a:blipFill>
            <a:blip r:embed="rId7"/>
            <a:stretch>
              <a:fillRect/>
            </a:stretch>
          </a:blipFill>
        </p:spPr>
      </p:sp>
      <p:sp>
        <p:nvSpPr>
          <p:cNvPr id="8" name="Freeform 8"/>
          <p:cNvSpPr/>
          <p:nvPr/>
        </p:nvSpPr>
        <p:spPr>
          <a:xfrm>
            <a:off x="1436653" y="4558938"/>
            <a:ext cx="6593116" cy="1518208"/>
          </a:xfrm>
          <a:custGeom>
            <a:avLst/>
            <a:gdLst/>
            <a:ahLst/>
            <a:cxnLst/>
            <a:rect l="l" t="t" r="r" b="b"/>
            <a:pathLst>
              <a:path w="6593116" h="1518208">
                <a:moveTo>
                  <a:pt x="0" y="0"/>
                </a:moveTo>
                <a:lnTo>
                  <a:pt x="6593115" y="0"/>
                </a:lnTo>
                <a:lnTo>
                  <a:pt x="6593115" y="1518208"/>
                </a:lnTo>
                <a:lnTo>
                  <a:pt x="0" y="1518208"/>
                </a:lnTo>
                <a:lnTo>
                  <a:pt x="0" y="0"/>
                </a:lnTo>
                <a:close/>
              </a:path>
            </a:pathLst>
          </a:custGeom>
          <a:blipFill>
            <a:blip r:embed="rId8"/>
            <a:stretch>
              <a:fillRect/>
            </a:stretch>
          </a:blipFill>
        </p:spPr>
      </p:sp>
      <p:sp>
        <p:nvSpPr>
          <p:cNvPr id="9" name="TextBox 9"/>
          <p:cNvSpPr txBox="1"/>
          <p:nvPr/>
        </p:nvSpPr>
        <p:spPr>
          <a:xfrm>
            <a:off x="0" y="442363"/>
            <a:ext cx="18288000" cy="930275"/>
          </a:xfrm>
          <a:prstGeom prst="rect">
            <a:avLst/>
          </a:prstGeom>
        </p:spPr>
        <p:txBody>
          <a:bodyPr lIns="0" tIns="0" rIns="0" bIns="0" rtlCol="0" anchor="t">
            <a:spAutoFit/>
          </a:bodyPr>
          <a:lstStyle/>
          <a:p>
            <a:pPr marL="0" lvl="0" indent="0" algn="ctr">
              <a:lnSpc>
                <a:spcPts val="6999"/>
              </a:lnSpc>
              <a:spcBef>
                <a:spcPct val="0"/>
              </a:spcBef>
            </a:pPr>
            <a:r>
              <a:rPr lang="en-US" sz="6999" b="1" spc="-209">
                <a:solidFill>
                  <a:srgbClr val="1E293B"/>
                </a:solidFill>
                <a:latin typeface="Bricolage Grotesque Semi-Bold"/>
                <a:ea typeface="Bricolage Grotesque Semi-Bold"/>
                <a:cs typeface="Bricolage Grotesque Semi-Bold"/>
                <a:sym typeface="Bricolage Grotesque Semi-Bold"/>
              </a:rPr>
              <a:t>Cài đặt Extension hỗ trợ code</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Freeform 2"/>
          <p:cNvSpPr/>
          <p:nvPr/>
        </p:nvSpPr>
        <p:spPr>
          <a:xfrm>
            <a:off x="1028700" y="5551828"/>
            <a:ext cx="5311123" cy="3947130"/>
          </a:xfrm>
          <a:custGeom>
            <a:avLst/>
            <a:gdLst/>
            <a:ahLst/>
            <a:cxnLst/>
            <a:rect l="l" t="t" r="r" b="b"/>
            <a:pathLst>
              <a:path w="5311123" h="3947130">
                <a:moveTo>
                  <a:pt x="0" y="0"/>
                </a:moveTo>
                <a:lnTo>
                  <a:pt x="5311123" y="0"/>
                </a:lnTo>
                <a:lnTo>
                  <a:pt x="5311123" y="3947130"/>
                </a:lnTo>
                <a:lnTo>
                  <a:pt x="0" y="3947130"/>
                </a:lnTo>
                <a:lnTo>
                  <a:pt x="0" y="0"/>
                </a:lnTo>
                <a:close/>
              </a:path>
            </a:pathLst>
          </a:custGeom>
          <a:blipFill>
            <a:blip r:embed="rId2"/>
            <a:stretch>
              <a:fillRect/>
            </a:stretch>
          </a:blipFill>
        </p:spPr>
      </p:sp>
      <p:sp>
        <p:nvSpPr>
          <p:cNvPr id="3" name="Freeform 3"/>
          <p:cNvSpPr/>
          <p:nvPr/>
        </p:nvSpPr>
        <p:spPr>
          <a:xfrm>
            <a:off x="7177159" y="6614493"/>
            <a:ext cx="10388551" cy="2164981"/>
          </a:xfrm>
          <a:custGeom>
            <a:avLst/>
            <a:gdLst/>
            <a:ahLst/>
            <a:cxnLst/>
            <a:rect l="l" t="t" r="r" b="b"/>
            <a:pathLst>
              <a:path w="10388551" h="2164981">
                <a:moveTo>
                  <a:pt x="0" y="0"/>
                </a:moveTo>
                <a:lnTo>
                  <a:pt x="10388550" y="0"/>
                </a:lnTo>
                <a:lnTo>
                  <a:pt x="10388550" y="2164981"/>
                </a:lnTo>
                <a:lnTo>
                  <a:pt x="0" y="2164981"/>
                </a:lnTo>
                <a:lnTo>
                  <a:pt x="0" y="0"/>
                </a:lnTo>
                <a:close/>
              </a:path>
            </a:pathLst>
          </a:custGeom>
          <a:blipFill>
            <a:blip r:embed="rId3"/>
            <a:stretch>
              <a:fillRect/>
            </a:stretch>
          </a:blipFill>
        </p:spPr>
      </p:sp>
      <p:sp>
        <p:nvSpPr>
          <p:cNvPr id="4" name="TextBox 4"/>
          <p:cNvSpPr txBox="1"/>
          <p:nvPr/>
        </p:nvSpPr>
        <p:spPr>
          <a:xfrm>
            <a:off x="0" y="442363"/>
            <a:ext cx="18288000" cy="930275"/>
          </a:xfrm>
          <a:prstGeom prst="rect">
            <a:avLst/>
          </a:prstGeom>
        </p:spPr>
        <p:txBody>
          <a:bodyPr lIns="0" tIns="0" rIns="0" bIns="0" rtlCol="0" anchor="t">
            <a:spAutoFit/>
          </a:bodyPr>
          <a:lstStyle/>
          <a:p>
            <a:pPr marL="0" lvl="0" indent="0" algn="ctr">
              <a:lnSpc>
                <a:spcPts val="6999"/>
              </a:lnSpc>
              <a:spcBef>
                <a:spcPct val="0"/>
              </a:spcBef>
            </a:pPr>
            <a:r>
              <a:rPr lang="en-US" sz="6999" b="1" spc="-209">
                <a:solidFill>
                  <a:srgbClr val="1E293B"/>
                </a:solidFill>
                <a:latin typeface="Bricolage Grotesque Semi-Bold"/>
                <a:ea typeface="Bricolage Grotesque Semi-Bold"/>
                <a:cs typeface="Bricolage Grotesque Semi-Bold"/>
                <a:sym typeface="Bricolage Grotesque Semi-Bold"/>
              </a:rPr>
              <a:t>Cài đặt font chữ</a:t>
            </a:r>
          </a:p>
        </p:txBody>
      </p:sp>
      <p:sp>
        <p:nvSpPr>
          <p:cNvPr id="5" name="TextBox 5"/>
          <p:cNvSpPr txBox="1"/>
          <p:nvPr/>
        </p:nvSpPr>
        <p:spPr>
          <a:xfrm>
            <a:off x="1028700" y="2273518"/>
            <a:ext cx="17700676" cy="1171575"/>
          </a:xfrm>
          <a:prstGeom prst="rect">
            <a:avLst/>
          </a:prstGeom>
        </p:spPr>
        <p:txBody>
          <a:bodyPr lIns="0" tIns="0" rIns="0" bIns="0" rtlCol="0" anchor="t">
            <a:spAutoFit/>
          </a:bodyPr>
          <a:lstStyle/>
          <a:p>
            <a:pPr algn="l">
              <a:lnSpc>
                <a:spcPts val="3000"/>
              </a:lnSpc>
            </a:pPr>
            <a:r>
              <a:rPr lang="en-US" sz="3000" spc="-89">
                <a:solidFill>
                  <a:srgbClr val="1E293B"/>
                </a:solidFill>
                <a:latin typeface="Bricolage Grotesque"/>
                <a:ea typeface="Bricolage Grotesque"/>
                <a:cs typeface="Bricolage Grotesque"/>
                <a:sym typeface="Bricolage Grotesque"/>
              </a:rPr>
              <a:t>Bước 1: Tìm từ khóa “JetBrain Mono”</a:t>
            </a:r>
          </a:p>
          <a:p>
            <a:pPr algn="l">
              <a:lnSpc>
                <a:spcPts val="3000"/>
              </a:lnSpc>
            </a:pPr>
            <a:endParaRPr lang="en-US" sz="3000" spc="-89">
              <a:solidFill>
                <a:srgbClr val="1E293B"/>
              </a:solidFill>
              <a:latin typeface="Bricolage Grotesque"/>
              <a:ea typeface="Bricolage Grotesque"/>
              <a:cs typeface="Bricolage Grotesque"/>
              <a:sym typeface="Bricolage Grotesque"/>
            </a:endParaRPr>
          </a:p>
          <a:p>
            <a:pPr marL="0" lvl="0" indent="0" algn="l">
              <a:lnSpc>
                <a:spcPts val="3000"/>
              </a:lnSpc>
              <a:spcBef>
                <a:spcPct val="0"/>
              </a:spcBef>
            </a:pPr>
            <a:r>
              <a:rPr lang="en-US" sz="3000" spc="-89">
                <a:solidFill>
                  <a:srgbClr val="1E293B"/>
                </a:solidFill>
                <a:latin typeface="Bricolage Grotesque"/>
                <a:ea typeface="Bricolage Grotesque"/>
                <a:cs typeface="Bricolage Grotesque"/>
                <a:sym typeface="Bricolage Grotesque"/>
              </a:rPr>
              <a:t>Bước 2: Tải về và giải nén, Ctrl + A sau đó  chuột phải để install font</a:t>
            </a:r>
          </a:p>
        </p:txBody>
      </p:sp>
      <p:sp>
        <p:nvSpPr>
          <p:cNvPr id="6" name="TextBox 6"/>
          <p:cNvSpPr txBox="1"/>
          <p:nvPr/>
        </p:nvSpPr>
        <p:spPr>
          <a:xfrm>
            <a:off x="1028700" y="4962525"/>
            <a:ext cx="5311123" cy="409575"/>
          </a:xfrm>
          <a:prstGeom prst="rect">
            <a:avLst/>
          </a:prstGeom>
        </p:spPr>
        <p:txBody>
          <a:bodyPr lIns="0" tIns="0" rIns="0" bIns="0" rtlCol="0" anchor="t">
            <a:spAutoFit/>
          </a:bodyPr>
          <a:lstStyle/>
          <a:p>
            <a:pPr marL="0" lvl="0" indent="0" algn="ctr">
              <a:lnSpc>
                <a:spcPts val="3000"/>
              </a:lnSpc>
              <a:spcBef>
                <a:spcPct val="0"/>
              </a:spcBef>
            </a:pPr>
            <a:r>
              <a:rPr lang="en-US" sz="3000" spc="-89">
                <a:solidFill>
                  <a:srgbClr val="1E293B"/>
                </a:solidFill>
                <a:latin typeface="Bricolage Grotesque"/>
                <a:ea typeface="Bricolage Grotesque"/>
                <a:cs typeface="Bricolage Grotesque"/>
                <a:sym typeface="Bricolage Grotesque"/>
              </a:rPr>
              <a:t>Bước 3: Bấm vào Setting</a:t>
            </a:r>
          </a:p>
        </p:txBody>
      </p:sp>
      <p:sp>
        <p:nvSpPr>
          <p:cNvPr id="7" name="TextBox 7"/>
          <p:cNvSpPr txBox="1"/>
          <p:nvPr/>
        </p:nvSpPr>
        <p:spPr>
          <a:xfrm>
            <a:off x="7177159" y="5987491"/>
            <a:ext cx="10388551" cy="409575"/>
          </a:xfrm>
          <a:prstGeom prst="rect">
            <a:avLst/>
          </a:prstGeom>
        </p:spPr>
        <p:txBody>
          <a:bodyPr lIns="0" tIns="0" rIns="0" bIns="0" rtlCol="0" anchor="t">
            <a:spAutoFit/>
          </a:bodyPr>
          <a:lstStyle/>
          <a:p>
            <a:pPr marL="0" lvl="0" indent="0" algn="ctr">
              <a:lnSpc>
                <a:spcPts val="3000"/>
              </a:lnSpc>
              <a:spcBef>
                <a:spcPct val="0"/>
              </a:spcBef>
            </a:pPr>
            <a:r>
              <a:rPr lang="en-US" sz="3000" spc="-89">
                <a:solidFill>
                  <a:srgbClr val="1E293B"/>
                </a:solidFill>
                <a:latin typeface="Bricolage Grotesque"/>
                <a:ea typeface="Bricolage Grotesque"/>
                <a:cs typeface="Bricolage Grotesque"/>
                <a:sym typeface="Bricolage Grotesque"/>
              </a:rPr>
              <a:t>Bước 4: Editor: Font Family</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7" name="TextBox 7"/>
          <p:cNvSpPr txBox="1"/>
          <p:nvPr/>
        </p:nvSpPr>
        <p:spPr>
          <a:xfrm>
            <a:off x="9220200" y="2474527"/>
            <a:ext cx="8407323" cy="553998"/>
          </a:xfrm>
          <a:prstGeom prst="rect">
            <a:avLst/>
          </a:prstGeom>
        </p:spPr>
        <p:txBody>
          <a:bodyPr wrap="square" lIns="0" tIns="0" rIns="0" bIns="0" rtlCol="0" anchor="t">
            <a:spAutoFit/>
          </a:bodyPr>
          <a:lstStyle/>
          <a:p>
            <a:pPr marL="0" lvl="0" indent="0" algn="l">
              <a:lnSpc>
                <a:spcPts val="3600"/>
              </a:lnSpc>
              <a:spcBef>
                <a:spcPct val="0"/>
              </a:spcBef>
            </a:pPr>
            <a:r>
              <a:rPr lang="en-US" sz="6000" b="1" u="none" strike="noStrike" dirty="0" err="1" smtClean="0">
                <a:solidFill>
                  <a:srgbClr val="1E293B"/>
                </a:solidFill>
                <a:latin typeface="Bricolage Grotesque Bold"/>
                <a:ea typeface="Bricolage Grotesque Bold"/>
                <a:cs typeface="Bricolage Grotesque Bold"/>
                <a:sym typeface="Bricolage Grotesque Bold"/>
              </a:rPr>
              <a:t>Bài</a:t>
            </a:r>
            <a:r>
              <a:rPr lang="en-US" sz="6000" b="1" u="none" strike="noStrike" dirty="0" smtClean="0">
                <a:solidFill>
                  <a:srgbClr val="1E293B"/>
                </a:solidFill>
                <a:latin typeface="Bricolage Grotesque Bold"/>
                <a:ea typeface="Bricolage Grotesque Bold"/>
                <a:cs typeface="Bricolage Grotesque Bold"/>
                <a:sym typeface="Bricolage Grotesque Bold"/>
              </a:rPr>
              <a:t> </a:t>
            </a:r>
            <a:r>
              <a:rPr lang="en-US" sz="6000" b="1" u="none" strike="noStrike" dirty="0" err="1" smtClean="0">
                <a:solidFill>
                  <a:srgbClr val="1E293B"/>
                </a:solidFill>
                <a:latin typeface="Bricolage Grotesque Bold"/>
                <a:ea typeface="Bricolage Grotesque Bold"/>
                <a:cs typeface="Bricolage Grotesque Bold"/>
                <a:sym typeface="Bricolage Grotesque Bold"/>
              </a:rPr>
              <a:t>tập</a:t>
            </a:r>
            <a:endParaRPr lang="en-US" sz="6000" b="1" u="none" strike="noStrike" dirty="0">
              <a:solidFill>
                <a:srgbClr val="1E293B"/>
              </a:solidFill>
              <a:latin typeface="Bricolage Grotesque Bold"/>
              <a:ea typeface="Bricolage Grotesque Bold"/>
              <a:cs typeface="Bricolage Grotesque Bold"/>
              <a:sym typeface="Bricolage Grotesque Bold"/>
            </a:endParaRPr>
          </a:p>
        </p:txBody>
      </p:sp>
      <p:grpSp>
        <p:nvGrpSpPr>
          <p:cNvPr id="14" name="Group 14"/>
          <p:cNvGrpSpPr/>
          <p:nvPr/>
        </p:nvGrpSpPr>
        <p:grpSpPr>
          <a:xfrm>
            <a:off x="15493924" y="6934200"/>
            <a:ext cx="3467057" cy="4305236"/>
            <a:chOff x="0" y="0"/>
            <a:chExt cx="4622743" cy="5740315"/>
          </a:xfrm>
        </p:grpSpPr>
        <p:sp>
          <p:nvSpPr>
            <p:cNvPr id="15" name="Freeform 15"/>
            <p:cNvSpPr/>
            <p:nvPr/>
          </p:nvSpPr>
          <p:spPr>
            <a:xfrm rot="-2700000">
              <a:off x="-124706" y="1478676"/>
              <a:ext cx="4872155" cy="1665391"/>
            </a:xfrm>
            <a:custGeom>
              <a:avLst/>
              <a:gdLst/>
              <a:ahLst/>
              <a:cxnLst/>
              <a:rect l="l" t="t" r="r" b="b"/>
              <a:pathLst>
                <a:path w="4872155" h="1665391">
                  <a:moveTo>
                    <a:pt x="0" y="0"/>
                  </a:moveTo>
                  <a:lnTo>
                    <a:pt x="4872155" y="0"/>
                  </a:lnTo>
                  <a:lnTo>
                    <a:pt x="4872155" y="1665391"/>
                  </a:lnTo>
                  <a:lnTo>
                    <a:pt x="0" y="1665391"/>
                  </a:lnTo>
                  <a:lnTo>
                    <a:pt x="0" y="0"/>
                  </a:lnTo>
                  <a:close/>
                </a:path>
              </a:pathLst>
            </a:custGeom>
            <a:blipFill>
              <a:blip r:embed="rId2">
                <a:extLst>
                  <a:ext uri="{96DAC541-7B7A-43D3-8B79-37D633B846F1}">
                    <asvg:svgBlip xmlns:asvg="http://schemas.microsoft.com/office/drawing/2016/SVG/main" xmlns="" r:embed="rId4"/>
                  </a:ext>
                </a:extLst>
              </a:blip>
              <a:stretch>
                <a:fillRect/>
              </a:stretch>
            </a:blipFill>
          </p:spPr>
        </p:sp>
        <p:grpSp>
          <p:nvGrpSpPr>
            <p:cNvPr id="16" name="Group 16"/>
            <p:cNvGrpSpPr/>
            <p:nvPr/>
          </p:nvGrpSpPr>
          <p:grpSpPr>
            <a:xfrm rot="8100000">
              <a:off x="-106337" y="2577879"/>
              <a:ext cx="4835418" cy="1702128"/>
              <a:chOff x="0" y="0"/>
              <a:chExt cx="954623" cy="336039"/>
            </a:xfrm>
          </p:grpSpPr>
          <p:sp>
            <p:nvSpPr>
              <p:cNvPr id="17" name="Freeform 17"/>
              <p:cNvSpPr/>
              <p:nvPr/>
            </p:nvSpPr>
            <p:spPr>
              <a:xfrm>
                <a:off x="0" y="0"/>
                <a:ext cx="954623" cy="336039"/>
              </a:xfrm>
              <a:custGeom>
                <a:avLst/>
                <a:gdLst/>
                <a:ahLst/>
                <a:cxnLst/>
                <a:rect l="l" t="t" r="r" b="b"/>
                <a:pathLst>
                  <a:path w="954623" h="336039">
                    <a:moveTo>
                      <a:pt x="751423" y="0"/>
                    </a:moveTo>
                    <a:cubicBezTo>
                      <a:pt x="863647" y="0"/>
                      <a:pt x="954623" y="75225"/>
                      <a:pt x="954623" y="168020"/>
                    </a:cubicBezTo>
                    <a:cubicBezTo>
                      <a:pt x="954623" y="260814"/>
                      <a:pt x="863647" y="336039"/>
                      <a:pt x="751423" y="336039"/>
                    </a:cubicBezTo>
                    <a:lnTo>
                      <a:pt x="203200" y="336039"/>
                    </a:lnTo>
                    <a:cubicBezTo>
                      <a:pt x="90976" y="336039"/>
                      <a:pt x="0" y="260814"/>
                      <a:pt x="0" y="168020"/>
                    </a:cubicBezTo>
                    <a:cubicBezTo>
                      <a:pt x="0" y="75225"/>
                      <a:pt x="90976" y="0"/>
                      <a:pt x="203200" y="0"/>
                    </a:cubicBezTo>
                    <a:close/>
                  </a:path>
                </a:pathLst>
              </a:custGeom>
              <a:solidFill>
                <a:srgbClr val="1E293B"/>
              </a:solidFill>
              <a:ln cap="sq">
                <a:noFill/>
                <a:prstDash val="solid"/>
                <a:miter/>
              </a:ln>
            </p:spPr>
          </p:sp>
          <p:sp>
            <p:nvSpPr>
              <p:cNvPr id="18" name="TextBox 18"/>
              <p:cNvSpPr txBox="1"/>
              <p:nvPr/>
            </p:nvSpPr>
            <p:spPr>
              <a:xfrm>
                <a:off x="0" y="-19050"/>
                <a:ext cx="954623" cy="355089"/>
              </a:xfrm>
              <a:prstGeom prst="rect">
                <a:avLst/>
              </a:prstGeom>
            </p:spPr>
            <p:txBody>
              <a:bodyPr lIns="18752" tIns="18752" rIns="18752" bIns="18752" rtlCol="0" anchor="ctr"/>
              <a:lstStyle/>
              <a:p>
                <a:pPr marL="0" lvl="0" indent="0" algn="ctr">
                  <a:lnSpc>
                    <a:spcPts val="755"/>
                  </a:lnSpc>
                  <a:spcBef>
                    <a:spcPct val="0"/>
                  </a:spcBef>
                </a:pPr>
                <a:endParaRPr/>
              </a:p>
            </p:txBody>
          </p:sp>
        </p:grpSp>
      </p:grpSp>
      <p:pic>
        <p:nvPicPr>
          <p:cNvPr id="19" name="Picture 18"/>
          <p:cNvPicPr>
            <a:picLocks noChangeAspect="1"/>
          </p:cNvPicPr>
          <p:nvPr/>
        </p:nvPicPr>
        <p:blipFill>
          <a:blip r:embed="rId5"/>
          <a:stretch>
            <a:fillRect/>
          </a:stretch>
        </p:blipFill>
        <p:spPr>
          <a:xfrm>
            <a:off x="7543800" y="4558001"/>
            <a:ext cx="9245523" cy="2581861"/>
          </a:xfrm>
          <a:prstGeom prst="rect">
            <a:avLst/>
          </a:prstGeom>
        </p:spPr>
      </p:pic>
      <p:pic>
        <p:nvPicPr>
          <p:cNvPr id="21" name="Picture 20"/>
          <p:cNvPicPr>
            <a:picLocks noChangeAspect="1"/>
          </p:cNvPicPr>
          <p:nvPr/>
        </p:nvPicPr>
        <p:blipFill>
          <a:blip r:embed="rId6"/>
          <a:stretch>
            <a:fillRect/>
          </a:stretch>
        </p:blipFill>
        <p:spPr>
          <a:xfrm>
            <a:off x="596938" y="1017688"/>
            <a:ext cx="5943600" cy="8513806"/>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TextBox 2"/>
          <p:cNvSpPr txBox="1"/>
          <p:nvPr/>
        </p:nvSpPr>
        <p:spPr>
          <a:xfrm>
            <a:off x="1143000" y="800100"/>
            <a:ext cx="15020287" cy="1813253"/>
          </a:xfrm>
          <a:prstGeom prst="rect">
            <a:avLst/>
          </a:prstGeom>
        </p:spPr>
        <p:txBody>
          <a:bodyPr wrap="square" lIns="0" tIns="0" rIns="0" bIns="0" rtlCol="0" anchor="t">
            <a:spAutoFit/>
          </a:bodyPr>
          <a:lstStyle/>
          <a:p>
            <a:pPr marL="0" lvl="0" indent="0" algn="l">
              <a:lnSpc>
                <a:spcPts val="6999"/>
              </a:lnSpc>
              <a:spcBef>
                <a:spcPct val="0"/>
              </a:spcBef>
            </a:pPr>
            <a:r>
              <a:rPr lang="en-US" sz="6999" b="1" u="none" strike="noStrike" dirty="0" err="1" smtClean="0">
                <a:solidFill>
                  <a:srgbClr val="1E293B"/>
                </a:solidFill>
                <a:latin typeface="Bricolage Grotesque Bold"/>
                <a:ea typeface="Bricolage Grotesque Bold"/>
                <a:cs typeface="Bricolage Grotesque Bold"/>
                <a:sym typeface="Bricolage Grotesque Bold"/>
              </a:rPr>
              <a:t>Bài</a:t>
            </a:r>
            <a:r>
              <a:rPr lang="en-US" sz="6999" b="1" u="none" strike="noStrike" dirty="0" smtClean="0">
                <a:solidFill>
                  <a:srgbClr val="1E293B"/>
                </a:solidFill>
                <a:latin typeface="Bricolage Grotesque Bold"/>
                <a:ea typeface="Bricolage Grotesque Bold"/>
                <a:cs typeface="Bricolage Grotesque Bold"/>
                <a:sym typeface="Bricolage Grotesque Bold"/>
              </a:rPr>
              <a:t> </a:t>
            </a:r>
            <a:r>
              <a:rPr lang="en-US" sz="6999" b="1" u="none" strike="noStrike" dirty="0" err="1" smtClean="0">
                <a:solidFill>
                  <a:srgbClr val="1E293B"/>
                </a:solidFill>
                <a:latin typeface="Bricolage Grotesque Bold"/>
                <a:ea typeface="Bricolage Grotesque Bold"/>
                <a:cs typeface="Bricolage Grotesque Bold"/>
                <a:sym typeface="Bricolage Grotesque Bold"/>
              </a:rPr>
              <a:t>tập</a:t>
            </a:r>
            <a:r>
              <a:rPr lang="en-US" sz="6999" b="1" u="none" strike="noStrike" dirty="0" smtClean="0">
                <a:solidFill>
                  <a:srgbClr val="1E293B"/>
                </a:solidFill>
                <a:latin typeface="Bricolage Grotesque Bold"/>
                <a:ea typeface="Bricolage Grotesque Bold"/>
                <a:cs typeface="Bricolage Grotesque Bold"/>
                <a:sym typeface="Bricolage Grotesque Bold"/>
              </a:rPr>
              <a:t> </a:t>
            </a:r>
            <a:r>
              <a:rPr lang="en-US" sz="6999" b="1" u="none" strike="noStrike" dirty="0" err="1" smtClean="0">
                <a:solidFill>
                  <a:srgbClr val="1E293B"/>
                </a:solidFill>
                <a:latin typeface="Bricolage Grotesque Bold"/>
                <a:ea typeface="Bricolage Grotesque Bold"/>
                <a:cs typeface="Bricolage Grotesque Bold"/>
                <a:sym typeface="Bricolage Grotesque Bold"/>
              </a:rPr>
              <a:t>về</a:t>
            </a:r>
            <a:r>
              <a:rPr lang="en-US" sz="6999" b="1" u="none" strike="noStrike" dirty="0" smtClean="0">
                <a:solidFill>
                  <a:srgbClr val="1E293B"/>
                </a:solidFill>
                <a:latin typeface="Bricolage Grotesque Bold"/>
                <a:ea typeface="Bricolage Grotesque Bold"/>
                <a:cs typeface="Bricolage Grotesque Bold"/>
                <a:sym typeface="Bricolage Grotesque Bold"/>
              </a:rPr>
              <a:t> </a:t>
            </a:r>
            <a:r>
              <a:rPr lang="en-US" sz="6999" b="1" u="none" strike="noStrike" dirty="0" err="1" smtClean="0">
                <a:solidFill>
                  <a:srgbClr val="1E293B"/>
                </a:solidFill>
                <a:latin typeface="Bricolage Grotesque Bold"/>
                <a:ea typeface="Bricolage Grotesque Bold"/>
                <a:cs typeface="Bricolage Grotesque Bold"/>
                <a:sym typeface="Bricolage Grotesque Bold"/>
              </a:rPr>
              <a:t>nhà</a:t>
            </a:r>
            <a:r>
              <a:rPr lang="en-US" sz="6999" b="1" u="none" strike="noStrike" dirty="0" smtClean="0">
                <a:solidFill>
                  <a:srgbClr val="1E293B"/>
                </a:solidFill>
                <a:latin typeface="Bricolage Grotesque Bold"/>
                <a:ea typeface="Bricolage Grotesque Bold"/>
                <a:cs typeface="Bricolage Grotesque Bold"/>
                <a:sym typeface="Bricolage Grotesque Bold"/>
              </a:rPr>
              <a:t>:</a:t>
            </a:r>
          </a:p>
          <a:p>
            <a:pPr marL="0" lvl="0" indent="0" algn="l">
              <a:lnSpc>
                <a:spcPts val="6999"/>
              </a:lnSpc>
              <a:spcBef>
                <a:spcPct val="0"/>
              </a:spcBef>
            </a:pPr>
            <a:r>
              <a:rPr lang="en-US" sz="6999" b="1" u="none" strike="noStrike" dirty="0" err="1" smtClean="0">
                <a:solidFill>
                  <a:srgbClr val="1E293B"/>
                </a:solidFill>
                <a:latin typeface="Bricolage Grotesque Bold"/>
                <a:ea typeface="Bricolage Grotesque Bold"/>
                <a:cs typeface="Bricolage Grotesque Bold"/>
                <a:sym typeface="Bricolage Grotesque Bold"/>
              </a:rPr>
              <a:t>Tạo</a:t>
            </a:r>
            <a:r>
              <a:rPr lang="en-US" sz="6999" b="1" u="none" strike="noStrike" dirty="0" smtClean="0">
                <a:solidFill>
                  <a:srgbClr val="1E293B"/>
                </a:solidFill>
                <a:latin typeface="Bricolage Grotesque Bold"/>
                <a:ea typeface="Bricolage Grotesque Bold"/>
                <a:cs typeface="Bricolage Grotesque Bold"/>
                <a:sym typeface="Bricolage Grotesque Bold"/>
              </a:rPr>
              <a:t> </a:t>
            </a:r>
            <a:r>
              <a:rPr lang="en-US" sz="6999" b="1" u="none" strike="noStrike" dirty="0" err="1">
                <a:solidFill>
                  <a:srgbClr val="1E293B"/>
                </a:solidFill>
                <a:latin typeface="Bricolage Grotesque Bold"/>
                <a:ea typeface="Bricolage Grotesque Bold"/>
                <a:cs typeface="Bricolage Grotesque Bold"/>
                <a:sym typeface="Bricolage Grotesque Bold"/>
              </a:rPr>
              <a:t>trang</a:t>
            </a:r>
            <a:r>
              <a:rPr lang="en-US" sz="6999" b="1" u="none" strike="noStrike" dirty="0">
                <a:solidFill>
                  <a:srgbClr val="1E293B"/>
                </a:solidFill>
                <a:latin typeface="Bricolage Grotesque Bold"/>
                <a:ea typeface="Bricolage Grotesque Bold"/>
                <a:cs typeface="Bricolage Grotesque Bold"/>
                <a:sym typeface="Bricolage Grotesque Bold"/>
              </a:rPr>
              <a:t> Landing Page</a:t>
            </a:r>
          </a:p>
        </p:txBody>
      </p:sp>
      <p:grpSp>
        <p:nvGrpSpPr>
          <p:cNvPr id="3" name="Group 3"/>
          <p:cNvGrpSpPr/>
          <p:nvPr/>
        </p:nvGrpSpPr>
        <p:grpSpPr>
          <a:xfrm>
            <a:off x="6248400" y="4114800"/>
            <a:ext cx="5448300" cy="911024"/>
            <a:chOff x="0" y="0"/>
            <a:chExt cx="7264400" cy="1214699"/>
          </a:xfrm>
        </p:grpSpPr>
        <p:sp>
          <p:nvSpPr>
            <p:cNvPr id="4" name="TextBox 4"/>
            <p:cNvSpPr txBox="1"/>
            <p:nvPr/>
          </p:nvSpPr>
          <p:spPr>
            <a:xfrm>
              <a:off x="0" y="-9525"/>
              <a:ext cx="7264400" cy="619125"/>
            </a:xfrm>
            <a:prstGeom prst="rect">
              <a:avLst/>
            </a:prstGeom>
          </p:spPr>
          <p:txBody>
            <a:bodyPr lIns="0" tIns="0" rIns="0" bIns="0" rtlCol="0" anchor="t">
              <a:spAutoFit/>
            </a:bodyPr>
            <a:lstStyle/>
            <a:p>
              <a:pPr marL="0" lvl="0" indent="0" algn="l">
                <a:lnSpc>
                  <a:spcPts val="3600"/>
                </a:lnSpc>
                <a:spcBef>
                  <a:spcPct val="0"/>
                </a:spcBef>
              </a:pPr>
              <a:r>
                <a:rPr lang="en-US" sz="3000" b="1" u="none" strike="noStrike" dirty="0" err="1">
                  <a:solidFill>
                    <a:srgbClr val="1E293B"/>
                  </a:solidFill>
                  <a:latin typeface="Bricolage Grotesque Bold"/>
                  <a:ea typeface="Bricolage Grotesque Bold"/>
                  <a:cs typeface="Bricolage Grotesque Bold"/>
                  <a:sym typeface="Bricolage Grotesque Bold"/>
                </a:rPr>
                <a:t>Thiết</a:t>
              </a:r>
              <a:r>
                <a:rPr lang="en-US" sz="3000" b="1" u="none" strike="noStrike" dirty="0">
                  <a:solidFill>
                    <a:srgbClr val="1E293B"/>
                  </a:solidFill>
                  <a:latin typeface="Bricolage Grotesque Bold"/>
                  <a:ea typeface="Bricolage Grotesque Bold"/>
                  <a:cs typeface="Bricolage Grotesque Bold"/>
                  <a:sym typeface="Bricolage Grotesque Bold"/>
                </a:rPr>
                <a:t> </a:t>
              </a:r>
              <a:r>
                <a:rPr lang="en-US" sz="3000" b="1" u="none" strike="noStrike" dirty="0" err="1">
                  <a:solidFill>
                    <a:srgbClr val="1E293B"/>
                  </a:solidFill>
                  <a:latin typeface="Bricolage Grotesque Bold"/>
                  <a:ea typeface="Bricolage Grotesque Bold"/>
                  <a:cs typeface="Bricolage Grotesque Bold"/>
                  <a:sym typeface="Bricolage Grotesque Bold"/>
                </a:rPr>
                <a:t>kế</a:t>
              </a:r>
              <a:r>
                <a:rPr lang="en-US" sz="3000" b="1" u="none" strike="noStrike" dirty="0">
                  <a:solidFill>
                    <a:srgbClr val="1E293B"/>
                  </a:solidFill>
                  <a:latin typeface="Bricolage Grotesque Bold"/>
                  <a:ea typeface="Bricolage Grotesque Bold"/>
                  <a:cs typeface="Bricolage Grotesque Bold"/>
                  <a:sym typeface="Bricolage Grotesque Bold"/>
                </a:rPr>
                <a:t> Header </a:t>
              </a:r>
              <a:r>
                <a:rPr lang="en-US" sz="3000" b="1" u="none" strike="noStrike" dirty="0" err="1">
                  <a:solidFill>
                    <a:srgbClr val="1E293B"/>
                  </a:solidFill>
                  <a:latin typeface="Bricolage Grotesque Bold"/>
                  <a:ea typeface="Bricolage Grotesque Bold"/>
                  <a:cs typeface="Bricolage Grotesque Bold"/>
                  <a:sym typeface="Bricolage Grotesque Bold"/>
                </a:rPr>
                <a:t>cơ</a:t>
              </a:r>
              <a:r>
                <a:rPr lang="en-US" sz="3000" b="1" u="none" strike="noStrike" dirty="0">
                  <a:solidFill>
                    <a:srgbClr val="1E293B"/>
                  </a:solidFill>
                  <a:latin typeface="Bricolage Grotesque Bold"/>
                  <a:ea typeface="Bricolage Grotesque Bold"/>
                  <a:cs typeface="Bricolage Grotesque Bold"/>
                  <a:sym typeface="Bricolage Grotesque Bold"/>
                </a:rPr>
                <a:t> </a:t>
              </a:r>
              <a:r>
                <a:rPr lang="en-US" sz="3000" b="1" u="none" strike="noStrike" dirty="0" err="1">
                  <a:solidFill>
                    <a:srgbClr val="1E293B"/>
                  </a:solidFill>
                  <a:latin typeface="Bricolage Grotesque Bold"/>
                  <a:ea typeface="Bricolage Grotesque Bold"/>
                  <a:cs typeface="Bricolage Grotesque Bold"/>
                  <a:sym typeface="Bricolage Grotesque Bold"/>
                </a:rPr>
                <a:t>bản</a:t>
              </a:r>
              <a:endParaRPr lang="en-US" sz="3000" b="1" u="none" strike="noStrike" dirty="0">
                <a:solidFill>
                  <a:srgbClr val="1E293B"/>
                </a:solidFill>
                <a:latin typeface="Bricolage Grotesque Bold"/>
                <a:ea typeface="Bricolage Grotesque Bold"/>
                <a:cs typeface="Bricolage Grotesque Bold"/>
                <a:sym typeface="Bricolage Grotesque Bold"/>
              </a:endParaRPr>
            </a:p>
          </p:txBody>
        </p:sp>
        <p:sp>
          <p:nvSpPr>
            <p:cNvPr id="5" name="TextBox 5"/>
            <p:cNvSpPr txBox="1"/>
            <p:nvPr/>
          </p:nvSpPr>
          <p:spPr>
            <a:xfrm>
              <a:off x="0" y="732099"/>
              <a:ext cx="7264400" cy="482600"/>
            </a:xfrm>
            <a:prstGeom prst="rect">
              <a:avLst/>
            </a:prstGeom>
          </p:spPr>
          <p:txBody>
            <a:bodyPr lIns="0" tIns="0" rIns="0" bIns="0" rtlCol="0" anchor="t">
              <a:spAutoFit/>
            </a:bodyPr>
            <a:lstStyle/>
            <a:p>
              <a:pPr marL="0" lvl="0" indent="0" algn="l">
                <a:lnSpc>
                  <a:spcPts val="2879"/>
                </a:lnSpc>
                <a:spcBef>
                  <a:spcPct val="0"/>
                </a:spcBef>
              </a:pPr>
              <a:r>
                <a:rPr lang="en-US" sz="2400" u="none" strike="noStrike">
                  <a:solidFill>
                    <a:srgbClr val="1E293B"/>
                  </a:solidFill>
                  <a:latin typeface="HK Grotesk"/>
                  <a:ea typeface="HK Grotesk"/>
                  <a:cs typeface="HK Grotesk"/>
                  <a:sym typeface="HK Grotesk"/>
                </a:rPr>
                <a:t>Logo, Menu đơn giản</a:t>
              </a:r>
            </a:p>
          </p:txBody>
        </p:sp>
      </p:grpSp>
      <p:grpSp>
        <p:nvGrpSpPr>
          <p:cNvPr id="6" name="Group 6"/>
          <p:cNvGrpSpPr/>
          <p:nvPr/>
        </p:nvGrpSpPr>
        <p:grpSpPr>
          <a:xfrm>
            <a:off x="6248400" y="5905500"/>
            <a:ext cx="5448300" cy="911024"/>
            <a:chOff x="0" y="0"/>
            <a:chExt cx="7264400" cy="1214699"/>
          </a:xfrm>
        </p:grpSpPr>
        <p:sp>
          <p:nvSpPr>
            <p:cNvPr id="7" name="TextBox 7"/>
            <p:cNvSpPr txBox="1"/>
            <p:nvPr/>
          </p:nvSpPr>
          <p:spPr>
            <a:xfrm>
              <a:off x="0" y="-9525"/>
              <a:ext cx="7264400" cy="619125"/>
            </a:xfrm>
            <a:prstGeom prst="rect">
              <a:avLst/>
            </a:prstGeom>
          </p:spPr>
          <p:txBody>
            <a:bodyPr lIns="0" tIns="0" rIns="0" bIns="0" rtlCol="0" anchor="t">
              <a:spAutoFit/>
            </a:bodyPr>
            <a:lstStyle/>
            <a:p>
              <a:pPr marL="0" lvl="0" indent="0" algn="l">
                <a:lnSpc>
                  <a:spcPts val="3600"/>
                </a:lnSpc>
                <a:spcBef>
                  <a:spcPct val="0"/>
                </a:spcBef>
              </a:pPr>
              <a:r>
                <a:rPr lang="en-US" sz="3000" b="1" u="none" strike="noStrike">
                  <a:solidFill>
                    <a:srgbClr val="1E293B"/>
                  </a:solidFill>
                  <a:latin typeface="Bricolage Grotesque Bold"/>
                  <a:ea typeface="Bricolage Grotesque Bold"/>
                  <a:cs typeface="Bricolage Grotesque Bold"/>
                  <a:sym typeface="Bricolage Grotesque Bold"/>
                </a:rPr>
                <a:t>Banner thu hút sự chú ý</a:t>
              </a:r>
            </a:p>
          </p:txBody>
        </p:sp>
        <p:sp>
          <p:nvSpPr>
            <p:cNvPr id="8" name="TextBox 8"/>
            <p:cNvSpPr txBox="1"/>
            <p:nvPr/>
          </p:nvSpPr>
          <p:spPr>
            <a:xfrm>
              <a:off x="0" y="732099"/>
              <a:ext cx="7264400" cy="482600"/>
            </a:xfrm>
            <a:prstGeom prst="rect">
              <a:avLst/>
            </a:prstGeom>
          </p:spPr>
          <p:txBody>
            <a:bodyPr lIns="0" tIns="0" rIns="0" bIns="0" rtlCol="0" anchor="t">
              <a:spAutoFit/>
            </a:bodyPr>
            <a:lstStyle/>
            <a:p>
              <a:pPr marL="0" lvl="0" indent="0" algn="l">
                <a:lnSpc>
                  <a:spcPts val="2879"/>
                </a:lnSpc>
                <a:spcBef>
                  <a:spcPct val="0"/>
                </a:spcBef>
              </a:pPr>
              <a:r>
                <a:rPr lang="en-US" sz="2400" u="none" strike="noStrike">
                  <a:solidFill>
                    <a:srgbClr val="1E293B"/>
                  </a:solidFill>
                  <a:latin typeface="HK Grotesk"/>
                  <a:ea typeface="HK Grotesk"/>
                  <a:cs typeface="HK Grotesk"/>
                  <a:sym typeface="HK Grotesk"/>
                </a:rPr>
                <a:t>Ảnh nền, Text nổi bật</a:t>
              </a:r>
            </a:p>
          </p:txBody>
        </p:sp>
      </p:grpSp>
      <p:grpSp>
        <p:nvGrpSpPr>
          <p:cNvPr id="9" name="Group 9"/>
          <p:cNvGrpSpPr/>
          <p:nvPr/>
        </p:nvGrpSpPr>
        <p:grpSpPr>
          <a:xfrm>
            <a:off x="6248400" y="7696200"/>
            <a:ext cx="5448300" cy="911024"/>
            <a:chOff x="0" y="0"/>
            <a:chExt cx="7264400" cy="1214699"/>
          </a:xfrm>
        </p:grpSpPr>
        <p:sp>
          <p:nvSpPr>
            <p:cNvPr id="10" name="TextBox 10"/>
            <p:cNvSpPr txBox="1"/>
            <p:nvPr/>
          </p:nvSpPr>
          <p:spPr>
            <a:xfrm>
              <a:off x="0" y="-9525"/>
              <a:ext cx="7264400" cy="619125"/>
            </a:xfrm>
            <a:prstGeom prst="rect">
              <a:avLst/>
            </a:prstGeom>
          </p:spPr>
          <p:txBody>
            <a:bodyPr lIns="0" tIns="0" rIns="0" bIns="0" rtlCol="0" anchor="t">
              <a:spAutoFit/>
            </a:bodyPr>
            <a:lstStyle/>
            <a:p>
              <a:pPr marL="0" lvl="0" indent="0" algn="l">
                <a:lnSpc>
                  <a:spcPts val="3600"/>
                </a:lnSpc>
                <a:spcBef>
                  <a:spcPct val="0"/>
                </a:spcBef>
              </a:pPr>
              <a:r>
                <a:rPr lang="en-US" sz="3000" b="1" u="none" strike="noStrike">
                  <a:solidFill>
                    <a:srgbClr val="1E293B"/>
                  </a:solidFill>
                  <a:latin typeface="Bricolage Grotesque Bold"/>
                  <a:ea typeface="Bricolage Grotesque Bold"/>
                  <a:cs typeface="Bricolage Grotesque Bold"/>
                  <a:sym typeface="Bricolage Grotesque Bold"/>
                </a:rPr>
                <a:t>Footer với thông tin</a:t>
              </a:r>
            </a:p>
          </p:txBody>
        </p:sp>
        <p:sp>
          <p:nvSpPr>
            <p:cNvPr id="11" name="TextBox 11"/>
            <p:cNvSpPr txBox="1"/>
            <p:nvPr/>
          </p:nvSpPr>
          <p:spPr>
            <a:xfrm>
              <a:off x="0" y="732099"/>
              <a:ext cx="7264400" cy="482600"/>
            </a:xfrm>
            <a:prstGeom prst="rect">
              <a:avLst/>
            </a:prstGeom>
          </p:spPr>
          <p:txBody>
            <a:bodyPr lIns="0" tIns="0" rIns="0" bIns="0" rtlCol="0" anchor="t">
              <a:spAutoFit/>
            </a:bodyPr>
            <a:lstStyle/>
            <a:p>
              <a:pPr marL="0" lvl="0" indent="0" algn="l">
                <a:lnSpc>
                  <a:spcPts val="2879"/>
                </a:lnSpc>
                <a:spcBef>
                  <a:spcPct val="0"/>
                </a:spcBef>
              </a:pPr>
              <a:r>
                <a:rPr lang="en-US" sz="2400" u="none" strike="noStrike">
                  <a:solidFill>
                    <a:srgbClr val="1E293B"/>
                  </a:solidFill>
                  <a:latin typeface="HK Grotesk"/>
                  <a:ea typeface="HK Grotesk"/>
                  <a:cs typeface="HK Grotesk"/>
                  <a:sym typeface="HK Grotesk"/>
                </a:rPr>
                <a:t>Copyright, Liên hệ đơn giản</a:t>
              </a:r>
            </a:p>
          </p:txBody>
        </p:sp>
      </p:grpSp>
      <p:grpSp>
        <p:nvGrpSpPr>
          <p:cNvPr id="14" name="Group 14"/>
          <p:cNvGrpSpPr/>
          <p:nvPr/>
        </p:nvGrpSpPr>
        <p:grpSpPr>
          <a:xfrm>
            <a:off x="15493924" y="6934200"/>
            <a:ext cx="3467057" cy="4305236"/>
            <a:chOff x="0" y="0"/>
            <a:chExt cx="4622743" cy="5740315"/>
          </a:xfrm>
        </p:grpSpPr>
        <p:sp>
          <p:nvSpPr>
            <p:cNvPr id="15" name="Freeform 15"/>
            <p:cNvSpPr/>
            <p:nvPr/>
          </p:nvSpPr>
          <p:spPr>
            <a:xfrm rot="-2700000">
              <a:off x="-124706" y="1478676"/>
              <a:ext cx="4872155" cy="1665391"/>
            </a:xfrm>
            <a:custGeom>
              <a:avLst/>
              <a:gdLst/>
              <a:ahLst/>
              <a:cxnLst/>
              <a:rect l="l" t="t" r="r" b="b"/>
              <a:pathLst>
                <a:path w="4872155" h="1665391">
                  <a:moveTo>
                    <a:pt x="0" y="0"/>
                  </a:moveTo>
                  <a:lnTo>
                    <a:pt x="4872155" y="0"/>
                  </a:lnTo>
                  <a:lnTo>
                    <a:pt x="4872155" y="1665391"/>
                  </a:lnTo>
                  <a:lnTo>
                    <a:pt x="0" y="1665391"/>
                  </a:lnTo>
                  <a:lnTo>
                    <a:pt x="0" y="0"/>
                  </a:lnTo>
                  <a:close/>
                </a:path>
              </a:pathLst>
            </a:custGeom>
            <a:blipFill>
              <a:blip r:embed="rId2">
                <a:extLst>
                  <a:ext uri="{96DAC541-7B7A-43D3-8B79-37D633B846F1}">
                    <asvg:svgBlip xmlns:asvg="http://schemas.microsoft.com/office/drawing/2016/SVG/main" xmlns="" r:embed="rId4"/>
                  </a:ext>
                </a:extLst>
              </a:blip>
              <a:stretch>
                <a:fillRect/>
              </a:stretch>
            </a:blipFill>
          </p:spPr>
        </p:sp>
        <p:grpSp>
          <p:nvGrpSpPr>
            <p:cNvPr id="16" name="Group 16"/>
            <p:cNvGrpSpPr/>
            <p:nvPr/>
          </p:nvGrpSpPr>
          <p:grpSpPr>
            <a:xfrm rot="8100000">
              <a:off x="-106337" y="2577879"/>
              <a:ext cx="4835418" cy="1702128"/>
              <a:chOff x="0" y="0"/>
              <a:chExt cx="954623" cy="336039"/>
            </a:xfrm>
          </p:grpSpPr>
          <p:sp>
            <p:nvSpPr>
              <p:cNvPr id="17" name="Freeform 17"/>
              <p:cNvSpPr/>
              <p:nvPr/>
            </p:nvSpPr>
            <p:spPr>
              <a:xfrm>
                <a:off x="0" y="0"/>
                <a:ext cx="954623" cy="336039"/>
              </a:xfrm>
              <a:custGeom>
                <a:avLst/>
                <a:gdLst/>
                <a:ahLst/>
                <a:cxnLst/>
                <a:rect l="l" t="t" r="r" b="b"/>
                <a:pathLst>
                  <a:path w="954623" h="336039">
                    <a:moveTo>
                      <a:pt x="751423" y="0"/>
                    </a:moveTo>
                    <a:cubicBezTo>
                      <a:pt x="863647" y="0"/>
                      <a:pt x="954623" y="75225"/>
                      <a:pt x="954623" y="168020"/>
                    </a:cubicBezTo>
                    <a:cubicBezTo>
                      <a:pt x="954623" y="260814"/>
                      <a:pt x="863647" y="336039"/>
                      <a:pt x="751423" y="336039"/>
                    </a:cubicBezTo>
                    <a:lnTo>
                      <a:pt x="203200" y="336039"/>
                    </a:lnTo>
                    <a:cubicBezTo>
                      <a:pt x="90976" y="336039"/>
                      <a:pt x="0" y="260814"/>
                      <a:pt x="0" y="168020"/>
                    </a:cubicBezTo>
                    <a:cubicBezTo>
                      <a:pt x="0" y="75225"/>
                      <a:pt x="90976" y="0"/>
                      <a:pt x="203200" y="0"/>
                    </a:cubicBezTo>
                    <a:close/>
                  </a:path>
                </a:pathLst>
              </a:custGeom>
              <a:solidFill>
                <a:srgbClr val="1E293B"/>
              </a:solidFill>
              <a:ln cap="sq">
                <a:noFill/>
                <a:prstDash val="solid"/>
                <a:miter/>
              </a:ln>
            </p:spPr>
          </p:sp>
          <p:sp>
            <p:nvSpPr>
              <p:cNvPr id="18" name="TextBox 18"/>
              <p:cNvSpPr txBox="1"/>
              <p:nvPr/>
            </p:nvSpPr>
            <p:spPr>
              <a:xfrm>
                <a:off x="0" y="-19050"/>
                <a:ext cx="954623" cy="355089"/>
              </a:xfrm>
              <a:prstGeom prst="rect">
                <a:avLst/>
              </a:prstGeom>
            </p:spPr>
            <p:txBody>
              <a:bodyPr lIns="18752" tIns="18752" rIns="18752" bIns="18752" rtlCol="0" anchor="ctr"/>
              <a:lstStyle/>
              <a:p>
                <a:pPr marL="0" lvl="0" indent="0" algn="ctr">
                  <a:lnSpc>
                    <a:spcPts val="755"/>
                  </a:lnSpc>
                  <a:spcBef>
                    <a:spcPct val="0"/>
                  </a:spcBef>
                </a:pPr>
                <a:endParaRPr/>
              </a:p>
            </p:txBody>
          </p:sp>
        </p:grpSp>
      </p:gr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2"/>
          <a:stretch>
            <a:fillRect/>
          </a:stretch>
        </p:blipFill>
        <p:spPr>
          <a:xfrm>
            <a:off x="0" y="1391039"/>
            <a:ext cx="18271500" cy="8916644"/>
          </a:xfrm>
          <a:prstGeom prst="rect">
            <a:avLst/>
          </a:prstGeom>
        </p:spPr>
      </p:pic>
      <p:sp>
        <p:nvSpPr>
          <p:cNvPr id="19" name="TextBox 2"/>
          <p:cNvSpPr txBox="1"/>
          <p:nvPr/>
        </p:nvSpPr>
        <p:spPr>
          <a:xfrm>
            <a:off x="7696200" y="342900"/>
            <a:ext cx="5410200" cy="897682"/>
          </a:xfrm>
          <a:prstGeom prst="rect">
            <a:avLst/>
          </a:prstGeom>
        </p:spPr>
        <p:txBody>
          <a:bodyPr wrap="square" lIns="0" tIns="0" rIns="0" bIns="0" rtlCol="0" anchor="t">
            <a:spAutoFit/>
          </a:bodyPr>
          <a:lstStyle/>
          <a:p>
            <a:pPr marL="0" lvl="0" indent="0" algn="l">
              <a:lnSpc>
                <a:spcPts val="6999"/>
              </a:lnSpc>
              <a:spcBef>
                <a:spcPct val="0"/>
              </a:spcBef>
            </a:pPr>
            <a:r>
              <a:rPr lang="en-US" sz="4000" b="1" u="none" strike="noStrike" dirty="0" err="1" smtClean="0">
                <a:solidFill>
                  <a:srgbClr val="1E293B"/>
                </a:solidFill>
                <a:latin typeface="Bricolage Grotesque Bold"/>
                <a:ea typeface="Bricolage Grotesque Bold"/>
                <a:cs typeface="Bricolage Grotesque Bold"/>
                <a:sym typeface="Bricolage Grotesque Bold"/>
              </a:rPr>
              <a:t>Bài</a:t>
            </a:r>
            <a:r>
              <a:rPr lang="en-US" sz="4000" b="1" u="none" strike="noStrike" dirty="0" smtClean="0">
                <a:solidFill>
                  <a:srgbClr val="1E293B"/>
                </a:solidFill>
                <a:latin typeface="Bricolage Grotesque Bold"/>
                <a:ea typeface="Bricolage Grotesque Bold"/>
                <a:cs typeface="Bricolage Grotesque Bold"/>
                <a:sym typeface="Bricolage Grotesque Bold"/>
              </a:rPr>
              <a:t> </a:t>
            </a:r>
            <a:r>
              <a:rPr lang="en-US" sz="4000" b="1" u="none" strike="noStrike" dirty="0" err="1" smtClean="0">
                <a:solidFill>
                  <a:srgbClr val="1E293B"/>
                </a:solidFill>
                <a:latin typeface="Bricolage Grotesque Bold"/>
                <a:ea typeface="Bricolage Grotesque Bold"/>
                <a:cs typeface="Bricolage Grotesque Bold"/>
                <a:sym typeface="Bricolage Grotesque Bold"/>
              </a:rPr>
              <a:t>mẫu</a:t>
            </a:r>
            <a:r>
              <a:rPr lang="en-US" sz="4000" b="1" u="none" strike="noStrike" dirty="0" smtClean="0">
                <a:solidFill>
                  <a:srgbClr val="1E293B"/>
                </a:solidFill>
                <a:latin typeface="Bricolage Grotesque Bold"/>
                <a:ea typeface="Bricolage Grotesque Bold"/>
                <a:cs typeface="Bricolage Grotesque Bold"/>
                <a:sym typeface="Bricolage Grotesque Bold"/>
              </a:rPr>
              <a:t> </a:t>
            </a:r>
            <a:r>
              <a:rPr lang="en-US" sz="4000" b="1" u="none" strike="noStrike" dirty="0" err="1" smtClean="0">
                <a:solidFill>
                  <a:srgbClr val="1E293B"/>
                </a:solidFill>
                <a:latin typeface="Bricolage Grotesque Bold"/>
                <a:ea typeface="Bricolage Grotesque Bold"/>
                <a:cs typeface="Bricolage Grotesque Bold"/>
                <a:sym typeface="Bricolage Grotesque Bold"/>
              </a:rPr>
              <a:t>về</a:t>
            </a:r>
            <a:r>
              <a:rPr lang="en-US" sz="4000" b="1" u="none" strike="noStrike" dirty="0" smtClean="0">
                <a:solidFill>
                  <a:srgbClr val="1E293B"/>
                </a:solidFill>
                <a:latin typeface="Bricolage Grotesque Bold"/>
                <a:ea typeface="Bricolage Grotesque Bold"/>
                <a:cs typeface="Bricolage Grotesque Bold"/>
                <a:sym typeface="Bricolage Grotesque Bold"/>
              </a:rPr>
              <a:t> </a:t>
            </a:r>
            <a:r>
              <a:rPr lang="en-US" sz="4000" b="1" u="none" strike="noStrike" dirty="0" err="1" smtClean="0">
                <a:solidFill>
                  <a:srgbClr val="1E293B"/>
                </a:solidFill>
                <a:latin typeface="Bricolage Grotesque Bold"/>
                <a:ea typeface="Bricolage Grotesque Bold"/>
                <a:cs typeface="Bricolage Grotesque Bold"/>
                <a:sym typeface="Bricolage Grotesque Bold"/>
              </a:rPr>
              <a:t>nhà</a:t>
            </a:r>
            <a:endParaRPr lang="en-US" sz="4000" b="1" u="none" strike="noStrike" dirty="0">
              <a:solidFill>
                <a:srgbClr val="1E293B"/>
              </a:solidFill>
              <a:latin typeface="Bricolage Grotesque Bold"/>
              <a:ea typeface="Bricolage Grotesque Bold"/>
              <a:cs typeface="Bricolage Grotesque Bold"/>
              <a:sym typeface="Bricolage Grotesque Bold"/>
            </a:endParaRPr>
          </a:p>
        </p:txBody>
      </p:sp>
    </p:spTree>
    <p:extLst>
      <p:ext uri="{BB962C8B-B14F-4D97-AF65-F5344CB8AC3E}">
        <p14:creationId xmlns:p14="http://schemas.microsoft.com/office/powerpoint/2010/main" val="255471025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TotalTime>
  <Words>664</Words>
  <Application>Microsoft Office PowerPoint</Application>
  <PresentationFormat>Custom</PresentationFormat>
  <Paragraphs>89</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Bricolage Grotesque Semi-Bold</vt:lpstr>
      <vt:lpstr>HK Grotesk</vt:lpstr>
      <vt:lpstr>Calibri</vt:lpstr>
      <vt:lpstr>Canva Sans Bold</vt:lpstr>
      <vt:lpstr>Bricolage Grotesque Bold</vt:lpstr>
      <vt:lpstr>Bricolage Grotesque</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thuyết trình - BUỔI 1: TỪ RAZOR VIEW SANG JSX</dc:title>
  <dc:description>Bài thuyết trình - BUỔI 1: TỪ RAZOR VIEW SANG JSX</dc:description>
  <cp:lastModifiedBy>vtrust</cp:lastModifiedBy>
  <cp:revision>5</cp:revision>
  <dcterms:created xsi:type="dcterms:W3CDTF">2006-08-16T00:00:00Z</dcterms:created>
  <dcterms:modified xsi:type="dcterms:W3CDTF">2026-01-02T00:33:52Z</dcterms:modified>
  <dc:identifier>DAG8Mi2FD9A</dc:identifier>
</cp:coreProperties>
</file>