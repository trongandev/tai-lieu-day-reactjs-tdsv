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4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5" r:id="rId17"/>
    <p:sldId id="276" r:id="rId18"/>
    <p:sldId id="277" r:id="rId19"/>
    <p:sldId id="270" r:id="rId20"/>
    <p:sldId id="273" r:id="rId21"/>
    <p:sldId id="279" r:id="rId22"/>
    <p:sldId id="278" r:id="rId23"/>
  </p:sldIdLst>
  <p:sldSz cx="18288000" cy="10287000"/>
  <p:notesSz cx="6858000" cy="9144000"/>
  <p:embeddedFontLs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Bricolage Grotesque Semi-Bold" panose="020B0604020202020204" charset="0"/>
      <p:regular r:id="rId28"/>
    </p:embeddedFont>
    <p:embeddedFont>
      <p:font typeface="Canva Sans Bold" panose="020B0604020202020204" charset="0"/>
      <p:regular r:id="rId29"/>
    </p:embeddedFont>
    <p:embeddedFont>
      <p:font typeface="HK Grotesk" panose="020B0604020202020204" charset="0"/>
      <p:regular r:id="rId30"/>
    </p:embeddedFont>
    <p:embeddedFont>
      <p:font typeface="Bricolage Grotesque Bold" panose="020B0604020202020204" charset="0"/>
      <p:regular r:id="rId31"/>
    </p:embeddedFont>
    <p:embeddedFont>
      <p:font typeface="Bricolage Grotesque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2026-01-15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71423" y="666750"/>
            <a:ext cx="10223040" cy="8953500"/>
            <a:chOff x="0" y="0"/>
            <a:chExt cx="1583816" cy="13871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83816" cy="1387131"/>
            </a:xfrm>
            <a:custGeom>
              <a:avLst/>
              <a:gdLst/>
              <a:ahLst/>
              <a:cxnLst/>
              <a:rect l="l" t="t" r="r" b="b"/>
              <a:pathLst>
                <a:path w="1583816" h="1387131">
                  <a:moveTo>
                    <a:pt x="15146" y="0"/>
                  </a:moveTo>
                  <a:lnTo>
                    <a:pt x="1568670" y="0"/>
                  </a:lnTo>
                  <a:cubicBezTo>
                    <a:pt x="1572687" y="0"/>
                    <a:pt x="1576540" y="1596"/>
                    <a:pt x="1579380" y="4436"/>
                  </a:cubicBezTo>
                  <a:cubicBezTo>
                    <a:pt x="1582221" y="7277"/>
                    <a:pt x="1583816" y="11129"/>
                    <a:pt x="1583816" y="15146"/>
                  </a:cubicBezTo>
                  <a:lnTo>
                    <a:pt x="1583816" y="1371985"/>
                  </a:lnTo>
                  <a:cubicBezTo>
                    <a:pt x="1583816" y="1376002"/>
                    <a:pt x="1582221" y="1379855"/>
                    <a:pt x="1579380" y="1382695"/>
                  </a:cubicBezTo>
                  <a:cubicBezTo>
                    <a:pt x="1576540" y="1385536"/>
                    <a:pt x="1572687" y="1387131"/>
                    <a:pt x="1568670" y="1387131"/>
                  </a:cubicBezTo>
                  <a:lnTo>
                    <a:pt x="15146" y="1387131"/>
                  </a:lnTo>
                  <a:cubicBezTo>
                    <a:pt x="6781" y="1387131"/>
                    <a:pt x="0" y="1380350"/>
                    <a:pt x="0" y="1371985"/>
                  </a:cubicBezTo>
                  <a:lnTo>
                    <a:pt x="0" y="15146"/>
                  </a:lnTo>
                  <a:cubicBezTo>
                    <a:pt x="0" y="6781"/>
                    <a:pt x="6781" y="0"/>
                    <a:pt x="15146" y="0"/>
                  </a:cubicBezTo>
                  <a:close/>
                </a:path>
              </a:pathLst>
            </a:custGeom>
            <a:blipFill>
              <a:blip r:embed="rId2"/>
              <a:stretch>
                <a:fillRect l="-29430" r="-28373"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15677043" y="6462606"/>
            <a:ext cx="3467057" cy="4305236"/>
            <a:chOff x="0" y="0"/>
            <a:chExt cx="4622743" cy="5740315"/>
          </a:xfrm>
        </p:grpSpPr>
        <p:sp>
          <p:nvSpPr>
            <p:cNvPr id="5" name="Freeform 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6" name="Group 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64748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9" name="TextBox 9"/>
          <p:cNvSpPr txBox="1"/>
          <p:nvPr/>
        </p:nvSpPr>
        <p:spPr>
          <a:xfrm>
            <a:off x="452436" y="4302125"/>
            <a:ext cx="7619981" cy="181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419">
                <a:solidFill>
                  <a:srgbClr val="1E293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BUỔI 1: TỪ RAZOR VIEW SANG JSX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116205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Lời</a:t>
            </a: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mở</a:t>
            </a: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999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đầu</a:t>
            </a:r>
            <a:endParaRPr lang="en-US" sz="6999" b="1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514600" y="4381500"/>
            <a:ext cx="9678972" cy="2808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7932" lvl="1" algn="l">
              <a:lnSpc>
                <a:spcPts val="7282"/>
              </a:lnSpc>
            </a:pP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Nền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tảng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cần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thiết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để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bắt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đầu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khóa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React?</a:t>
            </a:r>
          </a:p>
          <a:p>
            <a:pPr marL="377932" lvl="1" algn="l">
              <a:lnSpc>
                <a:spcPts val="7282"/>
              </a:lnSpc>
            </a:pP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Khóa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học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này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gồm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những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gì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</a:p>
          <a:p>
            <a:pPr marL="377932" lvl="1">
              <a:lnSpc>
                <a:spcPts val="7282"/>
              </a:lnSpc>
            </a:pP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Vì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sao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rất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ít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lý</a:t>
            </a:r>
            <a:r>
              <a:rPr lang="en-US" sz="3000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thuyết</a:t>
            </a:r>
            <a:r>
              <a:rPr lang="en-US" sz="3000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  <a:endParaRPr lang="en-US" sz="3000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116205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Nội dung buổi học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49043" y="3208601"/>
            <a:ext cx="9678972" cy="4523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React vs Razor View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Setup Project ViteJS &amp; Tailwind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Component trong React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CSS vs Tailwind</a:t>
            </a:r>
          </a:p>
          <a:p>
            <a:pPr marL="755864" lvl="1" indent="-377932" algn="l">
              <a:lnSpc>
                <a:spcPts val="7282"/>
              </a:lnSpc>
              <a:buAutoNum type="arabicPeriod"/>
            </a:pPr>
            <a:r>
              <a:rPr lang="en-US" sz="35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Thực hành</a:t>
            </a:r>
          </a:p>
        </p:txBody>
      </p:sp>
    </p:spTree>
    <p:extLst>
      <p:ext uri="{BB962C8B-B14F-4D97-AF65-F5344CB8AC3E}">
        <p14:creationId xmlns:p14="http://schemas.microsoft.com/office/powerpoint/2010/main" val="2120585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028700" y="1690000"/>
          <a:ext cx="16230600" cy="7568300"/>
        </p:xfrm>
        <a:graphic>
          <a:graphicData uri="http://schemas.openxmlformats.org/drawingml/2006/table">
            <a:tbl>
              <a:tblPr/>
              <a:tblGrid>
                <a:gridCol w="811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0917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React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Razor View (ASP.NET MVC)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7383"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JavaScript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xây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người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dùng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phát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triển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bởi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Facebook.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thành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phần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(component)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tái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tổ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chức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lập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chiều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(one-way data binding).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Thường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với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REST API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hoặc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GraphQL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lấy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dữ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liệu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một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phần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của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framework ASP.NET MVC,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cú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pháp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Razor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xây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dựng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giao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diện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  <a:endParaRPr lang="en-US" sz="1100" dirty="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 dirty="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Kết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hợp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giữa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HTML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C#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tạo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ra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nội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dung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động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lập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trình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hai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chiều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(two-way data binding)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thông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qua model binding.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 dirty="0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Thường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dụng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với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controller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để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xử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lý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logic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và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trả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</a:t>
                      </a:r>
                      <a:r>
                        <a:rPr lang="en-US" sz="2499" dirty="0" err="1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về</a:t>
                      </a:r>
                      <a:r>
                        <a:rPr lang="en-US" sz="2499" dirty="0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 view.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0" y="323789"/>
            <a:ext cx="18288000" cy="812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6"/>
              </a:lnSpc>
            </a:pPr>
            <a:r>
              <a:rPr lang="en-US" sz="4733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Lí thuyết: React vs Razor 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324074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JSX là gì?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24654" y="1962150"/>
            <a:ext cx="15838693" cy="626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Cú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pháp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giống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HTML: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phép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viết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mã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giống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như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HTML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Kết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hợp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JavaScript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và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HTML: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có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nhúng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biểu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thức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bằng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dấu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ngoặc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nhọn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{}.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Phải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được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biên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dịch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Trình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duyệt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không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hiểu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trực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tiếp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 Do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đó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trước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chạy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cần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phải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được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dịch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thành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JavaScript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thông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thì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sẽ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Babel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hoặc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một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trình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biên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dịch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thực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hiện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điều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này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</a:t>
            </a:r>
          </a:p>
          <a:p>
            <a:pPr algn="l">
              <a:lnSpc>
                <a:spcPts val="4500"/>
              </a:lnSpc>
            </a:pPr>
            <a:endParaRPr lang="en-US" sz="3000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Các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thành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phần</a:t>
            </a:r>
            <a:r>
              <a: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React: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JSX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thường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được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tạo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ra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các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thành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phần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(components)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trong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React,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cho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phép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bạn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dễ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dàng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tái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tổ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chức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mã</a:t>
            </a:r>
            <a:r>
              <a:rPr lang="en-US" sz="3000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2517979"/>
            <a:ext cx="8794537" cy="6200148"/>
          </a:xfrm>
          <a:custGeom>
            <a:avLst/>
            <a:gdLst/>
            <a:ahLst/>
            <a:cxnLst/>
            <a:rect l="l" t="t" r="r" b="b"/>
            <a:pathLst>
              <a:path w="8794537" h="6200148">
                <a:moveTo>
                  <a:pt x="0" y="0"/>
                </a:moveTo>
                <a:lnTo>
                  <a:pt x="8794537" y="0"/>
                </a:lnTo>
                <a:lnTo>
                  <a:pt x="8794537" y="6200148"/>
                </a:lnTo>
                <a:lnTo>
                  <a:pt x="0" y="62001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Quy tắc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12716" y="3293953"/>
            <a:ext cx="8126115" cy="455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class -&gt; className.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for -&gt; htmlFor.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Các thẻ phải đóng kín (&lt;img /&gt;, &lt;br /&gt;).</a:t>
            </a:r>
          </a:p>
          <a:p>
            <a:pPr algn="l">
              <a:lnSpc>
                <a:spcPts val="4500"/>
              </a:lnSpc>
            </a:pPr>
            <a:endParaRPr lang="en-US" sz="3000" b="1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Bao bọc bởi 1 thẻ cha (hoặc Fragment &lt;&gt;...&lt;/&gt;).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63390" y="1737604"/>
            <a:ext cx="17161220" cy="8065773"/>
          </a:xfrm>
          <a:custGeom>
            <a:avLst/>
            <a:gdLst/>
            <a:ahLst/>
            <a:cxnLst/>
            <a:rect l="l" t="t" r="r" b="b"/>
            <a:pathLst>
              <a:path w="17161220" h="8065773">
                <a:moveTo>
                  <a:pt x="0" y="0"/>
                </a:moveTo>
                <a:lnTo>
                  <a:pt x="17161220" y="0"/>
                </a:lnTo>
                <a:lnTo>
                  <a:pt x="17161220" y="8065773"/>
                </a:lnTo>
                <a:lnTo>
                  <a:pt x="0" y="80657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Syntax React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67958" y="1859380"/>
            <a:ext cx="14152085" cy="8084378"/>
          </a:xfrm>
          <a:custGeom>
            <a:avLst/>
            <a:gdLst/>
            <a:ahLst/>
            <a:cxnLst/>
            <a:rect l="l" t="t" r="r" b="b"/>
            <a:pathLst>
              <a:path w="14152085" h="8084378">
                <a:moveTo>
                  <a:pt x="0" y="0"/>
                </a:moveTo>
                <a:lnTo>
                  <a:pt x="14152084" y="0"/>
                </a:lnTo>
                <a:lnTo>
                  <a:pt x="14152084" y="8084378"/>
                </a:lnTo>
                <a:lnTo>
                  <a:pt x="0" y="8084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Syntax Razor 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24470" y="953182"/>
            <a:ext cx="1243906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Tạo project React với Vite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5493924" y="6934200"/>
            <a:ext cx="3467057" cy="4305236"/>
            <a:chOff x="0" y="0"/>
            <a:chExt cx="4622743" cy="5740315"/>
          </a:xfrm>
        </p:grpSpPr>
        <p:sp>
          <p:nvSpPr>
            <p:cNvPr id="4" name="Freeform 4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5" name="Group 5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1E293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8" name="TextBox 8"/>
          <p:cNvSpPr txBox="1"/>
          <p:nvPr/>
        </p:nvSpPr>
        <p:spPr>
          <a:xfrm>
            <a:off x="2924470" y="4648200"/>
            <a:ext cx="11020474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39"/>
              </a:lnSpc>
              <a:spcBef>
                <a:spcPct val="0"/>
              </a:spcBef>
            </a:pPr>
            <a:r>
              <a:rPr lang="en-US" sz="3199" b="1" u="none" strike="noStrike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Truy cập tài liệu của Vite hoặc TailwindCSS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24470" y="7812549"/>
            <a:ext cx="11158247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https://tailwindcss.com/docs/installation/using-vite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24470" y="7061767"/>
            <a:ext cx="11158247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https://vite.dev/guide/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028700" y="1690000"/>
          <a:ext cx="16230600" cy="7568300"/>
        </p:xfrm>
        <a:graphic>
          <a:graphicData uri="http://schemas.openxmlformats.org/drawingml/2006/table">
            <a:tbl>
              <a:tblPr/>
              <a:tblGrid>
                <a:gridCol w="811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0917"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NPM (Node Package Manager)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b="1">
                          <a:solidFill>
                            <a:srgbClr val="000000"/>
                          </a:solidFill>
                          <a:latin typeface="Bricolage Grotesque Bold"/>
                          <a:ea typeface="Bricolage Grotesque Bold"/>
                          <a:cs typeface="Bricolage Grotesque Bold"/>
                          <a:sym typeface="Bricolage Grotesque Bold"/>
                        </a:rPr>
                        <a:t>NuGet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7383"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 công cụ quản lý gói cho Node.js và JavaScript.</a:t>
                      </a:r>
                      <a:endParaRPr lang="en-US" sz="110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 sử dụng để cài đặt và quản lý các thư viện JavaScript và các công cụ phát triển liên quan.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 gói được cài đặt từ kho lưu trữ trực tuyến (npm registry).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Hỗ trợ các tệp cấu hình như package.json để quản lý các gói và thông tin dự án.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Là công cụ quản lý gói cho .NET và các ứng dụng dựa trên .NET.</a:t>
                      </a:r>
                      <a:endParaRPr lang="en-US" sz="1100"/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1100"/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Được sử dụng để cài đặt và quản lý các thư viện .NET, bao gồm cả thư viện cho ASP.NET, WinForms, WPF và các loại dự án khác.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Các gói được cài đặt từ kho lưu trữ NuGet (nuget.org).</a:t>
                      </a:r>
                    </a:p>
                    <a:p>
                      <a:pPr algn="l">
                        <a:lnSpc>
                          <a:spcPts val="3749"/>
                        </a:lnSpc>
                      </a:pPr>
                      <a:endParaRPr lang="en-US" sz="2499">
                        <a:solidFill>
                          <a:srgbClr val="000000"/>
                        </a:solidFill>
                        <a:latin typeface="Bricolage Grotesque"/>
                        <a:ea typeface="Bricolage Grotesque"/>
                        <a:cs typeface="Bricolage Grotesque"/>
                        <a:sym typeface="Bricolage Grotesque"/>
                      </a:endParaRPr>
                    </a:p>
                    <a:p>
                      <a:pPr marL="539746" lvl="1" indent="-269873" algn="l">
                        <a:lnSpc>
                          <a:spcPts val="3749"/>
                        </a:lnSpc>
                        <a:buFont typeface="Arial"/>
                        <a:buChar char="•"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Bricolage Grotesque"/>
                          <a:ea typeface="Bricolage Grotesque"/>
                          <a:cs typeface="Bricolage Grotesque"/>
                          <a:sym typeface="Bricolage Grotesque"/>
                        </a:rPr>
                        <a:t>Sử dụng tệp cấu hình như packages.config hoặc .csproj để quản lý các gói và thông tin dự án.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0" y="323789"/>
            <a:ext cx="18288000" cy="812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6"/>
              </a:lnSpc>
            </a:pPr>
            <a:r>
              <a:rPr lang="en-US" sz="4733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NPM khác gì NuGet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9234" y="2338244"/>
            <a:ext cx="15591942" cy="6670237"/>
          </a:xfrm>
          <a:custGeom>
            <a:avLst/>
            <a:gdLst/>
            <a:ahLst/>
            <a:cxnLst/>
            <a:rect l="l" t="t" r="r" b="b"/>
            <a:pathLst>
              <a:path w="15591942" h="6670237">
                <a:moveTo>
                  <a:pt x="0" y="0"/>
                </a:moveTo>
                <a:lnTo>
                  <a:pt x="15591942" y="0"/>
                </a:lnTo>
                <a:lnTo>
                  <a:pt x="15591942" y="6670237"/>
                </a:lnTo>
                <a:lnTo>
                  <a:pt x="0" y="6670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6750" y="800100"/>
            <a:ext cx="169545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Tailwind vs CSS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49200" y="4381500"/>
            <a:ext cx="4800600" cy="2362200"/>
            <a:chOff x="0" y="0"/>
            <a:chExt cx="5346700" cy="18288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Responsive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Tailwind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hỗ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trợ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responsive design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một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cách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hiệu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quả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896100" y="4376142"/>
            <a:ext cx="4800600" cy="2362200"/>
            <a:chOff x="0" y="0"/>
            <a:chExt cx="5346700" cy="1828800"/>
          </a:xfrm>
        </p:grpSpPr>
        <p:sp>
          <p:nvSpPr>
            <p:cNvPr id="6" name="TextBox 6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dirty="0" err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Đơn</a:t>
              </a:r>
              <a:r>
                <a:rPr lang="en-US" sz="3000" b="1" dirty="0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 </a:t>
              </a:r>
              <a:r>
                <a:rPr lang="en-US" sz="3000" b="1" dirty="0" err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giản</a:t>
              </a:r>
              <a:endParaRPr lang="en-US" sz="30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Không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cần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tên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class,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dễ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chỉnh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sửa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 </a:t>
              </a:r>
              <a:r>
                <a:rPr lang="en-US" sz="2400" dirty="0" err="1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nhanh</a:t>
              </a:r>
              <a:r>
                <a:rPr lang="en-US" sz="2400" dirty="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95400" y="4381500"/>
            <a:ext cx="4800600" cy="2362200"/>
            <a:chOff x="0" y="0"/>
            <a:chExt cx="5346700" cy="1828800"/>
          </a:xfrm>
        </p:grpSpPr>
        <p:sp>
          <p:nvSpPr>
            <p:cNvPr id="9" name="TextBox 9"/>
            <p:cNvSpPr txBox="1"/>
            <p:nvPr/>
          </p:nvSpPr>
          <p:spPr>
            <a:xfrm>
              <a:off x="0" y="-9525"/>
              <a:ext cx="53467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1E293B"/>
                  </a:solidFill>
                  <a:latin typeface="Bricolage Grotesque Bold"/>
                  <a:ea typeface="Bricolage Grotesque Bold"/>
                  <a:cs typeface="Bricolage Grotesque Bold"/>
                  <a:sym typeface="Bricolage Grotesque Bold"/>
                </a:rPr>
                <a:t>Hiệu quả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63600"/>
              <a:ext cx="5346700" cy="96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E293B"/>
                  </a:solidFill>
                  <a:latin typeface="HK Grotesk"/>
                  <a:ea typeface="HK Grotesk"/>
                  <a:cs typeface="HK Grotesk"/>
                  <a:sym typeface="HK Grotesk"/>
                </a:rPr>
                <a:t>Tailwind giúp giảm thời gian viết CSS.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66750" y="800100"/>
            <a:ext cx="169545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 dirty="0" err="1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Tư</a:t>
            </a:r>
            <a:r>
              <a:rPr lang="en-US" sz="6999" b="1" u="none" strike="noStrike" spc="-209" dirty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</a:t>
            </a:r>
            <a:r>
              <a:rPr lang="en-US" sz="6999" b="1" u="none" strike="noStrike" spc="-209" dirty="0" err="1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duy</a:t>
            </a:r>
            <a:r>
              <a:rPr lang="en-US" sz="6999" b="1" u="none" strike="noStrike" spc="-209" dirty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Utility-first CSS qua Tailwind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3853998"/>
            <a:ext cx="16230600" cy="5009099"/>
          </a:xfrm>
          <a:custGeom>
            <a:avLst/>
            <a:gdLst/>
            <a:ahLst/>
            <a:cxnLst/>
            <a:rect l="l" t="t" r="r" b="b"/>
            <a:pathLst>
              <a:path w="16230600" h="5009099">
                <a:moveTo>
                  <a:pt x="0" y="0"/>
                </a:moveTo>
                <a:lnTo>
                  <a:pt x="16230600" y="0"/>
                </a:lnTo>
                <a:lnTo>
                  <a:pt x="16230600" y="5009099"/>
                </a:lnTo>
                <a:lnTo>
                  <a:pt x="0" y="50090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0" y="146801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Các className phổ biến trong Tailwind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-762000" y="4076700"/>
            <a:ext cx="7772400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Spacing </a:t>
            </a:r>
            <a:r>
              <a:rPr lang="en-US" sz="6999" b="1" spc="-209" dirty="0" err="1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trong</a:t>
            </a: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 </a:t>
            </a:r>
            <a:r>
              <a:rPr lang="en-US" sz="6999" b="1" spc="-209" dirty="0" err="1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TailwindCSS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571500"/>
            <a:ext cx="10892118" cy="90703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5551828"/>
            <a:ext cx="5311123" cy="3947130"/>
          </a:xfrm>
          <a:custGeom>
            <a:avLst/>
            <a:gdLst/>
            <a:ahLst/>
            <a:cxnLst/>
            <a:rect l="l" t="t" r="r" b="b"/>
            <a:pathLst>
              <a:path w="5311123" h="3947130">
                <a:moveTo>
                  <a:pt x="0" y="0"/>
                </a:moveTo>
                <a:lnTo>
                  <a:pt x="5311123" y="0"/>
                </a:lnTo>
                <a:lnTo>
                  <a:pt x="5311123" y="3947130"/>
                </a:lnTo>
                <a:lnTo>
                  <a:pt x="0" y="39471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177159" y="6614493"/>
            <a:ext cx="10388551" cy="2164981"/>
          </a:xfrm>
          <a:custGeom>
            <a:avLst/>
            <a:gdLst/>
            <a:ahLst/>
            <a:cxnLst/>
            <a:rect l="l" t="t" r="r" b="b"/>
            <a:pathLst>
              <a:path w="10388551" h="2164981">
                <a:moveTo>
                  <a:pt x="0" y="0"/>
                </a:moveTo>
                <a:lnTo>
                  <a:pt x="10388550" y="0"/>
                </a:lnTo>
                <a:lnTo>
                  <a:pt x="10388550" y="2164981"/>
                </a:lnTo>
                <a:lnTo>
                  <a:pt x="0" y="21649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0" y="442363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Cài đặt font chữ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2273518"/>
            <a:ext cx="17700676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1: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Tìm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từ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khóa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“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JetBrain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Mono”</a:t>
            </a:r>
          </a:p>
          <a:p>
            <a:pPr algn="l">
              <a:lnSpc>
                <a:spcPts val="3000"/>
              </a:lnSpc>
            </a:pPr>
            <a:endParaRPr lang="en-US" sz="3000" spc="-89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0" lvl="0" indent="0" algn="l">
              <a:lnSpc>
                <a:spcPts val="3000"/>
              </a:lnSpc>
              <a:spcBef>
                <a:spcPct val="0"/>
              </a:spcBef>
            </a:pP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2: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về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giải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nén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, Ctrl + A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sau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đó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chuột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phải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để</a:t>
            </a:r>
            <a:r>
              <a:rPr lang="en-US" sz="3000" spc="-89" dirty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install font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4962525"/>
            <a:ext cx="5311123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00"/>
              </a:lnSpc>
              <a:spcBef>
                <a:spcPct val="0"/>
              </a:spcBef>
            </a:pPr>
            <a:r>
              <a:rPr lang="en-US" sz="3000" spc="-89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 3: Bấm vào Setting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77159" y="5987491"/>
            <a:ext cx="10388551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00"/>
              </a:lnSpc>
              <a:spcBef>
                <a:spcPct val="0"/>
              </a:spcBef>
            </a:pPr>
            <a:r>
              <a:rPr lang="en-US" sz="3000" spc="-89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Bước 4: Editor: Font Family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91934" y="6841892"/>
            <a:ext cx="6482553" cy="1475777"/>
          </a:xfrm>
          <a:custGeom>
            <a:avLst/>
            <a:gdLst/>
            <a:ahLst/>
            <a:cxnLst/>
            <a:rect l="l" t="t" r="r" b="b"/>
            <a:pathLst>
              <a:path w="6482553" h="1475777">
                <a:moveTo>
                  <a:pt x="0" y="0"/>
                </a:moveTo>
                <a:lnTo>
                  <a:pt x="6482553" y="0"/>
                </a:lnTo>
                <a:lnTo>
                  <a:pt x="6482553" y="1475777"/>
                </a:lnTo>
                <a:lnTo>
                  <a:pt x="0" y="1475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192312" y="1805026"/>
            <a:ext cx="6643613" cy="1195850"/>
          </a:xfrm>
          <a:custGeom>
            <a:avLst/>
            <a:gdLst/>
            <a:ahLst/>
            <a:cxnLst/>
            <a:rect l="l" t="t" r="r" b="b"/>
            <a:pathLst>
              <a:path w="6643613" h="1195850">
                <a:moveTo>
                  <a:pt x="0" y="0"/>
                </a:moveTo>
                <a:lnTo>
                  <a:pt x="6643612" y="0"/>
                </a:lnTo>
                <a:lnTo>
                  <a:pt x="6643612" y="1195850"/>
                </a:lnTo>
                <a:lnTo>
                  <a:pt x="0" y="11958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11404" y="2407338"/>
            <a:ext cx="6643613" cy="1386854"/>
          </a:xfrm>
          <a:custGeom>
            <a:avLst/>
            <a:gdLst/>
            <a:ahLst/>
            <a:cxnLst/>
            <a:rect l="l" t="t" r="r" b="b"/>
            <a:pathLst>
              <a:path w="6643613" h="1386854">
                <a:moveTo>
                  <a:pt x="0" y="0"/>
                </a:moveTo>
                <a:lnTo>
                  <a:pt x="6643613" y="0"/>
                </a:lnTo>
                <a:lnTo>
                  <a:pt x="6643613" y="1386854"/>
                </a:lnTo>
                <a:lnTo>
                  <a:pt x="0" y="13868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192312" y="8016009"/>
            <a:ext cx="6643613" cy="1411768"/>
          </a:xfrm>
          <a:custGeom>
            <a:avLst/>
            <a:gdLst/>
            <a:ahLst/>
            <a:cxnLst/>
            <a:rect l="l" t="t" r="r" b="b"/>
            <a:pathLst>
              <a:path w="6643613" h="1411768">
                <a:moveTo>
                  <a:pt x="0" y="0"/>
                </a:moveTo>
                <a:lnTo>
                  <a:pt x="6643612" y="0"/>
                </a:lnTo>
                <a:lnTo>
                  <a:pt x="6643612" y="1411767"/>
                </a:lnTo>
                <a:lnTo>
                  <a:pt x="0" y="14117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192312" y="5897627"/>
            <a:ext cx="6643613" cy="1353636"/>
          </a:xfrm>
          <a:custGeom>
            <a:avLst/>
            <a:gdLst/>
            <a:ahLst/>
            <a:cxnLst/>
            <a:rect l="l" t="t" r="r" b="b"/>
            <a:pathLst>
              <a:path w="6643613" h="1353636">
                <a:moveTo>
                  <a:pt x="0" y="0"/>
                </a:moveTo>
                <a:lnTo>
                  <a:pt x="6643612" y="0"/>
                </a:lnTo>
                <a:lnTo>
                  <a:pt x="6643612" y="1353636"/>
                </a:lnTo>
                <a:lnTo>
                  <a:pt x="0" y="13536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196015" y="3765622"/>
            <a:ext cx="6636206" cy="1367258"/>
          </a:xfrm>
          <a:custGeom>
            <a:avLst/>
            <a:gdLst/>
            <a:ahLst/>
            <a:cxnLst/>
            <a:rect l="l" t="t" r="r" b="b"/>
            <a:pathLst>
              <a:path w="6636206" h="1367258">
                <a:moveTo>
                  <a:pt x="0" y="0"/>
                </a:moveTo>
                <a:lnTo>
                  <a:pt x="6636206" y="0"/>
                </a:lnTo>
                <a:lnTo>
                  <a:pt x="6636206" y="1367259"/>
                </a:lnTo>
                <a:lnTo>
                  <a:pt x="0" y="1367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36653" y="4558938"/>
            <a:ext cx="6593116" cy="1518208"/>
          </a:xfrm>
          <a:custGeom>
            <a:avLst/>
            <a:gdLst/>
            <a:ahLst/>
            <a:cxnLst/>
            <a:rect l="l" t="t" r="r" b="b"/>
            <a:pathLst>
              <a:path w="6593116" h="1518208">
                <a:moveTo>
                  <a:pt x="0" y="0"/>
                </a:moveTo>
                <a:lnTo>
                  <a:pt x="6593115" y="0"/>
                </a:lnTo>
                <a:lnTo>
                  <a:pt x="6593115" y="1518208"/>
                </a:lnTo>
                <a:lnTo>
                  <a:pt x="0" y="151820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0" y="442363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Cài đặt Extension hỗ trợ code</a:t>
            </a:r>
          </a:p>
        </p:txBody>
      </p:sp>
    </p:spTree>
    <p:extLst>
      <p:ext uri="{BB962C8B-B14F-4D97-AF65-F5344CB8AC3E}">
        <p14:creationId xmlns:p14="http://schemas.microsoft.com/office/powerpoint/2010/main" val="1619171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-762000" y="4076700"/>
            <a:ext cx="7772400" cy="915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Demo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266700"/>
            <a:ext cx="7096977" cy="923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117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4724400" y="1028700"/>
            <a:ext cx="7772400" cy="915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209" dirty="0" smtClean="0">
                <a:solidFill>
                  <a:srgbClr val="1E293B"/>
                </a:solidFill>
                <a:latin typeface="Bricolage Grotesque Semi-Bold"/>
                <a:ea typeface="Bricolage Grotesque Semi-Bold"/>
                <a:cs typeface="Bricolage Grotesque Semi-Bold"/>
                <a:sym typeface="Bricolage Grotesque Semi-Bold"/>
              </a:rPr>
              <a:t>Demo</a:t>
            </a:r>
            <a:endParaRPr lang="en-US" sz="6999" b="1" spc="-209" dirty="0">
              <a:solidFill>
                <a:srgbClr val="1E293B"/>
              </a:solidFill>
              <a:latin typeface="Bricolage Grotesque Semi-Bold"/>
              <a:ea typeface="Bricolage Grotesque Semi-Bold"/>
              <a:cs typeface="Bricolage Grotesque Semi-Bold"/>
              <a:sym typeface="Bricolage Grotesque Semi-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944272"/>
            <a:ext cx="15697200" cy="712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193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7912138" y="916753"/>
            <a:ext cx="8407323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Profile</a:t>
            </a:r>
            <a:endParaRPr lang="en-US" sz="6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5493924" y="6934200"/>
            <a:ext cx="3467057" cy="4305236"/>
            <a:chOff x="0" y="0"/>
            <a:chExt cx="4622743" cy="5740315"/>
          </a:xfrm>
        </p:grpSpPr>
        <p:sp>
          <p:nvSpPr>
            <p:cNvPr id="15" name="Freeform 1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6" name="Group 1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1E293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564066"/>
            <a:ext cx="5943600" cy="85138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2"/>
          <p:cNvSpPr txBox="1"/>
          <p:nvPr/>
        </p:nvSpPr>
        <p:spPr>
          <a:xfrm>
            <a:off x="1219200" y="1409700"/>
            <a:ext cx="5410200" cy="8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News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062" y="4686300"/>
            <a:ext cx="17700676" cy="777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Sử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dụng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font: SF Pro Display </a:t>
            </a:r>
          </a:p>
          <a:p>
            <a:pPr algn="l">
              <a:lnSpc>
                <a:spcPts val="3000"/>
              </a:lnSpc>
            </a:pP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Truy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cập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vào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 </a:t>
            </a:r>
            <a:r>
              <a:rPr lang="en-US" sz="3000" spc="-89" dirty="0" err="1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src</a:t>
            </a:r>
            <a:r>
              <a:rPr lang="en-US" sz="3000" spc="-89" dirty="0" smtClean="0">
                <a:solidFill>
                  <a:srgbClr val="1E293B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/App.css</a:t>
            </a:r>
            <a:endParaRPr lang="en-US" sz="3000" spc="-89" dirty="0">
              <a:solidFill>
                <a:srgbClr val="1E293B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753100"/>
            <a:ext cx="6934200" cy="25243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99186"/>
            <a:ext cx="7393992" cy="1018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71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2"/>
          <p:cNvSpPr txBox="1"/>
          <p:nvPr/>
        </p:nvSpPr>
        <p:spPr>
          <a:xfrm>
            <a:off x="990600" y="4796259"/>
            <a:ext cx="5410200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Lịch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đá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bóng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0" y="1562100"/>
            <a:ext cx="8382000" cy="73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29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1039"/>
            <a:ext cx="18271500" cy="8916644"/>
          </a:xfrm>
          <a:prstGeom prst="rect">
            <a:avLst/>
          </a:prstGeom>
        </p:spPr>
      </p:pic>
      <p:sp>
        <p:nvSpPr>
          <p:cNvPr id="19" name="TextBox 2"/>
          <p:cNvSpPr txBox="1"/>
          <p:nvPr/>
        </p:nvSpPr>
        <p:spPr>
          <a:xfrm>
            <a:off x="7696200" y="342900"/>
            <a:ext cx="5410200" cy="8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999"/>
              </a:lnSpc>
              <a:spcBef>
                <a:spcPct val="0"/>
              </a:spcBef>
            </a:pP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4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4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40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: </a:t>
            </a:r>
            <a:r>
              <a:rPr lang="en-US" sz="40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LandingPage</a:t>
            </a:r>
            <a:endParaRPr lang="en-US" sz="4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</p:spTree>
    <p:extLst>
      <p:ext uri="{BB962C8B-B14F-4D97-AF65-F5344CB8AC3E}">
        <p14:creationId xmlns:p14="http://schemas.microsoft.com/office/powerpoint/2010/main" val="3981972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677</Words>
  <Application>Microsoft Office PowerPoint</Application>
  <PresentationFormat>Custom</PresentationFormat>
  <Paragraphs>92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Calibri</vt:lpstr>
      <vt:lpstr>Bricolage Grotesque Semi-Bold</vt:lpstr>
      <vt:lpstr>Canva Sans Bold</vt:lpstr>
      <vt:lpstr>HK Grotesk</vt:lpstr>
      <vt:lpstr>Bricolage Grotesque Bold</vt:lpstr>
      <vt:lpstr>Bricolage Grotesque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Bài thuyết trình - BUỔI 1: TỪ RAZOR VIEW SANG JSX</dc:title>
  <dc:description>Bài thuyết trình - BUỔI 1: TỪ RAZOR VIEW SANG JSX</dc:description>
  <cp:lastModifiedBy>vtrust</cp:lastModifiedBy>
  <cp:revision>13</cp:revision>
  <dcterms:created xsi:type="dcterms:W3CDTF">2006-08-16T00:00:00Z</dcterms:created>
  <dcterms:modified xsi:type="dcterms:W3CDTF">2026-01-15T07:05:35Z</dcterms:modified>
  <dc:identifier>DAG8Mi2FD9A</dc:identifier>
</cp:coreProperties>
</file>